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  <p:sldId id="273" r:id="rId7"/>
    <p:sldId id="274" r:id="rId8"/>
    <p:sldId id="275" r:id="rId9"/>
    <p:sldId id="261" r:id="rId10"/>
    <p:sldId id="263" r:id="rId11"/>
  </p:sldIdLst>
  <p:sldSz cx="18288000" cy="10287000"/>
  <p:notesSz cx="6858000" cy="9144000"/>
  <p:embeddedFontLst>
    <p:embeddedFont>
      <p:font typeface="Asap Medium" panose="020B0604020202020204" charset="0"/>
      <p:regular r:id="rId12"/>
    </p:embeddedFont>
    <p:embeddedFont>
      <p:font typeface="Calibri" panose="020F0502020204030204" pitchFamily="34" charset="0"/>
      <p:regular r:id="rId13"/>
      <p:bold r:id="rId14"/>
      <p:italic r:id="rId15"/>
      <p:boldItalic r:id="rId16"/>
    </p:embeddedFont>
    <p:embeddedFont>
      <p:font typeface="Muli Semi-Bold" panose="020B0604020202020204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2" d="100"/>
          <a:sy n="42" d="100"/>
        </p:scale>
        <p:origin x="1020" y="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jpeg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1898634" y="7277100"/>
            <a:ext cx="6544326" cy="2514600"/>
            <a:chOff x="237556" y="-43464"/>
            <a:chExt cx="9533791" cy="966933"/>
          </a:xfrm>
        </p:grpSpPr>
        <p:grpSp>
          <p:nvGrpSpPr>
            <p:cNvPr id="6" name="Group 6"/>
            <p:cNvGrpSpPr/>
            <p:nvPr/>
          </p:nvGrpSpPr>
          <p:grpSpPr>
            <a:xfrm>
              <a:off x="237556" y="-43464"/>
              <a:ext cx="9533791" cy="966933"/>
              <a:chOff x="317136" y="-58024"/>
              <a:chExt cx="12727542" cy="1290848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317136" y="-58024"/>
                <a:ext cx="12727542" cy="1290848"/>
              </a:xfrm>
              <a:custGeom>
                <a:avLst/>
                <a:gdLst/>
                <a:ahLst/>
                <a:cxnLst/>
                <a:rect l="l" t="t" r="r" b="b"/>
                <a:pathLst>
                  <a:path w="12727542" h="1290848">
                    <a:moveTo>
                      <a:pt x="0" y="0"/>
                    </a:moveTo>
                    <a:lnTo>
                      <a:pt x="0" y="1290848"/>
                    </a:lnTo>
                    <a:lnTo>
                      <a:pt x="12727542" y="1290848"/>
                    </a:lnTo>
                    <a:lnTo>
                      <a:pt x="12727542" y="0"/>
                    </a:lnTo>
                    <a:lnTo>
                      <a:pt x="0" y="0"/>
                    </a:lnTo>
                    <a:close/>
                    <a:moveTo>
                      <a:pt x="12666582" y="1229888"/>
                    </a:moveTo>
                    <a:lnTo>
                      <a:pt x="59690" y="1229888"/>
                    </a:lnTo>
                    <a:lnTo>
                      <a:pt x="59690" y="59690"/>
                    </a:lnTo>
                    <a:lnTo>
                      <a:pt x="12666582" y="59690"/>
                    </a:lnTo>
                    <a:lnTo>
                      <a:pt x="12666582" y="1229888"/>
                    </a:lnTo>
                    <a:close/>
                  </a:path>
                </a:pathLst>
              </a:custGeom>
              <a:solidFill>
                <a:srgbClr val="FF68D4"/>
              </a:solidFill>
            </p:spPr>
          </p:sp>
        </p:grpSp>
        <p:sp>
          <p:nvSpPr>
            <p:cNvPr id="8" name="TextBox 8"/>
            <p:cNvSpPr txBox="1"/>
            <p:nvPr/>
          </p:nvSpPr>
          <p:spPr>
            <a:xfrm>
              <a:off x="793296" y="-10733"/>
              <a:ext cx="8863483" cy="8492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3499"/>
                </a:lnSpc>
              </a:pPr>
              <a:r>
                <a:rPr lang="vi-VN" sz="2499" b="1" dirty="0">
                  <a:solidFill>
                    <a:srgbClr val="000000"/>
                  </a:solidFill>
                  <a:ea typeface="Muli Semi-Bold"/>
                  <a:cs typeface="Muli Semi-Bold"/>
                  <a:sym typeface="Muli Semi-Bold"/>
                </a:rPr>
                <a:t>GV hướng dẫn</a:t>
              </a:r>
              <a:r>
                <a:rPr lang="vi-VN" sz="2499" dirty="0">
                  <a:solidFill>
                    <a:srgbClr val="000000"/>
                  </a:solidFill>
                  <a:ea typeface="Muli Semi-Bold"/>
                  <a:cs typeface="Muli Semi-Bold"/>
                  <a:sym typeface="Muli Semi-Bold"/>
                </a:rPr>
                <a:t>: </a:t>
              </a:r>
            </a:p>
            <a:p>
              <a:pPr>
                <a:lnSpc>
                  <a:spcPts val="3499"/>
                </a:lnSpc>
              </a:pPr>
              <a:r>
                <a:rPr lang="vi-VN" sz="2499" dirty="0">
                  <a:solidFill>
                    <a:srgbClr val="000000"/>
                  </a:solidFill>
                  <a:ea typeface="Muli Semi-Bold"/>
                  <a:cs typeface="Muli Semi-Bold"/>
                  <a:sym typeface="Muli Semi-Bold"/>
                </a:rPr>
                <a:t>Thạch Kọng Saoane</a:t>
              </a:r>
            </a:p>
            <a:p>
              <a:pPr>
                <a:lnSpc>
                  <a:spcPts val="3499"/>
                </a:lnSpc>
              </a:pPr>
              <a:endParaRPr lang="vi-VN" sz="2499" b="1" dirty="0">
                <a:solidFill>
                  <a:srgbClr val="000000"/>
                </a:solidFill>
                <a:ea typeface="Muli Semi-Bold"/>
                <a:cs typeface="Muli Semi-Bold"/>
                <a:sym typeface="Muli Semi-Bold"/>
              </a:endParaRPr>
            </a:p>
            <a:p>
              <a:pPr>
                <a:lnSpc>
                  <a:spcPts val="3499"/>
                </a:lnSpc>
              </a:pPr>
              <a:r>
                <a:rPr lang="vi-VN" sz="2499" b="1" dirty="0">
                  <a:solidFill>
                    <a:srgbClr val="000000"/>
                  </a:solidFill>
                  <a:ea typeface="Muli Semi-Bold"/>
                  <a:cs typeface="Muli Semi-Bold"/>
                  <a:sym typeface="Muli Semi-Bold"/>
                </a:rPr>
                <a:t>Sinh viên thực hiện: </a:t>
              </a:r>
            </a:p>
            <a:p>
              <a:pPr>
                <a:lnSpc>
                  <a:spcPts val="3499"/>
                </a:lnSpc>
              </a:pPr>
              <a:r>
                <a:rPr lang="vi-VN" sz="2499" dirty="0">
                  <a:solidFill>
                    <a:srgbClr val="000000"/>
                  </a:solidFill>
                  <a:ea typeface="Muli Semi-Bold"/>
                  <a:cs typeface="Muli Semi-Bold"/>
                  <a:sym typeface="Muli Semi-Bold"/>
                </a:rPr>
                <a:t>Nguyễn Huỳnh Yến Như</a:t>
              </a:r>
              <a:endParaRPr lang="en-US" sz="2499" dirty="0">
                <a:solidFill>
                  <a:srgbClr val="000000"/>
                </a:solidFill>
                <a:ea typeface="Muli Semi-Bold"/>
                <a:cs typeface="Muli Semi-Bold"/>
                <a:sym typeface="Muli Semi-Bold"/>
              </a:endParaRPr>
            </a:p>
          </p:txBody>
        </p:sp>
      </p:grpSp>
      <p:sp>
        <p:nvSpPr>
          <p:cNvPr id="9" name="Freeform 9"/>
          <p:cNvSpPr/>
          <p:nvPr/>
        </p:nvSpPr>
        <p:spPr>
          <a:xfrm>
            <a:off x="11542992" y="-8517227"/>
            <a:ext cx="11432615" cy="11411829"/>
          </a:xfrm>
          <a:custGeom>
            <a:avLst/>
            <a:gdLst/>
            <a:ahLst/>
            <a:cxnLst/>
            <a:rect l="l" t="t" r="r" b="b"/>
            <a:pathLst>
              <a:path w="11432615" h="11411829">
                <a:moveTo>
                  <a:pt x="0" y="0"/>
                </a:moveTo>
                <a:lnTo>
                  <a:pt x="11432616" y="0"/>
                </a:lnTo>
                <a:lnTo>
                  <a:pt x="11432616" y="11411829"/>
                </a:lnTo>
                <a:lnTo>
                  <a:pt x="0" y="114118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868154" y="1028700"/>
            <a:ext cx="1422950" cy="1420363"/>
          </a:xfrm>
          <a:custGeom>
            <a:avLst/>
            <a:gdLst/>
            <a:ahLst/>
            <a:cxnLst/>
            <a:rect l="l" t="t" r="r" b="b"/>
            <a:pathLst>
              <a:path w="1897267" h="1893817">
                <a:moveTo>
                  <a:pt x="0" y="0"/>
                </a:moveTo>
                <a:lnTo>
                  <a:pt x="1897267" y="0"/>
                </a:lnTo>
                <a:lnTo>
                  <a:pt x="1897267" y="1893817"/>
                </a:lnTo>
                <a:lnTo>
                  <a:pt x="0" y="18938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573580" y="2544036"/>
            <a:ext cx="14657020" cy="40853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1099"/>
              </a:lnSpc>
            </a:pPr>
            <a:r>
              <a:rPr lang="vi-VN" sz="6000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Phát triển ứng dụng web</a:t>
            </a:r>
          </a:p>
          <a:p>
            <a:pPr algn="l">
              <a:lnSpc>
                <a:spcPts val="11099"/>
              </a:lnSpc>
            </a:pPr>
            <a:r>
              <a:rPr lang="vi-VN" sz="6000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hỗ trợ chăm sóc sức khỏe tinh thần </a:t>
            </a:r>
          </a:p>
          <a:p>
            <a:pPr algn="l">
              <a:lnSpc>
                <a:spcPts val="11099"/>
              </a:lnSpc>
            </a:pPr>
            <a:r>
              <a:rPr lang="vi-VN" sz="6000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dựa trên phân tích cảm xúc hội thoại</a:t>
            </a:r>
            <a:endParaRPr lang="en-US" sz="6000" b="1" dirty="0">
              <a:solidFill>
                <a:srgbClr val="000000"/>
              </a:solidFill>
              <a:latin typeface="Asap Medium"/>
              <a:ea typeface="Asap Medium"/>
              <a:cs typeface="Asap Medium"/>
              <a:sym typeface="Asap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600200" y="266700"/>
            <a:ext cx="9279264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Lý do chọn đề tài</a:t>
            </a:r>
            <a:endParaRPr lang="en-US" sz="9000" b="1" dirty="0">
              <a:solidFill>
                <a:srgbClr val="000000"/>
              </a:solidFill>
              <a:latin typeface="Asap Medium"/>
              <a:ea typeface="Asap Medium"/>
              <a:cs typeface="Asap Medium"/>
              <a:sym typeface="Asap Medium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4938847" y="-5577476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4" y="0"/>
                </a:lnTo>
                <a:lnTo>
                  <a:pt x="9279264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-6187549" y="7481501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3" y="0"/>
                </a:lnTo>
                <a:lnTo>
                  <a:pt x="9279263" y="9262393"/>
                </a:lnTo>
                <a:lnTo>
                  <a:pt x="0" y="926239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8" name="Rectangle 1">
            <a:extLst>
              <a:ext uri="{FF2B5EF4-FFF2-40B4-BE49-F238E27FC236}">
                <a16:creationId xmlns:a16="http://schemas.microsoft.com/office/drawing/2014/main" id="{EAFBF71D-01A8-41D9-A87E-12058EDDD1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857500"/>
            <a:ext cx="11811000" cy="64415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Thực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trạng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Người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trẻ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gặp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nhiều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áp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lực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học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tập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công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việc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nhưng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khó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chia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sẻ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cảm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xúc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do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tâm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lý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ngại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hoặc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thiếu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tin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tưởng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Vấn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đề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Thiếu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thói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quen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theo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dõi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cảm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xúc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hằng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ngày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dẫn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đến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không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nhận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diện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kịp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thời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các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dấu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hiệu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bất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ổn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tâm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lý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Giải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pháp</a:t>
            </a:r>
            <a:r>
              <a:rPr kumimoji="0" lang="en-US" altLang="en-US" sz="4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Ứng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dụng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AI </a:t>
            </a:r>
            <a:r>
              <a:rPr kumimoji="0" lang="en-US" altLang="en-US" sz="4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và</a:t>
            </a:r>
            <a:r>
              <a:rPr kumimoji="0" lang="en-US" altLang="en-US" sz="4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NLP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999895" y="-9092389"/>
            <a:ext cx="11432615" cy="11411829"/>
          </a:xfrm>
          <a:custGeom>
            <a:avLst/>
            <a:gdLst/>
            <a:ahLst/>
            <a:cxnLst/>
            <a:rect l="l" t="t" r="r" b="b"/>
            <a:pathLst>
              <a:path w="11432615" h="11411829">
                <a:moveTo>
                  <a:pt x="0" y="0"/>
                </a:moveTo>
                <a:lnTo>
                  <a:pt x="11432615" y="0"/>
                </a:lnTo>
                <a:lnTo>
                  <a:pt x="11432615" y="11411829"/>
                </a:lnTo>
                <a:lnTo>
                  <a:pt x="0" y="1141182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324316" y="7022304"/>
            <a:ext cx="11841808" cy="11820277"/>
          </a:xfrm>
          <a:custGeom>
            <a:avLst/>
            <a:gdLst/>
            <a:ahLst/>
            <a:cxnLst/>
            <a:rect l="l" t="t" r="r" b="b"/>
            <a:pathLst>
              <a:path w="11841808" h="11820277">
                <a:moveTo>
                  <a:pt x="0" y="0"/>
                </a:moveTo>
                <a:lnTo>
                  <a:pt x="11841807" y="0"/>
                </a:lnTo>
                <a:lnTo>
                  <a:pt x="11841807" y="11820278"/>
                </a:lnTo>
                <a:lnTo>
                  <a:pt x="0" y="118202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22" name="TextBox 5">
            <a:extLst>
              <a:ext uri="{FF2B5EF4-FFF2-40B4-BE49-F238E27FC236}">
                <a16:creationId xmlns:a16="http://schemas.microsoft.com/office/drawing/2014/main" id="{92DCB213-0524-4C7E-BBC4-D5419EE08AA8}"/>
              </a:ext>
            </a:extLst>
          </p:cNvPr>
          <p:cNvSpPr txBox="1"/>
          <p:nvPr/>
        </p:nvSpPr>
        <p:spPr>
          <a:xfrm>
            <a:off x="457200" y="190500"/>
            <a:ext cx="9279264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Giới thiệu React</a:t>
            </a:r>
            <a:endParaRPr lang="en-US" sz="9000" b="1" dirty="0">
              <a:solidFill>
                <a:srgbClr val="000000"/>
              </a:solidFill>
              <a:latin typeface="Asap Medium"/>
              <a:ea typeface="Asap Medium"/>
              <a:cs typeface="Asap Medium"/>
              <a:sym typeface="Asap Medium"/>
            </a:endParaRPr>
          </a:p>
        </p:txBody>
      </p:sp>
      <p:sp>
        <p:nvSpPr>
          <p:cNvPr id="24" name="AutoShape 5" descr="Lightbox">
            <a:extLst>
              <a:ext uri="{FF2B5EF4-FFF2-40B4-BE49-F238E27FC236}">
                <a16:creationId xmlns:a16="http://schemas.microsoft.com/office/drawing/2014/main" id="{5A5E11D0-59A6-4CD1-8360-2536BC5C4B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EFCD05A-E5C9-48B8-B18C-F2EC31C5FB43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0" t="3704"/>
          <a:stretch/>
        </p:blipFill>
        <p:spPr>
          <a:xfrm>
            <a:off x="609600" y="2476500"/>
            <a:ext cx="10210800" cy="594360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1A9F4761-4DE9-42CC-949E-2E55134FC9F6}"/>
              </a:ext>
            </a:extLst>
          </p:cNvPr>
          <p:cNvSpPr/>
          <p:nvPr/>
        </p:nvSpPr>
        <p:spPr>
          <a:xfrm>
            <a:off x="11963400" y="4904194"/>
            <a:ext cx="5915016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vi-VN" sz="4000" b="1" dirty="0"/>
              <a:t>Front-end:</a:t>
            </a:r>
            <a:r>
              <a:rPr lang="vi-VN" sz="4000" dirty="0"/>
              <a:t> ReactJS (Giao diện người dùng linh hoạt, SPA).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4950820" y="5773766"/>
            <a:ext cx="9042909" cy="9026468"/>
          </a:xfrm>
          <a:custGeom>
            <a:avLst/>
            <a:gdLst/>
            <a:ahLst/>
            <a:cxnLst/>
            <a:rect l="l" t="t" r="r" b="b"/>
            <a:pathLst>
              <a:path w="9042909" h="9026468">
                <a:moveTo>
                  <a:pt x="0" y="0"/>
                </a:moveTo>
                <a:lnTo>
                  <a:pt x="9042909" y="0"/>
                </a:lnTo>
                <a:lnTo>
                  <a:pt x="9042909" y="9026468"/>
                </a:lnTo>
                <a:lnTo>
                  <a:pt x="0" y="90264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374934" y="-3845014"/>
            <a:ext cx="9042909" cy="9026468"/>
          </a:xfrm>
          <a:custGeom>
            <a:avLst/>
            <a:gdLst/>
            <a:ahLst/>
            <a:cxnLst/>
            <a:rect l="l" t="t" r="r" b="b"/>
            <a:pathLst>
              <a:path w="9042909" h="9026468">
                <a:moveTo>
                  <a:pt x="0" y="0"/>
                </a:moveTo>
                <a:lnTo>
                  <a:pt x="9042910" y="0"/>
                </a:lnTo>
                <a:lnTo>
                  <a:pt x="9042910" y="9026467"/>
                </a:lnTo>
                <a:lnTo>
                  <a:pt x="0" y="90264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5">
            <a:extLst>
              <a:ext uri="{FF2B5EF4-FFF2-40B4-BE49-F238E27FC236}">
                <a16:creationId xmlns:a16="http://schemas.microsoft.com/office/drawing/2014/main" id="{5316EE9D-2CE1-452E-BEBF-C184DB94F2F8}"/>
              </a:ext>
            </a:extLst>
          </p:cNvPr>
          <p:cNvSpPr txBox="1"/>
          <p:nvPr/>
        </p:nvSpPr>
        <p:spPr>
          <a:xfrm>
            <a:off x="457200" y="190500"/>
            <a:ext cx="9279264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Giới thiệu Node.js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2CE06D3-E537-4672-AC97-DBE5ACDCFC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5400" y="1655734"/>
            <a:ext cx="12192000" cy="5715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365801" y="5467351"/>
            <a:ext cx="11841808" cy="11820277"/>
          </a:xfrm>
          <a:custGeom>
            <a:avLst/>
            <a:gdLst/>
            <a:ahLst/>
            <a:cxnLst/>
            <a:rect l="l" t="t" r="r" b="b"/>
            <a:pathLst>
              <a:path w="11841808" h="11820277">
                <a:moveTo>
                  <a:pt x="0" y="0"/>
                </a:moveTo>
                <a:lnTo>
                  <a:pt x="11841807" y="0"/>
                </a:lnTo>
                <a:lnTo>
                  <a:pt x="11841807" y="11820277"/>
                </a:lnTo>
                <a:lnTo>
                  <a:pt x="0" y="118202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487400" y="-6676777"/>
            <a:ext cx="11841808" cy="11820277"/>
          </a:xfrm>
          <a:custGeom>
            <a:avLst/>
            <a:gdLst/>
            <a:ahLst/>
            <a:cxnLst/>
            <a:rect l="l" t="t" r="r" b="b"/>
            <a:pathLst>
              <a:path w="11841808" h="11820277">
                <a:moveTo>
                  <a:pt x="0" y="0"/>
                </a:moveTo>
                <a:lnTo>
                  <a:pt x="11841807" y="0"/>
                </a:lnTo>
                <a:lnTo>
                  <a:pt x="11841807" y="11820278"/>
                </a:lnTo>
                <a:lnTo>
                  <a:pt x="0" y="118202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C228FF6-01EC-477C-AF9A-475F1EB848BE}"/>
              </a:ext>
            </a:extLst>
          </p:cNvPr>
          <p:cNvSpPr txBox="1"/>
          <p:nvPr/>
        </p:nvSpPr>
        <p:spPr>
          <a:xfrm>
            <a:off x="457200" y="190500"/>
            <a:ext cx="9279264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Dialogflow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1C068A-421D-48DD-8159-10AF0F18A1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90679"/>
            <a:ext cx="127635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8365801" y="5467351"/>
            <a:ext cx="11841808" cy="11820277"/>
          </a:xfrm>
          <a:custGeom>
            <a:avLst/>
            <a:gdLst/>
            <a:ahLst/>
            <a:cxnLst/>
            <a:rect l="l" t="t" r="r" b="b"/>
            <a:pathLst>
              <a:path w="11841808" h="11820277">
                <a:moveTo>
                  <a:pt x="0" y="0"/>
                </a:moveTo>
                <a:lnTo>
                  <a:pt x="11841807" y="0"/>
                </a:lnTo>
                <a:lnTo>
                  <a:pt x="11841807" y="11820277"/>
                </a:lnTo>
                <a:lnTo>
                  <a:pt x="0" y="1182027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3335000" y="-8267700"/>
            <a:ext cx="11841808" cy="11820277"/>
          </a:xfrm>
          <a:custGeom>
            <a:avLst/>
            <a:gdLst/>
            <a:ahLst/>
            <a:cxnLst/>
            <a:rect l="l" t="t" r="r" b="b"/>
            <a:pathLst>
              <a:path w="11841808" h="11820277">
                <a:moveTo>
                  <a:pt x="0" y="0"/>
                </a:moveTo>
                <a:lnTo>
                  <a:pt x="11841807" y="0"/>
                </a:lnTo>
                <a:lnTo>
                  <a:pt x="11841807" y="11820278"/>
                </a:lnTo>
                <a:lnTo>
                  <a:pt x="0" y="1182027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5">
            <a:extLst>
              <a:ext uri="{FF2B5EF4-FFF2-40B4-BE49-F238E27FC236}">
                <a16:creationId xmlns:a16="http://schemas.microsoft.com/office/drawing/2014/main" id="{3C228FF6-01EC-477C-AF9A-475F1EB848BE}"/>
              </a:ext>
            </a:extLst>
          </p:cNvPr>
          <p:cNvSpPr txBox="1"/>
          <p:nvPr/>
        </p:nvSpPr>
        <p:spPr>
          <a:xfrm>
            <a:off x="457200" y="190500"/>
            <a:ext cx="9279264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Dialogflow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9DD0EB-7494-4B0B-A8B7-02D0B24B06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200" y="4237917"/>
            <a:ext cx="11439525" cy="5703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33096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5">
            <a:extLst>
              <a:ext uri="{FF2B5EF4-FFF2-40B4-BE49-F238E27FC236}">
                <a16:creationId xmlns:a16="http://schemas.microsoft.com/office/drawing/2014/main" id="{3C228FF6-01EC-477C-AF9A-475F1EB848BE}"/>
              </a:ext>
            </a:extLst>
          </p:cNvPr>
          <p:cNvSpPr txBox="1"/>
          <p:nvPr/>
        </p:nvSpPr>
        <p:spPr>
          <a:xfrm>
            <a:off x="457200" y="190500"/>
            <a:ext cx="9279264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Dialogflow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798757-87E3-4515-B598-0D8BB901DC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552700"/>
            <a:ext cx="9076940" cy="6892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9136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5">
            <a:extLst>
              <a:ext uri="{FF2B5EF4-FFF2-40B4-BE49-F238E27FC236}">
                <a16:creationId xmlns:a16="http://schemas.microsoft.com/office/drawing/2014/main" id="{3C228FF6-01EC-477C-AF9A-475F1EB848BE}"/>
              </a:ext>
            </a:extLst>
          </p:cNvPr>
          <p:cNvSpPr txBox="1"/>
          <p:nvPr/>
        </p:nvSpPr>
        <p:spPr>
          <a:xfrm>
            <a:off x="457200" y="190500"/>
            <a:ext cx="9279264" cy="13849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Dialogflow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0412BD-096B-4E06-AD8E-8548D94092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784" y="1575495"/>
            <a:ext cx="16088431" cy="666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5465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/>
          <p:nvPr/>
        </p:nvSpPr>
        <p:spPr>
          <a:xfrm>
            <a:off x="1668921" y="3455562"/>
            <a:ext cx="6493331" cy="27699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Hugging</a:t>
            </a:r>
          </a:p>
          <a:p>
            <a:pPr algn="l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Face</a:t>
            </a:r>
            <a:endParaRPr lang="en-US" sz="9000" b="1" dirty="0">
              <a:solidFill>
                <a:srgbClr val="000000"/>
              </a:solidFill>
              <a:latin typeface="Asap Medium"/>
              <a:ea typeface="Asap Medium"/>
              <a:cs typeface="Asap Medium"/>
              <a:sym typeface="Asap Medium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963495" y="1028700"/>
            <a:ext cx="1422950" cy="1420363"/>
          </a:xfrm>
          <a:custGeom>
            <a:avLst/>
            <a:gdLst/>
            <a:ahLst/>
            <a:cxnLst/>
            <a:rect l="l" t="t" r="r" b="b"/>
            <a:pathLst>
              <a:path w="1897267" h="1893817">
                <a:moveTo>
                  <a:pt x="0" y="0"/>
                </a:moveTo>
                <a:lnTo>
                  <a:pt x="1897267" y="0"/>
                </a:lnTo>
                <a:lnTo>
                  <a:pt x="1897267" y="1893817"/>
                </a:lnTo>
                <a:lnTo>
                  <a:pt x="0" y="189381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3">
            <a:extLst>
              <a:ext uri="{FF2B5EF4-FFF2-40B4-BE49-F238E27FC236}">
                <a16:creationId xmlns:a16="http://schemas.microsoft.com/office/drawing/2014/main" id="{1BB2D219-553D-418F-BE7B-270117790FC0}"/>
              </a:ext>
            </a:extLst>
          </p:cNvPr>
          <p:cNvSpPr/>
          <p:nvPr/>
        </p:nvSpPr>
        <p:spPr>
          <a:xfrm>
            <a:off x="8610600" y="723900"/>
            <a:ext cx="9279264" cy="9262392"/>
          </a:xfrm>
          <a:custGeom>
            <a:avLst/>
            <a:gdLst/>
            <a:ahLst/>
            <a:cxnLst/>
            <a:rect l="l" t="t" r="r" b="b"/>
            <a:pathLst>
              <a:path w="9279264" h="9262392">
                <a:moveTo>
                  <a:pt x="0" y="0"/>
                </a:moveTo>
                <a:lnTo>
                  <a:pt x="9279264" y="0"/>
                </a:lnTo>
                <a:lnTo>
                  <a:pt x="9279264" y="9262392"/>
                </a:lnTo>
                <a:lnTo>
                  <a:pt x="0" y="926239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pic>
        <p:nvPicPr>
          <p:cNvPr id="10242" name="Picture 2" descr="HF models 2">
            <a:extLst>
              <a:ext uri="{FF2B5EF4-FFF2-40B4-BE49-F238E27FC236}">
                <a16:creationId xmlns:a16="http://schemas.microsoft.com/office/drawing/2014/main" id="{5E42715D-FBEC-4BA2-9CD1-4230A1D408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0" y="1752600"/>
            <a:ext cx="7451853" cy="6781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3811762" y="5773766"/>
            <a:ext cx="9042909" cy="9026468"/>
          </a:xfrm>
          <a:custGeom>
            <a:avLst/>
            <a:gdLst/>
            <a:ahLst/>
            <a:cxnLst/>
            <a:rect l="l" t="t" r="r" b="b"/>
            <a:pathLst>
              <a:path w="9042909" h="9026468">
                <a:moveTo>
                  <a:pt x="0" y="0"/>
                </a:moveTo>
                <a:lnTo>
                  <a:pt x="9042909" y="0"/>
                </a:lnTo>
                <a:lnTo>
                  <a:pt x="9042909" y="9026468"/>
                </a:lnTo>
                <a:lnTo>
                  <a:pt x="0" y="90264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6057900" y="1166370"/>
            <a:ext cx="11201400" cy="1381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0800"/>
              </a:lnSpc>
            </a:pPr>
            <a:r>
              <a:rPr lang="vi-VN" sz="9000" b="1" dirty="0">
                <a:solidFill>
                  <a:srgbClr val="000000"/>
                </a:solidFill>
                <a:latin typeface="Asap Medium"/>
                <a:ea typeface="Asap Medium"/>
                <a:cs typeface="Asap Medium"/>
                <a:sym typeface="Asap Medium"/>
              </a:rPr>
              <a:t>Hugging Face</a:t>
            </a:r>
            <a:endParaRPr lang="en-US" sz="9000" b="1" dirty="0">
              <a:solidFill>
                <a:srgbClr val="000000"/>
              </a:solidFill>
              <a:latin typeface="Asap Medium"/>
              <a:ea typeface="Asap Medium"/>
              <a:cs typeface="Asap Medium"/>
              <a:sym typeface="Asap Medium"/>
            </a:endParaRPr>
          </a:p>
        </p:txBody>
      </p:sp>
      <p:sp>
        <p:nvSpPr>
          <p:cNvPr id="35" name="Freeform 35"/>
          <p:cNvSpPr/>
          <p:nvPr/>
        </p:nvSpPr>
        <p:spPr>
          <a:xfrm>
            <a:off x="1400113" y="880620"/>
            <a:ext cx="1422950" cy="1420363"/>
          </a:xfrm>
          <a:custGeom>
            <a:avLst/>
            <a:gdLst/>
            <a:ahLst/>
            <a:cxnLst/>
            <a:rect l="l" t="t" r="r" b="b"/>
            <a:pathLst>
              <a:path w="1897267" h="1893817">
                <a:moveTo>
                  <a:pt x="0" y="0"/>
                </a:moveTo>
                <a:lnTo>
                  <a:pt x="1897267" y="0"/>
                </a:lnTo>
                <a:lnTo>
                  <a:pt x="1897267" y="1893817"/>
                </a:lnTo>
                <a:lnTo>
                  <a:pt x="0" y="189381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pic>
        <p:nvPicPr>
          <p:cNvPr id="41" name="Picture 1">
            <a:extLst>
              <a:ext uri="{FF2B5EF4-FFF2-40B4-BE49-F238E27FC236}">
                <a16:creationId xmlns:a16="http://schemas.microsoft.com/office/drawing/2014/main" id="{16C06D72-7905-487F-981B-6071742348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3118" y="2915655"/>
            <a:ext cx="16081764" cy="62092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139</Words>
  <Application>Microsoft Office PowerPoint</Application>
  <PresentationFormat>Custom</PresentationFormat>
  <Paragraphs>22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Muli Semi-Bold</vt:lpstr>
      <vt:lpstr>Asap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Yến Như Nguyễn</cp:lastModifiedBy>
  <cp:revision>7</cp:revision>
  <dcterms:created xsi:type="dcterms:W3CDTF">2006-08-16T00:00:00Z</dcterms:created>
  <dcterms:modified xsi:type="dcterms:W3CDTF">2025-12-29T11:41:16Z</dcterms:modified>
  <dc:identifier>DAG84bHFXck</dc:identifier>
</cp:coreProperties>
</file>