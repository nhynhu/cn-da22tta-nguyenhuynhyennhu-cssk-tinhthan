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1602700" cy="323977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Noto Sans" panose="020B0604020202020204" charset="0"/>
      <p:regular r:id="rId7"/>
    </p:embeddedFont>
    <p:embeddedFont>
      <p:font typeface="Noto San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3" d="100"/>
          <a:sy n="13" d="100"/>
        </p:scale>
        <p:origin x="2328" y="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600000" cy="6480000"/>
            <a:chOff x="0" y="0"/>
            <a:chExt cx="270933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812800"/>
            </a:xfrm>
            <a:custGeom>
              <a:avLst/>
              <a:gdLst/>
              <a:ahLst/>
              <a:cxnLst/>
              <a:rect l="l" t="t" r="r" b="b"/>
              <a:pathLst>
                <a:path w="2709333" h="812800">
                  <a:moveTo>
                    <a:pt x="0" y="0"/>
                  </a:moveTo>
                  <a:lnTo>
                    <a:pt x="2709333" y="0"/>
                  </a:lnTo>
                  <a:lnTo>
                    <a:pt x="27093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EF8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2709333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4235450"/>
            <a:ext cx="21600000" cy="8304467"/>
          </a:xfrm>
          <a:custGeom>
            <a:avLst/>
            <a:gdLst/>
            <a:ahLst/>
            <a:cxnLst/>
            <a:rect l="l" t="t" r="r" b="b"/>
            <a:pathLst>
              <a:path w="21600000" h="8304467">
                <a:moveTo>
                  <a:pt x="0" y="0"/>
                </a:moveTo>
                <a:lnTo>
                  <a:pt x="21600000" y="0"/>
                </a:lnTo>
                <a:lnTo>
                  <a:pt x="21600000" y="8304467"/>
                </a:lnTo>
                <a:lnTo>
                  <a:pt x="0" y="83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15" r="-20615" b="-3913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52750" y="204370"/>
            <a:ext cx="8029203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ĐẠI HỌC TRÀ VINH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TRƯỜNG KỸ THUẬT VÀ CÔNG NGHỆ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70797" y="204370"/>
            <a:ext cx="8029203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KHOA CÔNG NGHỆ THÔNG TIN</a:t>
            </a:r>
          </a:p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ĐỒ ÁN CHUYÊN NGÀNH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7438" y="1638585"/>
            <a:ext cx="17737312" cy="3098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59"/>
              </a:lnSpc>
            </a:pPr>
            <a:r>
              <a:rPr lang="en-US" sz="5899" b="1" dirty="0">
                <a:solidFill>
                  <a:srgbClr val="0360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PHÁT TRIỂN ỨNG DỤNG WEB </a:t>
            </a:r>
          </a:p>
          <a:p>
            <a:pPr algn="l">
              <a:lnSpc>
                <a:spcPts val="8259"/>
              </a:lnSpc>
            </a:pPr>
            <a:r>
              <a:rPr lang="en-US" sz="5899" b="1" dirty="0">
                <a:solidFill>
                  <a:srgbClr val="0360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HỖ TRỢ CHĂM SÓC SỨC KHỎE TINH THẦN </a:t>
            </a:r>
          </a:p>
          <a:p>
            <a:pPr algn="l">
              <a:lnSpc>
                <a:spcPts val="8259"/>
              </a:lnSpc>
              <a:spcBef>
                <a:spcPct val="0"/>
              </a:spcBef>
            </a:pPr>
            <a:r>
              <a:rPr lang="en-US" sz="5899" b="1" dirty="0">
                <a:solidFill>
                  <a:srgbClr val="0360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DỰA TRÊN PHÂN TÍCH CẢM XÚC HỘI THOẠI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7438" y="6048887"/>
            <a:ext cx="7117350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Giảng</a:t>
            </a:r>
            <a:r>
              <a:rPr lang="en-US" sz="2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viên</a:t>
            </a:r>
            <a:r>
              <a:rPr lang="en-US" sz="2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hướng</a:t>
            </a:r>
            <a:r>
              <a:rPr lang="en-US" sz="2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dẫn</a:t>
            </a:r>
            <a:r>
              <a:rPr lang="en-US" sz="2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 </a:t>
            </a:r>
            <a:r>
              <a:rPr lang="en-US" sz="25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Thạch</a:t>
            </a:r>
            <a:r>
              <a:rPr lang="en-US" sz="25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Kọng</a:t>
            </a:r>
            <a:r>
              <a:rPr lang="en-US" sz="25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Saoane</a:t>
            </a:r>
            <a:endParaRPr lang="en-US" sz="25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09821" y="6695637"/>
            <a:ext cx="7117350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Sinh</a:t>
            </a:r>
            <a:r>
              <a:rPr lang="en-US" sz="2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viên</a:t>
            </a:r>
            <a:r>
              <a:rPr lang="en-US" sz="2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thực</a:t>
            </a:r>
            <a:r>
              <a:rPr lang="en-US" sz="2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hiện</a:t>
            </a:r>
            <a:r>
              <a:rPr lang="en-US" sz="2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 </a:t>
            </a:r>
            <a:r>
              <a:rPr lang="en-US" sz="25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Nguyễn </a:t>
            </a:r>
            <a:r>
              <a:rPr lang="en-US" sz="25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Huỳnh</a:t>
            </a:r>
            <a:r>
              <a:rPr lang="en-US" sz="25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Yến Như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994D38-D18D-4369-954E-6A2CDECDACC5}"/>
              </a:ext>
            </a:extLst>
          </p:cNvPr>
          <p:cNvSpPr/>
          <p:nvPr/>
        </p:nvSpPr>
        <p:spPr>
          <a:xfrm>
            <a:off x="1365547" y="11550652"/>
            <a:ext cx="7117350" cy="3200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7061A5-1BAD-4CD7-987A-E0D9B97BC369}"/>
              </a:ext>
            </a:extLst>
          </p:cNvPr>
          <p:cNvSpPr/>
          <p:nvPr/>
        </p:nvSpPr>
        <p:spPr>
          <a:xfrm>
            <a:off x="1746021" y="12110527"/>
            <a:ext cx="624495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trạng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trẻ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gặp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nhiều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áp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lực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học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tập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công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việc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nhưng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khó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chia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sẻ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cảm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xúc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tâm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ngại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hoặc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thiếu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tin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tưởng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Vấn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Thiếu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thói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quen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dõi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cảm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xúc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hằng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ngày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dẫn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đến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nhận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diện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kịp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thời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dấu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hiệu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bất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ổn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tâm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alt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C4A0DF-FA63-487C-91FD-B278B2FDE92F}"/>
              </a:ext>
            </a:extLst>
          </p:cNvPr>
          <p:cNvSpPr/>
          <p:nvPr/>
        </p:nvSpPr>
        <p:spPr>
          <a:xfrm>
            <a:off x="1365546" y="15148839"/>
            <a:ext cx="7117351" cy="6155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98C1A4-1537-46A5-BDED-890722AA069E}"/>
              </a:ext>
            </a:extLst>
          </p:cNvPr>
          <p:cNvSpPr/>
          <p:nvPr/>
        </p:nvSpPr>
        <p:spPr>
          <a:xfrm>
            <a:off x="1801743" y="15646086"/>
            <a:ext cx="6244955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vi-V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Tương tác tự nhiên:</a:t>
            </a:r>
            <a:r>
              <a:rPr lang="vi-V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Xây dựng ứng dụng chat với AI thân thiện, sử dụng kỹ thuật NLP để giao tiếp như con người.</a:t>
            </a:r>
          </a:p>
          <a:p>
            <a:pPr algn="just"/>
            <a:r>
              <a:rPr lang="vi-V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 tích cảm xúc:</a:t>
            </a:r>
            <a:r>
              <a:rPr lang="vi-V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Ứng dụng mô hình AI để nhận diện trạng thái cảm xúc qua tin nhắn văn bản.</a:t>
            </a:r>
          </a:p>
          <a:p>
            <a:pPr algn="just"/>
            <a:r>
              <a:rPr lang="vi-V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 dõi tâm trạng:</a:t>
            </a:r>
            <a:r>
              <a:rPr lang="vi-V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Tích hợp nhật ký và hệ thống thống kê giúp người dùng nhận diện xu hướng cảm xúc theo thời gian.</a:t>
            </a:r>
          </a:p>
          <a:p>
            <a:pPr algn="just"/>
            <a:r>
              <a:rPr lang="vi-V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 xuất giải pháp:</a:t>
            </a:r>
            <a:r>
              <a:rPr lang="vi-V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Tự động đưa ra gợi ý cải thiện sức khỏe tinh thần phù hợp với kết quả phân tích.</a:t>
            </a:r>
          </a:p>
          <a:p>
            <a:pPr algn="just"/>
            <a:r>
              <a:rPr lang="vi-V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Hỗ trợ toàn diện:</a:t>
            </a:r>
            <a:r>
              <a:rPr lang="vi-V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Cung cấp tư vấn chuyên gia, thư viện kiến thức và bài tập thiền định.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CE53E1-628F-4F99-AC5F-31971744ADA5}"/>
              </a:ext>
            </a:extLst>
          </p:cNvPr>
          <p:cNvSpPr/>
          <p:nvPr/>
        </p:nvSpPr>
        <p:spPr>
          <a:xfrm>
            <a:off x="9632127" y="21706130"/>
            <a:ext cx="11509848" cy="39411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C9A6F7-A137-4AE5-B88D-42D52283C6DE}"/>
              </a:ext>
            </a:extLst>
          </p:cNvPr>
          <p:cNvSpPr/>
          <p:nvPr/>
        </p:nvSpPr>
        <p:spPr>
          <a:xfrm>
            <a:off x="9734538" y="26491896"/>
            <a:ext cx="11509848" cy="5695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F3EC19-7F15-47A5-B22D-76EF9A1AE1E7}"/>
              </a:ext>
            </a:extLst>
          </p:cNvPr>
          <p:cNvSpPr/>
          <p:nvPr/>
        </p:nvSpPr>
        <p:spPr>
          <a:xfrm>
            <a:off x="9990981" y="19708273"/>
            <a:ext cx="11509848" cy="7542466"/>
          </a:xfrm>
          <a:prstGeom prst="rect">
            <a:avLst/>
          </a:prstGeom>
          <a:noFill/>
          <a:ln w="38100">
            <a:noFill/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1">
            <a:extLst>
              <a:ext uri="{FF2B5EF4-FFF2-40B4-BE49-F238E27FC236}">
                <a16:creationId xmlns:a16="http://schemas.microsoft.com/office/drawing/2014/main" id="{77557EF6-507F-48BC-A920-026C31ED9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325" y="27140797"/>
            <a:ext cx="10145678" cy="398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">
            <a:extLst>
              <a:ext uri="{FF2B5EF4-FFF2-40B4-BE49-F238E27FC236}">
                <a16:creationId xmlns:a16="http://schemas.microsoft.com/office/drawing/2014/main" id="{5E783F33-3BA4-4E46-8C72-9EFE224B3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02" y="23424196"/>
            <a:ext cx="8115989" cy="3473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">
            <a:extLst>
              <a:ext uri="{FF2B5EF4-FFF2-40B4-BE49-F238E27FC236}">
                <a16:creationId xmlns:a16="http://schemas.microsoft.com/office/drawing/2014/main" id="{7842E6B7-18C3-4B5F-B0AF-6028118FB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02" y="27696223"/>
            <a:ext cx="8115984" cy="3582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C32441D-A7E9-4E61-9B75-344CE3632311}"/>
              </a:ext>
            </a:extLst>
          </p:cNvPr>
          <p:cNvSpPr/>
          <p:nvPr/>
        </p:nvSpPr>
        <p:spPr>
          <a:xfrm>
            <a:off x="1746020" y="11297189"/>
            <a:ext cx="387373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/>
              <a:t>Lý do chọn đề tài</a:t>
            </a:r>
            <a:endParaRPr lang="en-US" sz="280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21EDB34-7500-4E04-A718-072DC669BCF9}"/>
              </a:ext>
            </a:extLst>
          </p:cNvPr>
          <p:cNvSpPr/>
          <p:nvPr/>
        </p:nvSpPr>
        <p:spPr>
          <a:xfrm>
            <a:off x="1746020" y="14853729"/>
            <a:ext cx="212113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/>
              <a:t>Mục tiêu</a:t>
            </a:r>
            <a:endParaRPr lang="en-US" sz="280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67EA33C-86EB-4A12-A9B0-8F5B8BC6868F}"/>
              </a:ext>
            </a:extLst>
          </p:cNvPr>
          <p:cNvSpPr/>
          <p:nvPr/>
        </p:nvSpPr>
        <p:spPr>
          <a:xfrm>
            <a:off x="1420448" y="22373939"/>
            <a:ext cx="387373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/>
              <a:t>Một số kết quả</a:t>
            </a:r>
            <a:endParaRPr lang="en-US" sz="28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CEF5FA2-3E2B-4226-9DAC-6FCBA7219A76}"/>
              </a:ext>
            </a:extLst>
          </p:cNvPr>
          <p:cNvCxnSpPr>
            <a:stCxn id="46" idx="3"/>
          </p:cNvCxnSpPr>
          <p:nvPr/>
        </p:nvCxnSpPr>
        <p:spPr>
          <a:xfrm>
            <a:off x="5294178" y="22754939"/>
            <a:ext cx="398195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2E3DEC9-9BED-444A-8D44-837612EA1871}"/>
              </a:ext>
            </a:extLst>
          </p:cNvPr>
          <p:cNvCxnSpPr>
            <a:stCxn id="46" idx="1"/>
          </p:cNvCxnSpPr>
          <p:nvPr/>
        </p:nvCxnSpPr>
        <p:spPr>
          <a:xfrm flipH="1">
            <a:off x="361950" y="22754939"/>
            <a:ext cx="105849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17E4207-9C08-45B8-90EC-D7C8384A7DE4}"/>
              </a:ext>
            </a:extLst>
          </p:cNvPr>
          <p:cNvCxnSpPr>
            <a:cxnSpLocks/>
          </p:cNvCxnSpPr>
          <p:nvPr/>
        </p:nvCxnSpPr>
        <p:spPr>
          <a:xfrm>
            <a:off x="9276134" y="22754939"/>
            <a:ext cx="0" cy="8519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2">
            <a:extLst>
              <a:ext uri="{FF2B5EF4-FFF2-40B4-BE49-F238E27FC236}">
                <a16:creationId xmlns:a16="http://schemas.microsoft.com/office/drawing/2014/main" id="{4808DA8A-4219-40A6-A1F2-FBF92152A1F4}"/>
              </a:ext>
            </a:extLst>
          </p:cNvPr>
          <p:cNvGrpSpPr/>
          <p:nvPr/>
        </p:nvGrpSpPr>
        <p:grpSpPr>
          <a:xfrm>
            <a:off x="2700" y="31556528"/>
            <a:ext cx="21600000" cy="841171"/>
            <a:chOff x="0" y="0"/>
            <a:chExt cx="2709333" cy="812800"/>
          </a:xfrm>
        </p:grpSpPr>
        <p:sp>
          <p:nvSpPr>
            <p:cNvPr id="57" name="Freeform 3">
              <a:extLst>
                <a:ext uri="{FF2B5EF4-FFF2-40B4-BE49-F238E27FC236}">
                  <a16:creationId xmlns:a16="http://schemas.microsoft.com/office/drawing/2014/main" id="{B5C5371C-CBA5-4CF5-BC64-E32606BD4CC0}"/>
                </a:ext>
              </a:extLst>
            </p:cNvPr>
            <p:cNvSpPr/>
            <p:nvPr/>
          </p:nvSpPr>
          <p:spPr>
            <a:xfrm>
              <a:off x="0" y="0"/>
              <a:ext cx="2709333" cy="812800"/>
            </a:xfrm>
            <a:custGeom>
              <a:avLst/>
              <a:gdLst/>
              <a:ahLst/>
              <a:cxnLst/>
              <a:rect l="l" t="t" r="r" b="b"/>
              <a:pathLst>
                <a:path w="2709333" h="812800">
                  <a:moveTo>
                    <a:pt x="0" y="0"/>
                  </a:moveTo>
                  <a:lnTo>
                    <a:pt x="2709333" y="0"/>
                  </a:lnTo>
                  <a:lnTo>
                    <a:pt x="27093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EF8FA"/>
            </a:solidFill>
          </p:spPr>
        </p:sp>
        <p:sp>
          <p:nvSpPr>
            <p:cNvPr id="58" name="TextBox 4">
              <a:extLst>
                <a:ext uri="{FF2B5EF4-FFF2-40B4-BE49-F238E27FC236}">
                  <a16:creationId xmlns:a16="http://schemas.microsoft.com/office/drawing/2014/main" id="{225B62DA-BB60-49F0-8A5E-47ADA119DE64}"/>
                </a:ext>
              </a:extLst>
            </p:cNvPr>
            <p:cNvSpPr txBox="1"/>
            <p:nvPr/>
          </p:nvSpPr>
          <p:spPr>
            <a:xfrm>
              <a:off x="0" y="-76200"/>
              <a:ext cx="2709333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BC87C91-E83B-46BC-8189-70DAADAC3726}"/>
              </a:ext>
            </a:extLst>
          </p:cNvPr>
          <p:cNvSpPr/>
          <p:nvPr/>
        </p:nvSpPr>
        <p:spPr>
          <a:xfrm>
            <a:off x="11061622" y="8509768"/>
            <a:ext cx="387373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/>
              <a:t>Kiến trúc hệ thống</a:t>
            </a:r>
            <a:endParaRPr lang="en-US" sz="28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70E4DED-2DFA-4F80-943D-0345EB95C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651" y="10323736"/>
            <a:ext cx="11817324" cy="65203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B05FB23-1DB4-4F94-83A4-AC788B8924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7939" y="22350394"/>
            <a:ext cx="9067660" cy="2995017"/>
          </a:xfrm>
          <a:prstGeom prst="rect">
            <a:avLst/>
          </a:prstGeom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D02D5E41-D042-41B5-A773-CE35C8098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8498" y="21068723"/>
            <a:ext cx="4251420" cy="111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C5331220-A6D7-4421-957F-45D76AB6C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693" y="24555592"/>
            <a:ext cx="6921155" cy="345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64C999FA-F541-4AB8-93E7-CAEA0D566EDA}"/>
              </a:ext>
            </a:extLst>
          </p:cNvPr>
          <p:cNvSpPr/>
          <p:nvPr/>
        </p:nvSpPr>
        <p:spPr>
          <a:xfrm>
            <a:off x="1165644" y="197269"/>
            <a:ext cx="1327366" cy="1218473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CF60B517-F6AB-4494-8B06-E773633651D4}"/>
              </a:ext>
            </a:extLst>
          </p:cNvPr>
          <p:cNvSpPr/>
          <p:nvPr/>
        </p:nvSpPr>
        <p:spPr>
          <a:xfrm>
            <a:off x="11102472" y="17825127"/>
            <a:ext cx="387373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/>
              <a:t>Công nghệ sủ dụng</a:t>
            </a:r>
            <a:endParaRPr lang="en-US" sz="2800" dirty="0"/>
          </a:p>
        </p:txBody>
      </p:sp>
      <p:pic>
        <p:nvPicPr>
          <p:cNvPr id="72" name="Picture 2">
            <a:extLst>
              <a:ext uri="{FF2B5EF4-FFF2-40B4-BE49-F238E27FC236}">
                <a16:creationId xmlns:a16="http://schemas.microsoft.com/office/drawing/2014/main" id="{78C9CCD0-EFD1-4AE7-B458-2BF485602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0225" y="18656305"/>
            <a:ext cx="3322341" cy="175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What are the prime differences between Node JS and Express JS | by A Smith  | Medium">
            <a:extLst>
              <a:ext uri="{FF2B5EF4-FFF2-40B4-BE49-F238E27FC236}">
                <a16:creationId xmlns:a16="http://schemas.microsoft.com/office/drawing/2014/main" id="{1C77248F-9695-4164-992D-3A81F0B2E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1481" y="18493774"/>
            <a:ext cx="3587833" cy="253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978DF63E-9FEC-4D9E-94B9-443EB1FC274E}"/>
              </a:ext>
            </a:extLst>
          </p:cNvPr>
          <p:cNvCxnSpPr>
            <a:stCxn id="71" idx="3"/>
          </p:cNvCxnSpPr>
          <p:nvPr/>
        </p:nvCxnSpPr>
        <p:spPr>
          <a:xfrm>
            <a:off x="14976202" y="18206127"/>
            <a:ext cx="60373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95DD1E5A-904A-451A-8F0D-58C3FC1E09D0}"/>
              </a:ext>
            </a:extLst>
          </p:cNvPr>
          <p:cNvCxnSpPr>
            <a:cxnSpLocks/>
          </p:cNvCxnSpPr>
          <p:nvPr/>
        </p:nvCxnSpPr>
        <p:spPr>
          <a:xfrm flipH="1">
            <a:off x="10418538" y="18235418"/>
            <a:ext cx="6327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A8BD14B3-3D6A-4837-A3ED-0D95F3093411}"/>
              </a:ext>
            </a:extLst>
          </p:cNvPr>
          <p:cNvCxnSpPr>
            <a:cxnSpLocks/>
          </p:cNvCxnSpPr>
          <p:nvPr/>
        </p:nvCxnSpPr>
        <p:spPr>
          <a:xfrm>
            <a:off x="10428840" y="18235418"/>
            <a:ext cx="0" cy="13039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262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Noto Sans</vt:lpstr>
      <vt:lpstr>Calibri</vt:lpstr>
      <vt:lpstr>Arial</vt:lpstr>
      <vt:lpstr>Noto Sans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đồ án cơ sở ngành</dc:title>
  <cp:lastModifiedBy>Yến Như Nguyễn</cp:lastModifiedBy>
  <cp:revision>12</cp:revision>
  <dcterms:created xsi:type="dcterms:W3CDTF">2006-08-16T00:00:00Z</dcterms:created>
  <dcterms:modified xsi:type="dcterms:W3CDTF">2026-01-15T17:35:09Z</dcterms:modified>
  <dc:identifier>DAGcJOSiUvM</dc:identifier>
</cp:coreProperties>
</file>