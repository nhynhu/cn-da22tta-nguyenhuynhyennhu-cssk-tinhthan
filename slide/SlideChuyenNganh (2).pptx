
<file path=[Content_Types].xml><?xml version="1.0" encoding="utf-8"?>
<Types xmlns="http://schemas.openxmlformats.org/package/2006/content-types">
  <Default Extension="png" ContentType="image/png"/>
  <Default Extension="svg" ContentType="image/svg+xml"/>
  <Default Extension="jpeg" ContentType="image/jpeg"/>
  <Default Extension="emf" ContentType="image/x-emf"/>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2"/>
  </p:notesMasterIdLst>
  <p:sldIdLst>
    <p:sldId id="256" r:id="rId2"/>
    <p:sldId id="257" r:id="rId3"/>
    <p:sldId id="258" r:id="rId4"/>
    <p:sldId id="259" r:id="rId5"/>
    <p:sldId id="260" r:id="rId6"/>
    <p:sldId id="263" r:id="rId7"/>
    <p:sldId id="262" r:id="rId8"/>
    <p:sldId id="264" r:id="rId9"/>
    <p:sldId id="265" r:id="rId10"/>
    <p:sldId id="275" r:id="rId11"/>
    <p:sldId id="267" r:id="rId12"/>
    <p:sldId id="261" r:id="rId13"/>
    <p:sldId id="266" r:id="rId14"/>
    <p:sldId id="268" r:id="rId15"/>
    <p:sldId id="269" r:id="rId16"/>
    <p:sldId id="270" r:id="rId17"/>
    <p:sldId id="272" r:id="rId18"/>
    <p:sldId id="271" r:id="rId19"/>
    <p:sldId id="273" r:id="rId20"/>
    <p:sldId id="274" r:id="rId21"/>
  </p:sldIdLst>
  <p:sldSz cx="18288000" cy="10287000"/>
  <p:notesSz cx="6858000" cy="9144000"/>
  <p:embeddedFontLst>
    <p:embeddedFont>
      <p:font typeface="Bahnschrift SemiBold" panose="020B0502040204020203" pitchFamily="34" charset="0"/>
      <p:bold r:id="rId23"/>
    </p:embeddedFont>
    <p:embeddedFont>
      <p:font typeface="Bubblebody Neue Bold" panose="020B0604020202020204" charset="0"/>
      <p:regular r:id="rId24"/>
    </p:embeddedFont>
    <p:embeddedFont>
      <p:font typeface="Calibri" panose="020F0502020204030204" pitchFamily="34" charset="0"/>
      <p:regular r:id="rId25"/>
      <p:bold r:id="rId26"/>
      <p:italic r:id="rId27"/>
      <p:boldItalic r:id="rId28"/>
    </p:embeddedFont>
    <p:embeddedFont>
      <p:font typeface="Canva Sans Bold" panose="020B0604020202020204" charset="0"/>
      <p:regular r:id="rId29"/>
    </p:embeddedFont>
    <p:embeddedFont>
      <p:font typeface="Muli Semi-Bold" panose="020B0604020202020204" charset="0"/>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2DFD9"/>
    <a:srgbClr val="593EA1"/>
    <a:srgbClr val="8DD2CE"/>
    <a:srgbClr val="000000"/>
    <a:srgbClr val="FFFDF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509" autoAdjust="0"/>
    <p:restoredTop sz="84054" autoAdjust="0"/>
  </p:normalViewPr>
  <p:slideViewPr>
    <p:cSldViewPr>
      <p:cViewPr varScale="1">
        <p:scale>
          <a:sx n="37" d="100"/>
          <a:sy n="37" d="100"/>
        </p:scale>
        <p:origin x="1292"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A7278C-2145-4FEA-9BDB-0BEE3E76F51A}" type="datetimeFigureOut">
              <a:rPr lang="en-US" smtClean="0"/>
              <a:t>1/16/2026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DFD75D-3CE3-4529-BFF7-92008234F864}" type="slidenum">
              <a:rPr lang="en-US" smtClean="0"/>
              <a:t>‹#›</a:t>
            </a:fld>
            <a:endParaRPr lang="en-US"/>
          </a:p>
        </p:txBody>
      </p:sp>
    </p:spTree>
    <p:extLst>
      <p:ext uri="{BB962C8B-B14F-4D97-AF65-F5344CB8AC3E}">
        <p14:creationId xmlns:p14="http://schemas.microsoft.com/office/powerpoint/2010/main" val="12552615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9DFD75D-3CE3-4529-BFF7-92008234F864}" type="slidenum">
              <a:rPr lang="en-US" smtClean="0"/>
              <a:t>8</a:t>
            </a:fld>
            <a:endParaRPr lang="en-US"/>
          </a:p>
        </p:txBody>
      </p:sp>
    </p:spTree>
    <p:extLst>
      <p:ext uri="{BB962C8B-B14F-4D97-AF65-F5344CB8AC3E}">
        <p14:creationId xmlns:p14="http://schemas.microsoft.com/office/powerpoint/2010/main" val="6619764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9DFD75D-3CE3-4529-BFF7-92008234F864}" type="slidenum">
              <a:rPr lang="en-US" smtClean="0"/>
              <a:t>9</a:t>
            </a:fld>
            <a:endParaRPr lang="en-US"/>
          </a:p>
        </p:txBody>
      </p:sp>
    </p:spTree>
    <p:extLst>
      <p:ext uri="{BB962C8B-B14F-4D97-AF65-F5344CB8AC3E}">
        <p14:creationId xmlns:p14="http://schemas.microsoft.com/office/powerpoint/2010/main" val="10148599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9DFD75D-3CE3-4529-BFF7-92008234F864}" type="slidenum">
              <a:rPr lang="en-US" smtClean="0"/>
              <a:t>10</a:t>
            </a:fld>
            <a:endParaRPr lang="en-US"/>
          </a:p>
        </p:txBody>
      </p:sp>
    </p:spTree>
    <p:extLst>
      <p:ext uri="{BB962C8B-B14F-4D97-AF65-F5344CB8AC3E}">
        <p14:creationId xmlns:p14="http://schemas.microsoft.com/office/powerpoint/2010/main" val="30767508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Hệ thống được xây dựng theo mô hình client–server kết hợp microservices. Backend sử dụng Node.js và Express để cung cấp RESTful API, dữ liệu được lưu trữ trong MySQL. Một microservice AI riêng biệt xử lý phân tích cảm xúc bằng Python Flask.</a:t>
            </a:r>
          </a:p>
          <a:p>
            <a:endParaRPr lang="vi-VN" dirty="0"/>
          </a:p>
          <a:p>
            <a:r>
              <a:rPr lang="vi-VN" dirty="0"/>
              <a:t>Hệ thống được xây dựng theo mô hình </a:t>
            </a:r>
            <a:r>
              <a:rPr lang="vi-VN" b="1" dirty="0"/>
              <a:t>client–server kết hợp microservices</a:t>
            </a:r>
            <a:r>
              <a:rPr lang="vi-VN" dirty="0"/>
              <a:t>. Phía client sử dụng trình duyệt web với ReactJS và Bootstrap để hiển thị giao diện, đồng thời gửi các yêu cầu HTTP theo chuẩn REST và định dạng JSON đến backend. Sau khi người dùng đăng nhập thành công, backend trả về mã xác thực JWT và client lưu trữ JWT để sử dụng cho các lần truy cập tiếp theo.</a:t>
            </a:r>
          </a:p>
          <a:p>
            <a:r>
              <a:rPr lang="vi-VN" dirty="0"/>
              <a:t>Backend chính được triển khai bằng </a:t>
            </a:r>
            <a:r>
              <a:rPr lang="vi-VN" b="1" dirty="0"/>
              <a:t>Node.js và Express</a:t>
            </a:r>
            <a:r>
              <a:rPr lang="vi-VN" dirty="0"/>
              <a:t>, đóng vai trò là máy chủ cung cấp RESTful API. Mọi yêu cầu từ client đều đi qua API Entry Point và được kiểm tra bởi middleware xác thực JWT nhằm đảm bảo an toàn và phân quyền truy cập. Sau đó, các controller sẽ xử lý nghiệp vụ của hệ thống như quản lý người dùng, phân tích cảm xúc, đặt lịch hẹn hoặc xử lý hội thoại. Tầng truy cập dữ liệu (Data Access Layer) chịu trách nhiệm tương tác trực tiếp với cơ sở dữ liệu MySQL thông qua các câu lệnh SQL để thực hiện các thao tác CRUD.</a:t>
            </a:r>
          </a:p>
          <a:p>
            <a:r>
              <a:rPr lang="vi-VN" dirty="0"/>
              <a:t>Dữ liệu của hệ thống được lưu trữ trong </a:t>
            </a:r>
            <a:r>
              <a:rPr lang="vi-VN" b="1" dirty="0"/>
              <a:t>cơ sở dữ liệu quan hệ MySQL</a:t>
            </a:r>
            <a:r>
              <a:rPr lang="vi-VN" dirty="0"/>
              <a:t>, phù hợp với các dữ liệu có cấu trúc và mối quan hệ rõ ràng như người dùng, lịch hẹn, chuyên gia và nhật ký hệ thống. Ngoài backend chính, hệ thống còn tích hợp một </a:t>
            </a:r>
            <a:r>
              <a:rPr lang="vi-VN" b="1" dirty="0"/>
              <a:t>microservice AI</a:t>
            </a:r>
            <a:r>
              <a:rPr lang="vi-VN" dirty="0"/>
              <a:t> được xây dựng bằng Python và Flask, đảm nhiệm việc xử lý phân tích cảm xúc. Backend Node.js gửi dữ liệu văn bản sang microservice AI, microservice này có thể sử dụng Google Translator để dịch ngôn ngữ và mô hình Hugging Face để phân tích, sau đó trả kết quả về cho backend tiếp tục xử lý.</a:t>
            </a:r>
          </a:p>
          <a:p>
            <a:r>
              <a:rPr lang="vi-VN" dirty="0"/>
              <a:t>Bên cạnh đó, hệ thống còn kết nối với các </a:t>
            </a:r>
            <a:r>
              <a:rPr lang="vi-VN" b="1" dirty="0"/>
              <a:t>dịch vụ bên ngoài</a:t>
            </a:r>
            <a:r>
              <a:rPr lang="vi-VN" dirty="0"/>
              <a:t> như Google OAuth 2.0 để đăng nhập, Google Dialogflow để hỗ trợ hội thoại và dịch vụ email để gửi thông báo. Kiến trúc này giúp hệ thống có tính bảo mật cao, dễ mở rộng, dễ bảo trì và phù hợp với các ứng dụng web hiện đại sử dụng Node.js, Express và MySQL.</a:t>
            </a:r>
          </a:p>
          <a:p>
            <a:endParaRPr lang="en-US" dirty="0"/>
          </a:p>
        </p:txBody>
      </p:sp>
      <p:sp>
        <p:nvSpPr>
          <p:cNvPr id="4" name="Slide Number Placeholder 3"/>
          <p:cNvSpPr>
            <a:spLocks noGrp="1"/>
          </p:cNvSpPr>
          <p:nvPr>
            <p:ph type="sldNum" sz="quarter" idx="5"/>
          </p:nvPr>
        </p:nvSpPr>
        <p:spPr/>
        <p:txBody>
          <a:bodyPr/>
          <a:lstStyle/>
          <a:p>
            <a:fld id="{D9DFD75D-3CE3-4529-BFF7-92008234F864}" type="slidenum">
              <a:rPr lang="en-US" smtClean="0"/>
              <a:t>12</a:t>
            </a:fld>
            <a:endParaRPr lang="en-US"/>
          </a:p>
        </p:txBody>
      </p:sp>
    </p:spTree>
    <p:extLst>
      <p:ext uri="{BB962C8B-B14F-4D97-AF65-F5344CB8AC3E}">
        <p14:creationId xmlns:p14="http://schemas.microsoft.com/office/powerpoint/2010/main" val="39118077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9DFD75D-3CE3-4529-BFF7-92008234F864}" type="slidenum">
              <a:rPr lang="en-US" smtClean="0"/>
              <a:t>13</a:t>
            </a:fld>
            <a:endParaRPr lang="en-US"/>
          </a:p>
        </p:txBody>
      </p:sp>
    </p:spTree>
    <p:extLst>
      <p:ext uri="{BB962C8B-B14F-4D97-AF65-F5344CB8AC3E}">
        <p14:creationId xmlns:p14="http://schemas.microsoft.com/office/powerpoint/2010/main" val="28671458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9DFD75D-3CE3-4529-BFF7-92008234F864}" type="slidenum">
              <a:rPr lang="en-US" smtClean="0"/>
              <a:t>14</a:t>
            </a:fld>
            <a:endParaRPr lang="en-US"/>
          </a:p>
        </p:txBody>
      </p:sp>
    </p:spTree>
    <p:extLst>
      <p:ext uri="{BB962C8B-B14F-4D97-AF65-F5344CB8AC3E}">
        <p14:creationId xmlns:p14="http://schemas.microsoft.com/office/powerpoint/2010/main" val="2771393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9DFD75D-3CE3-4529-BFF7-92008234F864}" type="slidenum">
              <a:rPr lang="en-US" smtClean="0"/>
              <a:t>15</a:t>
            </a:fld>
            <a:endParaRPr lang="en-US"/>
          </a:p>
        </p:txBody>
      </p:sp>
    </p:spTree>
    <p:extLst>
      <p:ext uri="{BB962C8B-B14F-4D97-AF65-F5344CB8AC3E}">
        <p14:creationId xmlns:p14="http://schemas.microsoft.com/office/powerpoint/2010/main" val="35307667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9DFD75D-3CE3-4529-BFF7-92008234F864}" type="slidenum">
              <a:rPr lang="en-US" smtClean="0"/>
              <a:t>16</a:t>
            </a:fld>
            <a:endParaRPr lang="en-US"/>
          </a:p>
        </p:txBody>
      </p:sp>
    </p:spTree>
    <p:extLst>
      <p:ext uri="{BB962C8B-B14F-4D97-AF65-F5344CB8AC3E}">
        <p14:creationId xmlns:p14="http://schemas.microsoft.com/office/powerpoint/2010/main" val="32799844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9DFD75D-3CE3-4529-BFF7-92008234F864}" type="slidenum">
              <a:rPr lang="en-US" smtClean="0"/>
              <a:t>18</a:t>
            </a:fld>
            <a:endParaRPr lang="en-US"/>
          </a:p>
        </p:txBody>
      </p:sp>
    </p:spTree>
    <p:extLst>
      <p:ext uri="{BB962C8B-B14F-4D97-AF65-F5344CB8AC3E}">
        <p14:creationId xmlns:p14="http://schemas.microsoft.com/office/powerpoint/2010/main" val="15755162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9DFD75D-3CE3-4529-BFF7-92008234F864}" type="slidenum">
              <a:rPr lang="en-US" smtClean="0"/>
              <a:t>19</a:t>
            </a:fld>
            <a:endParaRPr lang="en-US"/>
          </a:p>
        </p:txBody>
      </p:sp>
    </p:spTree>
    <p:extLst>
      <p:ext uri="{BB962C8B-B14F-4D97-AF65-F5344CB8AC3E}">
        <p14:creationId xmlns:p14="http://schemas.microsoft.com/office/powerpoint/2010/main" val="26707002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7.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1.jpeg"/></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DF9"/>
        </a:solidFill>
        <a:effectLst/>
      </p:bgPr>
    </p:bg>
    <p:spTree>
      <p:nvGrpSpPr>
        <p:cNvPr id="1" name=""/>
        <p:cNvGrpSpPr/>
        <p:nvPr/>
      </p:nvGrpSpPr>
      <p:grpSpPr>
        <a:xfrm>
          <a:off x="0" y="0"/>
          <a:ext cx="0" cy="0"/>
          <a:chOff x="0" y="0"/>
          <a:chExt cx="0" cy="0"/>
        </a:xfrm>
      </p:grpSpPr>
      <p:grpSp>
        <p:nvGrpSpPr>
          <p:cNvPr id="2" name="Group 2"/>
          <p:cNvGrpSpPr/>
          <p:nvPr/>
        </p:nvGrpSpPr>
        <p:grpSpPr>
          <a:xfrm>
            <a:off x="0" y="7200900"/>
            <a:ext cx="18288000" cy="3086100"/>
            <a:chOff x="0" y="0"/>
            <a:chExt cx="4816593" cy="812800"/>
          </a:xfrm>
        </p:grpSpPr>
        <p:sp>
          <p:nvSpPr>
            <p:cNvPr id="3" name="Freeform 3"/>
            <p:cNvSpPr/>
            <p:nvPr/>
          </p:nvSpPr>
          <p:spPr>
            <a:xfrm>
              <a:off x="0" y="0"/>
              <a:ext cx="4816592" cy="812800"/>
            </a:xfrm>
            <a:custGeom>
              <a:avLst/>
              <a:gdLst/>
              <a:ahLst/>
              <a:cxnLst/>
              <a:rect l="l" t="t" r="r" b="b"/>
              <a:pathLst>
                <a:path w="4816592" h="812800">
                  <a:moveTo>
                    <a:pt x="0" y="0"/>
                  </a:moveTo>
                  <a:lnTo>
                    <a:pt x="4816592" y="0"/>
                  </a:lnTo>
                  <a:lnTo>
                    <a:pt x="4816592" y="812800"/>
                  </a:lnTo>
                  <a:lnTo>
                    <a:pt x="0" y="812800"/>
                  </a:lnTo>
                  <a:close/>
                </a:path>
              </a:pathLst>
            </a:custGeom>
            <a:solidFill>
              <a:srgbClr val="593EA1"/>
            </a:solidFill>
          </p:spPr>
        </p:sp>
        <p:sp>
          <p:nvSpPr>
            <p:cNvPr id="4" name="TextBox 4"/>
            <p:cNvSpPr txBox="1"/>
            <p:nvPr/>
          </p:nvSpPr>
          <p:spPr>
            <a:xfrm>
              <a:off x="0" y="-38100"/>
              <a:ext cx="4816593" cy="850900"/>
            </a:xfrm>
            <a:prstGeom prst="rect">
              <a:avLst/>
            </a:prstGeom>
          </p:spPr>
          <p:txBody>
            <a:bodyPr lIns="50800" tIns="50800" rIns="50800" bIns="50800" rtlCol="0" anchor="ctr"/>
            <a:lstStyle/>
            <a:p>
              <a:pPr algn="ctr">
                <a:lnSpc>
                  <a:spcPts val="2659"/>
                </a:lnSpc>
                <a:spcBef>
                  <a:spcPct val="0"/>
                </a:spcBef>
              </a:pPr>
              <a:endParaRPr/>
            </a:p>
          </p:txBody>
        </p:sp>
      </p:grpSp>
      <p:pic>
        <p:nvPicPr>
          <p:cNvPr id="12" name="Picture 11">
            <a:extLst>
              <a:ext uri="{FF2B5EF4-FFF2-40B4-BE49-F238E27FC236}">
                <a16:creationId xmlns:a16="http://schemas.microsoft.com/office/drawing/2014/main" id="{99BCC368-6DC1-45FA-BE4B-9BD7569F9C84}"/>
              </a:ext>
            </a:extLst>
          </p:cNvPr>
          <p:cNvPicPr>
            <a:picLocks noChangeAspect="1"/>
          </p:cNvPicPr>
          <p:nvPr/>
        </p:nvPicPr>
        <p:blipFill rotWithShape="1">
          <a:blip r:embed="rId3">
            <a:extLst>
              <a:ext uri="{28A0092B-C50C-407E-A947-70E740481C1C}">
                <a14:useLocalDpi xmlns:a14="http://schemas.microsoft.com/office/drawing/2010/main" val="0"/>
              </a:ext>
            </a:extLst>
          </a:blip>
          <a:srcRect l="40154" t="112" r="-1710" b="-141"/>
          <a:stretch/>
        </p:blipFill>
        <p:spPr>
          <a:xfrm flipH="1">
            <a:off x="9296400" y="17700"/>
            <a:ext cx="8991596" cy="10251600"/>
          </a:xfrm>
          <a:prstGeom prst="rect">
            <a:avLst/>
          </a:prstGeom>
        </p:spPr>
      </p:pic>
      <p:sp>
        <p:nvSpPr>
          <p:cNvPr id="5" name="TextBox 5"/>
          <p:cNvSpPr txBox="1"/>
          <p:nvPr/>
        </p:nvSpPr>
        <p:spPr>
          <a:xfrm>
            <a:off x="5076708" y="1413180"/>
            <a:ext cx="7829785" cy="1127809"/>
          </a:xfrm>
          <a:prstGeom prst="rect">
            <a:avLst/>
          </a:prstGeom>
        </p:spPr>
        <p:txBody>
          <a:bodyPr lIns="0" tIns="0" rIns="0" bIns="0" rtlCol="0" anchor="t">
            <a:spAutoFit/>
          </a:bodyPr>
          <a:lstStyle/>
          <a:p>
            <a:pPr algn="ctr">
              <a:lnSpc>
                <a:spcPts val="10877"/>
              </a:lnSpc>
            </a:pPr>
            <a:r>
              <a:rPr lang="vi-VN" sz="2400" b="1" dirty="0">
                <a:solidFill>
                  <a:srgbClr val="593EA1"/>
                </a:solidFill>
                <a:latin typeface="Canva Sans Bold" panose="020B0604020202020204" charset="0"/>
                <a:ea typeface="Calibri" panose="020F0502020204030204" pitchFamily="34" charset="0"/>
                <a:cs typeface="Calibri" panose="020F0502020204030204" pitchFamily="34" charset="0"/>
                <a:sym typeface="Bubblebody Neue Bold"/>
              </a:rPr>
              <a:t>BÁO CÁO ĐỒ ÁN CHUYÊN NGÀNH</a:t>
            </a:r>
            <a:endParaRPr lang="en-US" sz="2400" b="1" dirty="0">
              <a:solidFill>
                <a:srgbClr val="593EA1"/>
              </a:solidFill>
              <a:latin typeface="Canva Sans Bold" panose="020B0604020202020204" charset="0"/>
              <a:ea typeface="Calibri" panose="020F0502020204030204" pitchFamily="34" charset="0"/>
              <a:cs typeface="Calibri" panose="020F0502020204030204" pitchFamily="34" charset="0"/>
              <a:sym typeface="Bubblebody Neue Bold"/>
            </a:endParaRPr>
          </a:p>
        </p:txBody>
      </p:sp>
      <p:sp>
        <p:nvSpPr>
          <p:cNvPr id="6" name="TextBox 6"/>
          <p:cNvSpPr txBox="1"/>
          <p:nvPr/>
        </p:nvSpPr>
        <p:spPr>
          <a:xfrm>
            <a:off x="152400" y="3250941"/>
            <a:ext cx="15638810" cy="2492990"/>
          </a:xfrm>
          <a:prstGeom prst="rect">
            <a:avLst/>
          </a:prstGeom>
          <a:effectLst>
            <a:glow rad="63500">
              <a:schemeClr val="accent1">
                <a:satMod val="175000"/>
                <a:alpha val="40000"/>
              </a:schemeClr>
            </a:glow>
            <a:innerShdw blurRad="63500" dist="50800" dir="16200000">
              <a:prstClr val="black">
                <a:alpha val="50000"/>
              </a:prstClr>
            </a:innerShdw>
          </a:effectLst>
        </p:spPr>
        <p:txBody>
          <a:bodyPr wrap="square" lIns="0" tIns="0" rIns="0" bIns="0" rtlCol="0" anchor="t">
            <a:spAutoFit/>
          </a:bodyPr>
          <a:lstStyle/>
          <a:p>
            <a:r>
              <a:rPr lang="en-US" sz="5400" b="1" dirty="0">
                <a:solidFill>
                  <a:srgbClr val="2D8BBA"/>
                </a:solidFill>
                <a:effectLst>
                  <a:outerShdw blurRad="38100" dist="38100" dir="2700000" algn="tl">
                    <a:srgbClr val="000000">
                      <a:alpha val="43137"/>
                    </a:srgbClr>
                  </a:outerShdw>
                </a:effectLst>
                <a:latin typeface="Bahnschrift SemiBold" panose="020B0502040204020203" pitchFamily="34" charset="0"/>
                <a:ea typeface="Bubblebody Neue Bold"/>
                <a:cs typeface="Bubblebody Neue Bold"/>
                <a:sym typeface="Bubblebody Neue Bold"/>
              </a:rPr>
              <a:t>PHÁT TRIỂN ỨNG</a:t>
            </a:r>
            <a:r>
              <a:rPr lang="vi-VN" sz="5400" b="1" dirty="0">
                <a:solidFill>
                  <a:srgbClr val="2D8BBA"/>
                </a:solidFill>
                <a:effectLst>
                  <a:outerShdw blurRad="38100" dist="38100" dir="2700000" algn="tl">
                    <a:srgbClr val="000000">
                      <a:alpha val="43137"/>
                    </a:srgbClr>
                  </a:outerShdw>
                </a:effectLst>
                <a:latin typeface="Bahnschrift SemiBold" panose="020B0502040204020203" pitchFamily="34" charset="0"/>
                <a:ea typeface="Bubblebody Neue Bold"/>
                <a:cs typeface="Bubblebody Neue Bold"/>
                <a:sym typeface="Bubblebody Neue Bold"/>
              </a:rPr>
              <a:t> DỤNG WEB </a:t>
            </a:r>
          </a:p>
          <a:p>
            <a:r>
              <a:rPr lang="vi-VN" sz="5400" b="1" dirty="0">
                <a:solidFill>
                  <a:srgbClr val="2D8BBA"/>
                </a:solidFill>
                <a:effectLst>
                  <a:outerShdw blurRad="38100" dist="38100" dir="2700000" algn="tl">
                    <a:srgbClr val="000000">
                      <a:alpha val="43137"/>
                    </a:srgbClr>
                  </a:outerShdw>
                </a:effectLst>
                <a:latin typeface="Bahnschrift SemiBold" panose="020B0502040204020203" pitchFamily="34" charset="0"/>
                <a:ea typeface="Bubblebody Neue Bold"/>
                <a:cs typeface="Bubblebody Neue Bold"/>
                <a:sym typeface="Bubblebody Neue Bold"/>
              </a:rPr>
              <a:t>HỖ TRỢ CHĂM SÓC SỨC KHỎE TINH THẦN </a:t>
            </a:r>
          </a:p>
          <a:p>
            <a:r>
              <a:rPr lang="vi-VN" sz="5400" b="1" dirty="0">
                <a:solidFill>
                  <a:srgbClr val="2D8BBA"/>
                </a:solidFill>
                <a:effectLst>
                  <a:outerShdw blurRad="38100" dist="38100" dir="2700000" algn="tl">
                    <a:srgbClr val="000000">
                      <a:alpha val="43137"/>
                    </a:srgbClr>
                  </a:outerShdw>
                </a:effectLst>
                <a:latin typeface="Bahnschrift SemiBold" panose="020B0502040204020203" pitchFamily="34" charset="0"/>
                <a:ea typeface="Bubblebody Neue Bold"/>
                <a:cs typeface="Bubblebody Neue Bold"/>
                <a:sym typeface="Bubblebody Neue Bold"/>
              </a:rPr>
              <a:t>DỰA TRÊN PHÂN TÍCH CẢM XÚC HỘI THOẠI</a:t>
            </a:r>
            <a:endParaRPr lang="en-US" sz="5400" b="1" dirty="0">
              <a:solidFill>
                <a:srgbClr val="2D8BBA"/>
              </a:solidFill>
              <a:effectLst>
                <a:outerShdw blurRad="38100" dist="38100" dir="2700000" algn="tl">
                  <a:srgbClr val="000000">
                    <a:alpha val="43137"/>
                  </a:srgbClr>
                </a:outerShdw>
              </a:effectLst>
              <a:latin typeface="Bahnschrift SemiBold" panose="020B0502040204020203" pitchFamily="34" charset="0"/>
              <a:ea typeface="Bubblebody Neue Bold"/>
              <a:cs typeface="Bubblebody Neue Bold"/>
              <a:sym typeface="Bubblebody Neue Bold"/>
            </a:endParaRPr>
          </a:p>
        </p:txBody>
      </p:sp>
      <p:sp>
        <p:nvSpPr>
          <p:cNvPr id="13" name="TextBox 8">
            <a:extLst>
              <a:ext uri="{FF2B5EF4-FFF2-40B4-BE49-F238E27FC236}">
                <a16:creationId xmlns:a16="http://schemas.microsoft.com/office/drawing/2014/main" id="{26C4AC22-B347-43E1-A661-9412634C7943}"/>
              </a:ext>
            </a:extLst>
          </p:cNvPr>
          <p:cNvSpPr txBox="1"/>
          <p:nvPr/>
        </p:nvSpPr>
        <p:spPr>
          <a:xfrm>
            <a:off x="914400" y="7621848"/>
            <a:ext cx="6084203" cy="2244204"/>
          </a:xfrm>
          <a:prstGeom prst="rect">
            <a:avLst/>
          </a:prstGeom>
        </p:spPr>
        <p:txBody>
          <a:bodyPr lIns="0" tIns="0" rIns="0" bIns="0" rtlCol="0" anchor="t">
            <a:spAutoFit/>
          </a:bodyPr>
          <a:lstStyle/>
          <a:p>
            <a:pPr>
              <a:lnSpc>
                <a:spcPts val="3499"/>
              </a:lnSpc>
            </a:pPr>
            <a:r>
              <a:rPr lang="vi-VN" sz="3200" b="1" dirty="0">
                <a:solidFill>
                  <a:srgbClr val="A2DFD9"/>
                </a:solidFill>
                <a:ea typeface="Muli Semi-Bold"/>
                <a:cs typeface="Muli Semi-Bold"/>
                <a:sym typeface="Muli Semi-Bold"/>
              </a:rPr>
              <a:t>GV hướng dẫn</a:t>
            </a:r>
            <a:r>
              <a:rPr lang="vi-VN" sz="3200" dirty="0">
                <a:solidFill>
                  <a:srgbClr val="A2DFD9"/>
                </a:solidFill>
                <a:ea typeface="Muli Semi-Bold"/>
                <a:cs typeface="Muli Semi-Bold"/>
                <a:sym typeface="Muli Semi-Bold"/>
              </a:rPr>
              <a:t>: </a:t>
            </a:r>
          </a:p>
          <a:p>
            <a:pPr>
              <a:lnSpc>
                <a:spcPts val="3499"/>
              </a:lnSpc>
            </a:pPr>
            <a:r>
              <a:rPr lang="vi-VN" sz="3200" dirty="0">
                <a:solidFill>
                  <a:srgbClr val="A2DFD9"/>
                </a:solidFill>
                <a:ea typeface="Muli Semi-Bold"/>
                <a:cs typeface="Muli Semi-Bold"/>
                <a:sym typeface="Muli Semi-Bold"/>
              </a:rPr>
              <a:t>Thạch Kọng Saoane</a:t>
            </a:r>
          </a:p>
          <a:p>
            <a:pPr>
              <a:lnSpc>
                <a:spcPts val="3499"/>
              </a:lnSpc>
            </a:pPr>
            <a:endParaRPr lang="vi-VN" sz="3200" b="1" dirty="0">
              <a:solidFill>
                <a:srgbClr val="A2DFD9"/>
              </a:solidFill>
              <a:ea typeface="Muli Semi-Bold"/>
              <a:cs typeface="Muli Semi-Bold"/>
              <a:sym typeface="Muli Semi-Bold"/>
            </a:endParaRPr>
          </a:p>
          <a:p>
            <a:pPr>
              <a:lnSpc>
                <a:spcPts val="3499"/>
              </a:lnSpc>
            </a:pPr>
            <a:r>
              <a:rPr lang="vi-VN" sz="3200" b="1" dirty="0">
                <a:solidFill>
                  <a:srgbClr val="A2DFD9"/>
                </a:solidFill>
                <a:ea typeface="Muli Semi-Bold"/>
                <a:cs typeface="Muli Semi-Bold"/>
                <a:sym typeface="Muli Semi-Bold"/>
              </a:rPr>
              <a:t>Sinh viên thực hiện: </a:t>
            </a:r>
          </a:p>
          <a:p>
            <a:pPr>
              <a:lnSpc>
                <a:spcPts val="3499"/>
              </a:lnSpc>
            </a:pPr>
            <a:r>
              <a:rPr lang="vi-VN" sz="3200" dirty="0">
                <a:solidFill>
                  <a:srgbClr val="A2DFD9"/>
                </a:solidFill>
                <a:ea typeface="Muli Semi-Bold"/>
                <a:cs typeface="Muli Semi-Bold"/>
                <a:sym typeface="Muli Semi-Bold"/>
              </a:rPr>
              <a:t>Nguyễn Huỳnh Yến Như</a:t>
            </a:r>
            <a:endParaRPr lang="en-US" sz="3200" dirty="0">
              <a:solidFill>
                <a:srgbClr val="A2DFD9"/>
              </a:solidFill>
              <a:ea typeface="Muli Semi-Bold"/>
              <a:cs typeface="Muli Semi-Bold"/>
              <a:sym typeface="Muli Semi-Bold"/>
            </a:endParaRPr>
          </a:p>
        </p:txBody>
      </p:sp>
    </p:spTree>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DF9"/>
        </a:solidFill>
        <a:effectLst/>
      </p:bgPr>
    </p:bg>
    <p:spTree>
      <p:nvGrpSpPr>
        <p:cNvPr id="1" name=""/>
        <p:cNvGrpSpPr/>
        <p:nvPr/>
      </p:nvGrpSpPr>
      <p:grpSpPr>
        <a:xfrm>
          <a:off x="0" y="0"/>
          <a:ext cx="0" cy="0"/>
          <a:chOff x="0" y="0"/>
          <a:chExt cx="0" cy="0"/>
        </a:xfrm>
      </p:grpSpPr>
      <p:sp>
        <p:nvSpPr>
          <p:cNvPr id="4" name="Freeform 4"/>
          <p:cNvSpPr/>
          <p:nvPr/>
        </p:nvSpPr>
        <p:spPr>
          <a:xfrm>
            <a:off x="7374404" y="9258300"/>
            <a:ext cx="3539193" cy="199127"/>
          </a:xfrm>
          <a:custGeom>
            <a:avLst/>
            <a:gdLst/>
            <a:ahLst/>
            <a:cxnLst/>
            <a:rect l="l" t="t" r="r" b="b"/>
            <a:pathLst>
              <a:path w="3539193" h="199127">
                <a:moveTo>
                  <a:pt x="0" y="0"/>
                </a:moveTo>
                <a:lnTo>
                  <a:pt x="3539192" y="0"/>
                </a:lnTo>
                <a:lnTo>
                  <a:pt x="3539192" y="199127"/>
                </a:lnTo>
                <a:lnTo>
                  <a:pt x="0" y="1991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7374404" y="1028700"/>
            <a:ext cx="3539193" cy="199127"/>
          </a:xfrm>
          <a:custGeom>
            <a:avLst/>
            <a:gdLst/>
            <a:ahLst/>
            <a:cxnLst/>
            <a:rect l="l" t="t" r="r" b="b"/>
            <a:pathLst>
              <a:path w="3539193" h="199127">
                <a:moveTo>
                  <a:pt x="0" y="0"/>
                </a:moveTo>
                <a:lnTo>
                  <a:pt x="3539192" y="0"/>
                </a:lnTo>
                <a:lnTo>
                  <a:pt x="3539192" y="199127"/>
                </a:lnTo>
                <a:lnTo>
                  <a:pt x="0" y="1991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1300606" y="327725"/>
            <a:ext cx="5472439" cy="3066788"/>
          </a:xfrm>
          <a:custGeom>
            <a:avLst/>
            <a:gdLst/>
            <a:ahLst/>
            <a:cxnLst/>
            <a:rect l="l" t="t" r="r" b="b"/>
            <a:pathLst>
              <a:path w="5472439" h="3066788">
                <a:moveTo>
                  <a:pt x="0" y="0"/>
                </a:moveTo>
                <a:lnTo>
                  <a:pt x="5472439" y="0"/>
                </a:lnTo>
                <a:lnTo>
                  <a:pt x="5472439" y="3066787"/>
                </a:lnTo>
                <a:lnTo>
                  <a:pt x="0" y="306678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TextBox 9"/>
          <p:cNvSpPr txBox="1"/>
          <p:nvPr/>
        </p:nvSpPr>
        <p:spPr>
          <a:xfrm>
            <a:off x="5196713" y="5992316"/>
            <a:ext cx="7894574" cy="563759"/>
          </a:xfrm>
          <a:prstGeom prst="rect">
            <a:avLst/>
          </a:prstGeom>
        </p:spPr>
        <p:txBody>
          <a:bodyPr lIns="0" tIns="0" rIns="0" bIns="0" rtlCol="0" anchor="t">
            <a:spAutoFit/>
          </a:bodyPr>
          <a:lstStyle/>
          <a:p>
            <a:pPr algn="ctr">
              <a:lnSpc>
                <a:spcPts val="4626"/>
              </a:lnSpc>
            </a:pPr>
            <a:r>
              <a:rPr lang="en-US" sz="3304" b="1" dirty="0">
                <a:solidFill>
                  <a:srgbClr val="FFFDF9"/>
                </a:solidFill>
                <a:latin typeface="Canva Sans Bold"/>
                <a:ea typeface="Canva Sans Bold"/>
                <a:cs typeface="Canva Sans Bold"/>
                <a:sym typeface="Canva Sans Bold"/>
              </a:rPr>
              <a:t>Presented by Samira Hadid</a:t>
            </a:r>
          </a:p>
        </p:txBody>
      </p:sp>
      <p:sp>
        <p:nvSpPr>
          <p:cNvPr id="10" name="Freeform 10"/>
          <p:cNvSpPr/>
          <p:nvPr/>
        </p:nvSpPr>
        <p:spPr>
          <a:xfrm>
            <a:off x="14523081" y="6556075"/>
            <a:ext cx="5472439" cy="3066788"/>
          </a:xfrm>
          <a:custGeom>
            <a:avLst/>
            <a:gdLst/>
            <a:ahLst/>
            <a:cxnLst/>
            <a:rect l="l" t="t" r="r" b="b"/>
            <a:pathLst>
              <a:path w="5472439" h="3066788">
                <a:moveTo>
                  <a:pt x="0" y="0"/>
                </a:moveTo>
                <a:lnTo>
                  <a:pt x="5472438" y="0"/>
                </a:lnTo>
                <a:lnTo>
                  <a:pt x="5472438" y="3066788"/>
                </a:lnTo>
                <a:lnTo>
                  <a:pt x="0" y="306678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TextBox 5">
            <a:extLst>
              <a:ext uri="{FF2B5EF4-FFF2-40B4-BE49-F238E27FC236}">
                <a16:creationId xmlns:a16="http://schemas.microsoft.com/office/drawing/2014/main" id="{58EC4899-98F4-4A35-9962-DED866E498AE}"/>
              </a:ext>
            </a:extLst>
          </p:cNvPr>
          <p:cNvSpPr txBox="1"/>
          <p:nvPr/>
        </p:nvSpPr>
        <p:spPr>
          <a:xfrm>
            <a:off x="5227193" y="1293874"/>
            <a:ext cx="7829785" cy="1230273"/>
          </a:xfrm>
          <a:prstGeom prst="rect">
            <a:avLst/>
          </a:prstGeom>
        </p:spPr>
        <p:txBody>
          <a:bodyPr lIns="0" tIns="0" rIns="0" bIns="0" rtlCol="0" anchor="t">
            <a:spAutoFit/>
          </a:bodyPr>
          <a:lstStyle/>
          <a:p>
            <a:pPr algn="ctr">
              <a:lnSpc>
                <a:spcPts val="10877"/>
              </a:lnSpc>
            </a:pPr>
            <a:r>
              <a:rPr lang="vi-VN" sz="5400" b="1" dirty="0">
                <a:solidFill>
                  <a:srgbClr val="593EA1"/>
                </a:solidFill>
                <a:latin typeface="Canva Sans Bold" panose="020B0604020202020204" charset="0"/>
                <a:ea typeface="Calibri" panose="020F0502020204030204" pitchFamily="34" charset="0"/>
                <a:cs typeface="Calibri" panose="020F0502020204030204" pitchFamily="34" charset="0"/>
                <a:sym typeface="Bubblebody Neue Bold"/>
              </a:rPr>
              <a:t>NỘI DUNG TRÌNH BÀY</a:t>
            </a:r>
            <a:endParaRPr lang="en-US" sz="5400" b="1" dirty="0">
              <a:solidFill>
                <a:srgbClr val="593EA1"/>
              </a:solidFill>
              <a:latin typeface="Canva Sans Bold" panose="020B0604020202020204" charset="0"/>
              <a:ea typeface="Calibri" panose="020F0502020204030204" pitchFamily="34" charset="0"/>
              <a:cs typeface="Calibri" panose="020F0502020204030204" pitchFamily="34" charset="0"/>
              <a:sym typeface="Bubblebody Neue Bold"/>
            </a:endParaRPr>
          </a:p>
        </p:txBody>
      </p:sp>
      <p:sp>
        <p:nvSpPr>
          <p:cNvPr id="13" name="TextBox 5">
            <a:extLst>
              <a:ext uri="{FF2B5EF4-FFF2-40B4-BE49-F238E27FC236}">
                <a16:creationId xmlns:a16="http://schemas.microsoft.com/office/drawing/2014/main" id="{63587026-1939-47CF-892D-C0F36FA11977}"/>
              </a:ext>
            </a:extLst>
          </p:cNvPr>
          <p:cNvSpPr txBox="1"/>
          <p:nvPr/>
        </p:nvSpPr>
        <p:spPr>
          <a:xfrm>
            <a:off x="6708536" y="2781300"/>
            <a:ext cx="7829785" cy="5414816"/>
          </a:xfrm>
          <a:prstGeom prst="rect">
            <a:avLst/>
          </a:prstGeom>
        </p:spPr>
        <p:txBody>
          <a:bodyPr lIns="0" tIns="0" rIns="0" bIns="0" rtlCol="0" anchor="t">
            <a:spAutoFit/>
          </a:bodyPr>
          <a:lstStyle/>
          <a:p>
            <a:pPr marL="457200" indent="-457200">
              <a:lnSpc>
                <a:spcPct val="150000"/>
              </a:lnSpc>
              <a:buAutoNum type="arabicPeriod"/>
            </a:pPr>
            <a:r>
              <a:rPr lang="vi-VN" sz="4000" b="1" dirty="0">
                <a:solidFill>
                  <a:srgbClr val="593EA1"/>
                </a:solidFill>
                <a:latin typeface="Bahnschrift SemiBold" panose="020B0502040204020203" pitchFamily="34" charset="0"/>
                <a:ea typeface="Calibri" panose="020F0502020204030204" pitchFamily="34" charset="0"/>
                <a:cs typeface="Calibri" panose="020F0502020204030204" pitchFamily="34" charset="0"/>
                <a:sym typeface="Bubblebody Neue Bold"/>
              </a:rPr>
              <a:t>Lý do chọn đề tài</a:t>
            </a:r>
          </a:p>
          <a:p>
            <a:pPr marL="457200" indent="-457200">
              <a:lnSpc>
                <a:spcPct val="150000"/>
              </a:lnSpc>
              <a:buAutoNum type="arabicPeriod"/>
            </a:pPr>
            <a:r>
              <a:rPr lang="vi-VN" sz="4000" b="1" dirty="0">
                <a:solidFill>
                  <a:srgbClr val="593EA1"/>
                </a:solidFill>
                <a:latin typeface="Bahnschrift SemiBold" panose="020B0502040204020203" pitchFamily="34" charset="0"/>
                <a:ea typeface="Calibri" panose="020F0502020204030204" pitchFamily="34" charset="0"/>
                <a:cs typeface="Calibri" panose="020F0502020204030204" pitchFamily="34" charset="0"/>
                <a:sym typeface="Bubblebody Neue Bold"/>
              </a:rPr>
              <a:t>Mục tiêu đề tài</a:t>
            </a:r>
          </a:p>
          <a:p>
            <a:pPr marL="457200" indent="-457200">
              <a:lnSpc>
                <a:spcPct val="150000"/>
              </a:lnSpc>
              <a:buAutoNum type="arabicPeriod"/>
            </a:pPr>
            <a:r>
              <a:rPr lang="vi-VN" sz="4000" b="1" dirty="0">
                <a:solidFill>
                  <a:srgbClr val="593EA1"/>
                </a:solidFill>
                <a:latin typeface="Bahnschrift SemiBold" panose="020B0502040204020203" pitchFamily="34" charset="0"/>
                <a:ea typeface="Calibri" panose="020F0502020204030204" pitchFamily="34" charset="0"/>
                <a:cs typeface="Calibri" panose="020F0502020204030204" pitchFamily="34" charset="0"/>
                <a:sym typeface="Bubblebody Neue Bold"/>
              </a:rPr>
              <a:t>Công nghệ sử dụng</a:t>
            </a:r>
          </a:p>
          <a:p>
            <a:pPr marL="457200" indent="-457200">
              <a:lnSpc>
                <a:spcPct val="150000"/>
              </a:lnSpc>
              <a:buAutoNum type="arabicPeriod"/>
            </a:pPr>
            <a:r>
              <a:rPr lang="vi-VN" sz="4000" b="1" dirty="0">
                <a:solidFill>
                  <a:srgbClr val="593EA1"/>
                </a:solidFill>
                <a:latin typeface="Bahnschrift SemiBold" panose="020B0502040204020203" pitchFamily="34" charset="0"/>
                <a:ea typeface="Calibri" panose="020F0502020204030204" pitchFamily="34" charset="0"/>
                <a:cs typeface="Calibri" panose="020F0502020204030204" pitchFamily="34" charset="0"/>
                <a:sym typeface="Bubblebody Neue Bold"/>
              </a:rPr>
              <a:t>Thực hiện hóa nghiên cứu</a:t>
            </a:r>
          </a:p>
          <a:p>
            <a:pPr marL="457200" indent="-457200">
              <a:lnSpc>
                <a:spcPct val="150000"/>
              </a:lnSpc>
              <a:buAutoNum type="arabicPeriod"/>
            </a:pPr>
            <a:r>
              <a:rPr lang="vi-VN" sz="4000" b="1" dirty="0">
                <a:solidFill>
                  <a:srgbClr val="593EA1"/>
                </a:solidFill>
                <a:latin typeface="Bahnschrift SemiBold" panose="020B0502040204020203" pitchFamily="34" charset="0"/>
                <a:ea typeface="Calibri" panose="020F0502020204030204" pitchFamily="34" charset="0"/>
                <a:cs typeface="Calibri" panose="020F0502020204030204" pitchFamily="34" charset="0"/>
                <a:sym typeface="Bubblebody Neue Bold"/>
              </a:rPr>
              <a:t>Kết quả đạt được</a:t>
            </a:r>
          </a:p>
          <a:p>
            <a:pPr marL="457200" indent="-457200">
              <a:lnSpc>
                <a:spcPct val="150000"/>
              </a:lnSpc>
              <a:buAutoNum type="arabicPeriod"/>
            </a:pPr>
            <a:endParaRPr lang="en-US" sz="4000" b="1" dirty="0">
              <a:solidFill>
                <a:srgbClr val="593EA1"/>
              </a:solidFill>
              <a:latin typeface="Bahnschrift SemiBold" panose="020B0502040204020203" pitchFamily="34" charset="0"/>
              <a:ea typeface="Calibri" panose="020F0502020204030204" pitchFamily="34" charset="0"/>
              <a:cs typeface="Calibri" panose="020F0502020204030204" pitchFamily="34" charset="0"/>
              <a:sym typeface="Bubblebody Neue 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DF9"/>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2095500"/>
            <a:chOff x="0" y="0"/>
            <a:chExt cx="4816593" cy="812800"/>
          </a:xfrm>
        </p:grpSpPr>
        <p:sp>
          <p:nvSpPr>
            <p:cNvPr id="3" name="Freeform 3"/>
            <p:cNvSpPr/>
            <p:nvPr/>
          </p:nvSpPr>
          <p:spPr>
            <a:xfrm>
              <a:off x="0" y="0"/>
              <a:ext cx="4816592" cy="812800"/>
            </a:xfrm>
            <a:custGeom>
              <a:avLst/>
              <a:gdLst/>
              <a:ahLst/>
              <a:cxnLst/>
              <a:rect l="l" t="t" r="r" b="b"/>
              <a:pathLst>
                <a:path w="4816592" h="812800">
                  <a:moveTo>
                    <a:pt x="0" y="0"/>
                  </a:moveTo>
                  <a:lnTo>
                    <a:pt x="4816592" y="0"/>
                  </a:lnTo>
                  <a:lnTo>
                    <a:pt x="4816592" y="812800"/>
                  </a:lnTo>
                  <a:lnTo>
                    <a:pt x="0" y="812800"/>
                  </a:lnTo>
                  <a:close/>
                </a:path>
              </a:pathLst>
            </a:custGeom>
            <a:solidFill>
              <a:srgbClr val="593EA1"/>
            </a:solidFill>
          </p:spPr>
          <p:txBody>
            <a:bodyPr/>
            <a:lstStyle/>
            <a:p>
              <a:endParaRPr lang="en-US" dirty="0"/>
            </a:p>
          </p:txBody>
        </p:sp>
        <p:sp>
          <p:nvSpPr>
            <p:cNvPr id="4" name="TextBox 4"/>
            <p:cNvSpPr txBox="1"/>
            <p:nvPr/>
          </p:nvSpPr>
          <p:spPr>
            <a:xfrm>
              <a:off x="0" y="-38100"/>
              <a:ext cx="4816593" cy="850900"/>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6">
            <a:extLst>
              <a:ext uri="{FF2B5EF4-FFF2-40B4-BE49-F238E27FC236}">
                <a16:creationId xmlns:a16="http://schemas.microsoft.com/office/drawing/2014/main" id="{1E41CD49-8389-476F-B243-C41A2C90314E}"/>
              </a:ext>
            </a:extLst>
          </p:cNvPr>
          <p:cNvSpPr txBox="1"/>
          <p:nvPr/>
        </p:nvSpPr>
        <p:spPr>
          <a:xfrm>
            <a:off x="6172198" y="632252"/>
            <a:ext cx="5943600" cy="830997"/>
          </a:xfrm>
          <a:prstGeom prst="rect">
            <a:avLst/>
          </a:prstGeom>
          <a:effectLst>
            <a:glow rad="63500">
              <a:schemeClr val="accent1">
                <a:satMod val="175000"/>
                <a:alpha val="40000"/>
              </a:schemeClr>
            </a:glow>
            <a:innerShdw blurRad="63500" dist="50800" dir="16200000">
              <a:prstClr val="black">
                <a:alpha val="50000"/>
              </a:prstClr>
            </a:innerShdw>
          </a:effectLst>
        </p:spPr>
        <p:txBody>
          <a:bodyPr wrap="square" lIns="0" tIns="0" rIns="0" bIns="0" rtlCol="0" anchor="t">
            <a:spAutoFit/>
          </a:bodyPr>
          <a:lstStyle/>
          <a:p>
            <a:r>
              <a:rPr lang="vi-VN" sz="5400" b="1" dirty="0">
                <a:solidFill>
                  <a:srgbClr val="A2DFD9"/>
                </a:solidFill>
                <a:latin typeface="Bahnschrift SemiBold" panose="020B0502040204020203" pitchFamily="34" charset="0"/>
                <a:ea typeface="Bubblebody Neue Bold"/>
                <a:cs typeface="Bubblebody Neue Bold"/>
                <a:sym typeface="Bubblebody Neue Bold"/>
              </a:rPr>
              <a:t>Lý do chọn đề tài</a:t>
            </a:r>
            <a:endParaRPr lang="en-US" sz="5400" b="1" dirty="0">
              <a:solidFill>
                <a:srgbClr val="A2DFD9"/>
              </a:solidFill>
              <a:latin typeface="Bahnschrift SemiBold" panose="020B0502040204020203" pitchFamily="34" charset="0"/>
              <a:ea typeface="Bubblebody Neue Bold"/>
              <a:cs typeface="Bubblebody Neue Bold"/>
              <a:sym typeface="Bubblebody Neue Bold"/>
            </a:endParaRPr>
          </a:p>
        </p:txBody>
      </p:sp>
      <p:sp>
        <p:nvSpPr>
          <p:cNvPr id="7" name="Rectangle 6">
            <a:extLst>
              <a:ext uri="{FF2B5EF4-FFF2-40B4-BE49-F238E27FC236}">
                <a16:creationId xmlns:a16="http://schemas.microsoft.com/office/drawing/2014/main" id="{34206674-30DA-47D0-99ED-607E9B0DA928}"/>
              </a:ext>
            </a:extLst>
          </p:cNvPr>
          <p:cNvSpPr/>
          <p:nvPr/>
        </p:nvSpPr>
        <p:spPr>
          <a:xfrm>
            <a:off x="8915400" y="3375094"/>
            <a:ext cx="8077200" cy="5016758"/>
          </a:xfrm>
          <a:prstGeom prst="rect">
            <a:avLst/>
          </a:prstGeom>
        </p:spPr>
        <p:txBody>
          <a:bodyPr wrap="square">
            <a:spAutoFit/>
          </a:bodyPr>
          <a:lstStyle/>
          <a:p>
            <a:pPr lvl="0" algn="just" eaLnBrk="0" fontAlgn="base" hangingPunct="0">
              <a:spcBef>
                <a:spcPct val="0"/>
              </a:spcBef>
              <a:spcAft>
                <a:spcPct val="0"/>
              </a:spcAft>
            </a:pPr>
            <a:r>
              <a:rPr lang="vi-VN" altLang="en-US" sz="4000" dirty="0">
                <a:latin typeface="Calibri" panose="020F0502020204030204" pitchFamily="34" charset="0"/>
                <a:ea typeface="Calibri" panose="020F0502020204030204" pitchFamily="34" charset="0"/>
                <a:cs typeface="Calibri" panose="020F0502020204030204" pitchFamily="34" charset="0"/>
              </a:rPr>
              <a:t>	</a:t>
            </a:r>
            <a:r>
              <a:rPr lang="en-US" altLang="en-US" sz="4000" dirty="0" err="1">
                <a:latin typeface="Calibri" panose="020F0502020204030204" pitchFamily="34" charset="0"/>
                <a:ea typeface="Calibri" panose="020F0502020204030204" pitchFamily="34" charset="0"/>
                <a:cs typeface="Calibri" panose="020F0502020204030204" pitchFamily="34" charset="0"/>
              </a:rPr>
              <a:t>Thực</a:t>
            </a:r>
            <a:r>
              <a:rPr lang="en-US" altLang="en-US" sz="4000" dirty="0">
                <a:latin typeface="Calibri" panose="020F0502020204030204" pitchFamily="34" charset="0"/>
                <a:ea typeface="Calibri" panose="020F0502020204030204" pitchFamily="34" charset="0"/>
                <a:cs typeface="Calibri" panose="020F0502020204030204" pitchFamily="34" charset="0"/>
              </a:rPr>
              <a:t> </a:t>
            </a:r>
            <a:r>
              <a:rPr lang="en-US" altLang="en-US" sz="4000" dirty="0" err="1">
                <a:latin typeface="Calibri" panose="020F0502020204030204" pitchFamily="34" charset="0"/>
                <a:ea typeface="Calibri" panose="020F0502020204030204" pitchFamily="34" charset="0"/>
                <a:cs typeface="Calibri" panose="020F0502020204030204" pitchFamily="34" charset="0"/>
              </a:rPr>
              <a:t>trạng</a:t>
            </a:r>
            <a:r>
              <a:rPr lang="en-US" altLang="en-US" sz="4000" dirty="0">
                <a:latin typeface="Calibri" panose="020F0502020204030204" pitchFamily="34" charset="0"/>
                <a:ea typeface="Calibri" panose="020F0502020204030204" pitchFamily="34" charset="0"/>
                <a:cs typeface="Calibri" panose="020F0502020204030204" pitchFamily="34" charset="0"/>
              </a:rPr>
              <a:t>: </a:t>
            </a:r>
            <a:r>
              <a:rPr lang="en-US" altLang="en-US" sz="4000" dirty="0" err="1">
                <a:latin typeface="Calibri" panose="020F0502020204030204" pitchFamily="34" charset="0"/>
                <a:ea typeface="Calibri" panose="020F0502020204030204" pitchFamily="34" charset="0"/>
                <a:cs typeface="Calibri" panose="020F0502020204030204" pitchFamily="34" charset="0"/>
              </a:rPr>
              <a:t>Người</a:t>
            </a:r>
            <a:r>
              <a:rPr lang="en-US" altLang="en-US" sz="4000" dirty="0">
                <a:latin typeface="Calibri" panose="020F0502020204030204" pitchFamily="34" charset="0"/>
                <a:ea typeface="Calibri" panose="020F0502020204030204" pitchFamily="34" charset="0"/>
                <a:cs typeface="Calibri" panose="020F0502020204030204" pitchFamily="34" charset="0"/>
              </a:rPr>
              <a:t> </a:t>
            </a:r>
            <a:r>
              <a:rPr lang="en-US" altLang="en-US" sz="4000" dirty="0" err="1">
                <a:latin typeface="Calibri" panose="020F0502020204030204" pitchFamily="34" charset="0"/>
                <a:ea typeface="Calibri" panose="020F0502020204030204" pitchFamily="34" charset="0"/>
                <a:cs typeface="Calibri" panose="020F0502020204030204" pitchFamily="34" charset="0"/>
              </a:rPr>
              <a:t>trẻ</a:t>
            </a:r>
            <a:r>
              <a:rPr lang="en-US" altLang="en-US" sz="4000" dirty="0">
                <a:latin typeface="Calibri" panose="020F0502020204030204" pitchFamily="34" charset="0"/>
                <a:ea typeface="Calibri" panose="020F0502020204030204" pitchFamily="34" charset="0"/>
                <a:cs typeface="Calibri" panose="020F0502020204030204" pitchFamily="34" charset="0"/>
              </a:rPr>
              <a:t> </a:t>
            </a:r>
            <a:r>
              <a:rPr lang="en-US" altLang="en-US" sz="4000" dirty="0" err="1">
                <a:latin typeface="Calibri" panose="020F0502020204030204" pitchFamily="34" charset="0"/>
                <a:ea typeface="Calibri" panose="020F0502020204030204" pitchFamily="34" charset="0"/>
                <a:cs typeface="Calibri" panose="020F0502020204030204" pitchFamily="34" charset="0"/>
              </a:rPr>
              <a:t>gặp</a:t>
            </a:r>
            <a:r>
              <a:rPr lang="en-US" altLang="en-US" sz="4000" dirty="0">
                <a:latin typeface="Calibri" panose="020F0502020204030204" pitchFamily="34" charset="0"/>
                <a:ea typeface="Calibri" panose="020F0502020204030204" pitchFamily="34" charset="0"/>
                <a:cs typeface="Calibri" panose="020F0502020204030204" pitchFamily="34" charset="0"/>
              </a:rPr>
              <a:t> </a:t>
            </a:r>
            <a:r>
              <a:rPr lang="en-US" altLang="en-US" sz="4000" dirty="0" err="1">
                <a:latin typeface="Calibri" panose="020F0502020204030204" pitchFamily="34" charset="0"/>
                <a:ea typeface="Calibri" panose="020F0502020204030204" pitchFamily="34" charset="0"/>
                <a:cs typeface="Calibri" panose="020F0502020204030204" pitchFamily="34" charset="0"/>
              </a:rPr>
              <a:t>nhiều</a:t>
            </a:r>
            <a:r>
              <a:rPr lang="en-US" altLang="en-US" sz="4000" dirty="0">
                <a:latin typeface="Calibri" panose="020F0502020204030204" pitchFamily="34" charset="0"/>
                <a:ea typeface="Calibri" panose="020F0502020204030204" pitchFamily="34" charset="0"/>
                <a:cs typeface="Calibri" panose="020F0502020204030204" pitchFamily="34" charset="0"/>
              </a:rPr>
              <a:t> </a:t>
            </a:r>
            <a:r>
              <a:rPr lang="en-US" altLang="en-US" sz="4000" dirty="0" err="1">
                <a:latin typeface="Calibri" panose="020F0502020204030204" pitchFamily="34" charset="0"/>
                <a:ea typeface="Calibri" panose="020F0502020204030204" pitchFamily="34" charset="0"/>
                <a:cs typeface="Calibri" panose="020F0502020204030204" pitchFamily="34" charset="0"/>
              </a:rPr>
              <a:t>áp</a:t>
            </a:r>
            <a:r>
              <a:rPr lang="en-US" altLang="en-US" sz="4000" dirty="0">
                <a:latin typeface="Calibri" panose="020F0502020204030204" pitchFamily="34" charset="0"/>
                <a:ea typeface="Calibri" panose="020F0502020204030204" pitchFamily="34" charset="0"/>
                <a:cs typeface="Calibri" panose="020F0502020204030204" pitchFamily="34" charset="0"/>
              </a:rPr>
              <a:t> </a:t>
            </a:r>
            <a:r>
              <a:rPr lang="en-US" altLang="en-US" sz="4000" dirty="0" err="1">
                <a:latin typeface="Calibri" panose="020F0502020204030204" pitchFamily="34" charset="0"/>
                <a:ea typeface="Calibri" panose="020F0502020204030204" pitchFamily="34" charset="0"/>
                <a:cs typeface="Calibri" panose="020F0502020204030204" pitchFamily="34" charset="0"/>
              </a:rPr>
              <a:t>lực</a:t>
            </a:r>
            <a:r>
              <a:rPr lang="en-US" altLang="en-US" sz="4000" dirty="0">
                <a:latin typeface="Calibri" panose="020F0502020204030204" pitchFamily="34" charset="0"/>
                <a:ea typeface="Calibri" panose="020F0502020204030204" pitchFamily="34" charset="0"/>
                <a:cs typeface="Calibri" panose="020F0502020204030204" pitchFamily="34" charset="0"/>
              </a:rPr>
              <a:t> (</a:t>
            </a:r>
            <a:r>
              <a:rPr lang="en-US" altLang="en-US" sz="4000" dirty="0" err="1">
                <a:latin typeface="Calibri" panose="020F0502020204030204" pitchFamily="34" charset="0"/>
                <a:ea typeface="Calibri" panose="020F0502020204030204" pitchFamily="34" charset="0"/>
                <a:cs typeface="Calibri" panose="020F0502020204030204" pitchFamily="34" charset="0"/>
              </a:rPr>
              <a:t>học</a:t>
            </a:r>
            <a:r>
              <a:rPr lang="en-US" altLang="en-US" sz="4000" dirty="0">
                <a:latin typeface="Calibri" panose="020F0502020204030204" pitchFamily="34" charset="0"/>
                <a:ea typeface="Calibri" panose="020F0502020204030204" pitchFamily="34" charset="0"/>
                <a:cs typeface="Calibri" panose="020F0502020204030204" pitchFamily="34" charset="0"/>
              </a:rPr>
              <a:t> </a:t>
            </a:r>
            <a:r>
              <a:rPr lang="en-US" altLang="en-US" sz="4000" dirty="0" err="1">
                <a:latin typeface="Calibri" panose="020F0502020204030204" pitchFamily="34" charset="0"/>
                <a:ea typeface="Calibri" panose="020F0502020204030204" pitchFamily="34" charset="0"/>
                <a:cs typeface="Calibri" panose="020F0502020204030204" pitchFamily="34" charset="0"/>
              </a:rPr>
              <a:t>tập</a:t>
            </a:r>
            <a:r>
              <a:rPr lang="en-US" altLang="en-US" sz="4000" dirty="0">
                <a:latin typeface="Calibri" panose="020F0502020204030204" pitchFamily="34" charset="0"/>
                <a:ea typeface="Calibri" panose="020F0502020204030204" pitchFamily="34" charset="0"/>
                <a:cs typeface="Calibri" panose="020F0502020204030204" pitchFamily="34" charset="0"/>
              </a:rPr>
              <a:t>, </a:t>
            </a:r>
            <a:r>
              <a:rPr lang="en-US" altLang="en-US" sz="4000" dirty="0" err="1">
                <a:latin typeface="Calibri" panose="020F0502020204030204" pitchFamily="34" charset="0"/>
                <a:ea typeface="Calibri" panose="020F0502020204030204" pitchFamily="34" charset="0"/>
                <a:cs typeface="Calibri" panose="020F0502020204030204" pitchFamily="34" charset="0"/>
              </a:rPr>
              <a:t>công</a:t>
            </a:r>
            <a:r>
              <a:rPr lang="en-US" altLang="en-US" sz="4000" dirty="0">
                <a:latin typeface="Calibri" panose="020F0502020204030204" pitchFamily="34" charset="0"/>
                <a:ea typeface="Calibri" panose="020F0502020204030204" pitchFamily="34" charset="0"/>
                <a:cs typeface="Calibri" panose="020F0502020204030204" pitchFamily="34" charset="0"/>
              </a:rPr>
              <a:t> </a:t>
            </a:r>
            <a:r>
              <a:rPr lang="en-US" altLang="en-US" sz="4000" dirty="0" err="1">
                <a:latin typeface="Calibri" panose="020F0502020204030204" pitchFamily="34" charset="0"/>
                <a:ea typeface="Calibri" panose="020F0502020204030204" pitchFamily="34" charset="0"/>
                <a:cs typeface="Calibri" panose="020F0502020204030204" pitchFamily="34" charset="0"/>
              </a:rPr>
              <a:t>việc</a:t>
            </a:r>
            <a:r>
              <a:rPr lang="en-US" altLang="en-US" sz="4000" dirty="0">
                <a:latin typeface="Calibri" panose="020F0502020204030204" pitchFamily="34" charset="0"/>
                <a:ea typeface="Calibri" panose="020F0502020204030204" pitchFamily="34" charset="0"/>
                <a:cs typeface="Calibri" panose="020F0502020204030204" pitchFamily="34" charset="0"/>
              </a:rPr>
              <a:t>) </a:t>
            </a:r>
            <a:r>
              <a:rPr lang="en-US" altLang="en-US" sz="4000" dirty="0" err="1">
                <a:latin typeface="Calibri" panose="020F0502020204030204" pitchFamily="34" charset="0"/>
                <a:ea typeface="Calibri" panose="020F0502020204030204" pitchFamily="34" charset="0"/>
                <a:cs typeface="Calibri" panose="020F0502020204030204" pitchFamily="34" charset="0"/>
              </a:rPr>
              <a:t>nhưng</a:t>
            </a:r>
            <a:r>
              <a:rPr lang="en-US" altLang="en-US" sz="4000" dirty="0">
                <a:latin typeface="Calibri" panose="020F0502020204030204" pitchFamily="34" charset="0"/>
                <a:ea typeface="Calibri" panose="020F0502020204030204" pitchFamily="34" charset="0"/>
                <a:cs typeface="Calibri" panose="020F0502020204030204" pitchFamily="34" charset="0"/>
              </a:rPr>
              <a:t> </a:t>
            </a:r>
            <a:r>
              <a:rPr lang="en-US" altLang="en-US" sz="4000" dirty="0" err="1">
                <a:latin typeface="Calibri" panose="020F0502020204030204" pitchFamily="34" charset="0"/>
                <a:ea typeface="Calibri" panose="020F0502020204030204" pitchFamily="34" charset="0"/>
                <a:cs typeface="Calibri" panose="020F0502020204030204" pitchFamily="34" charset="0"/>
              </a:rPr>
              <a:t>khó</a:t>
            </a:r>
            <a:r>
              <a:rPr lang="en-US" altLang="en-US" sz="4000" dirty="0">
                <a:latin typeface="Calibri" panose="020F0502020204030204" pitchFamily="34" charset="0"/>
                <a:ea typeface="Calibri" panose="020F0502020204030204" pitchFamily="34" charset="0"/>
                <a:cs typeface="Calibri" panose="020F0502020204030204" pitchFamily="34" charset="0"/>
              </a:rPr>
              <a:t> chia </a:t>
            </a:r>
            <a:r>
              <a:rPr lang="en-US" altLang="en-US" sz="4000" dirty="0" err="1">
                <a:latin typeface="Calibri" panose="020F0502020204030204" pitchFamily="34" charset="0"/>
                <a:ea typeface="Calibri" panose="020F0502020204030204" pitchFamily="34" charset="0"/>
                <a:cs typeface="Calibri" panose="020F0502020204030204" pitchFamily="34" charset="0"/>
              </a:rPr>
              <a:t>sẻ</a:t>
            </a:r>
            <a:r>
              <a:rPr lang="en-US" altLang="en-US" sz="4000" dirty="0">
                <a:latin typeface="Calibri" panose="020F0502020204030204" pitchFamily="34" charset="0"/>
                <a:ea typeface="Calibri" panose="020F0502020204030204" pitchFamily="34" charset="0"/>
                <a:cs typeface="Calibri" panose="020F0502020204030204" pitchFamily="34" charset="0"/>
              </a:rPr>
              <a:t> </a:t>
            </a:r>
            <a:r>
              <a:rPr lang="en-US" altLang="en-US" sz="4000" dirty="0" err="1">
                <a:latin typeface="Calibri" panose="020F0502020204030204" pitchFamily="34" charset="0"/>
                <a:ea typeface="Calibri" panose="020F0502020204030204" pitchFamily="34" charset="0"/>
                <a:cs typeface="Calibri" panose="020F0502020204030204" pitchFamily="34" charset="0"/>
              </a:rPr>
              <a:t>cảm</a:t>
            </a:r>
            <a:r>
              <a:rPr lang="en-US" altLang="en-US" sz="4000" dirty="0">
                <a:latin typeface="Calibri" panose="020F0502020204030204" pitchFamily="34" charset="0"/>
                <a:ea typeface="Calibri" panose="020F0502020204030204" pitchFamily="34" charset="0"/>
                <a:cs typeface="Calibri" panose="020F0502020204030204" pitchFamily="34" charset="0"/>
              </a:rPr>
              <a:t> </a:t>
            </a:r>
            <a:r>
              <a:rPr lang="en-US" altLang="en-US" sz="4000" dirty="0" err="1">
                <a:latin typeface="Calibri" panose="020F0502020204030204" pitchFamily="34" charset="0"/>
                <a:ea typeface="Calibri" panose="020F0502020204030204" pitchFamily="34" charset="0"/>
                <a:cs typeface="Calibri" panose="020F0502020204030204" pitchFamily="34" charset="0"/>
              </a:rPr>
              <a:t>xúc</a:t>
            </a:r>
            <a:r>
              <a:rPr lang="en-US" altLang="en-US" sz="4000" dirty="0">
                <a:latin typeface="Calibri" panose="020F0502020204030204" pitchFamily="34" charset="0"/>
                <a:ea typeface="Calibri" panose="020F0502020204030204" pitchFamily="34" charset="0"/>
                <a:cs typeface="Calibri" panose="020F0502020204030204" pitchFamily="34" charset="0"/>
              </a:rPr>
              <a:t> do </a:t>
            </a:r>
            <a:r>
              <a:rPr lang="en-US" altLang="en-US" sz="4000" dirty="0" err="1">
                <a:latin typeface="Calibri" panose="020F0502020204030204" pitchFamily="34" charset="0"/>
                <a:ea typeface="Calibri" panose="020F0502020204030204" pitchFamily="34" charset="0"/>
                <a:cs typeface="Calibri" panose="020F0502020204030204" pitchFamily="34" charset="0"/>
              </a:rPr>
              <a:t>tâm</a:t>
            </a:r>
            <a:r>
              <a:rPr lang="en-US" altLang="en-US" sz="4000" dirty="0">
                <a:latin typeface="Calibri" panose="020F0502020204030204" pitchFamily="34" charset="0"/>
                <a:ea typeface="Calibri" panose="020F0502020204030204" pitchFamily="34" charset="0"/>
                <a:cs typeface="Calibri" panose="020F0502020204030204" pitchFamily="34" charset="0"/>
              </a:rPr>
              <a:t> </a:t>
            </a:r>
            <a:r>
              <a:rPr lang="en-US" altLang="en-US" sz="4000" dirty="0" err="1">
                <a:latin typeface="Calibri" panose="020F0502020204030204" pitchFamily="34" charset="0"/>
                <a:ea typeface="Calibri" panose="020F0502020204030204" pitchFamily="34" charset="0"/>
                <a:cs typeface="Calibri" panose="020F0502020204030204" pitchFamily="34" charset="0"/>
              </a:rPr>
              <a:t>lý</a:t>
            </a:r>
            <a:r>
              <a:rPr lang="en-US" altLang="en-US" sz="4000" dirty="0">
                <a:latin typeface="Calibri" panose="020F0502020204030204" pitchFamily="34" charset="0"/>
                <a:ea typeface="Calibri" panose="020F0502020204030204" pitchFamily="34" charset="0"/>
                <a:cs typeface="Calibri" panose="020F0502020204030204" pitchFamily="34" charset="0"/>
              </a:rPr>
              <a:t> e </a:t>
            </a:r>
            <a:r>
              <a:rPr lang="en-US" altLang="en-US" sz="4000" dirty="0" err="1">
                <a:latin typeface="Calibri" panose="020F0502020204030204" pitchFamily="34" charset="0"/>
                <a:ea typeface="Calibri" panose="020F0502020204030204" pitchFamily="34" charset="0"/>
                <a:cs typeface="Calibri" panose="020F0502020204030204" pitchFamily="34" charset="0"/>
              </a:rPr>
              <a:t>ngại</a:t>
            </a:r>
            <a:r>
              <a:rPr lang="en-US" altLang="en-US" sz="4000" dirty="0">
                <a:latin typeface="Calibri" panose="020F0502020204030204" pitchFamily="34" charset="0"/>
                <a:ea typeface="Calibri" panose="020F0502020204030204" pitchFamily="34" charset="0"/>
                <a:cs typeface="Calibri" panose="020F0502020204030204" pitchFamily="34" charset="0"/>
              </a:rPr>
              <a:t> </a:t>
            </a:r>
            <a:r>
              <a:rPr lang="en-US" altLang="en-US" sz="4000" dirty="0" err="1">
                <a:latin typeface="Calibri" panose="020F0502020204030204" pitchFamily="34" charset="0"/>
                <a:ea typeface="Calibri" panose="020F0502020204030204" pitchFamily="34" charset="0"/>
                <a:cs typeface="Calibri" panose="020F0502020204030204" pitchFamily="34" charset="0"/>
              </a:rPr>
              <a:t>hoặc</a:t>
            </a:r>
            <a:r>
              <a:rPr lang="en-US" altLang="en-US" sz="4000" dirty="0">
                <a:latin typeface="Calibri" panose="020F0502020204030204" pitchFamily="34" charset="0"/>
                <a:ea typeface="Calibri" panose="020F0502020204030204" pitchFamily="34" charset="0"/>
                <a:cs typeface="Calibri" panose="020F0502020204030204" pitchFamily="34" charset="0"/>
              </a:rPr>
              <a:t> </a:t>
            </a:r>
            <a:r>
              <a:rPr lang="en-US" altLang="en-US" sz="4000" dirty="0" err="1">
                <a:latin typeface="Calibri" panose="020F0502020204030204" pitchFamily="34" charset="0"/>
                <a:ea typeface="Calibri" panose="020F0502020204030204" pitchFamily="34" charset="0"/>
                <a:cs typeface="Calibri" panose="020F0502020204030204" pitchFamily="34" charset="0"/>
              </a:rPr>
              <a:t>thiếu</a:t>
            </a:r>
            <a:r>
              <a:rPr lang="en-US" altLang="en-US" sz="4000" dirty="0">
                <a:latin typeface="Calibri" panose="020F0502020204030204" pitchFamily="34" charset="0"/>
                <a:ea typeface="Calibri" panose="020F0502020204030204" pitchFamily="34" charset="0"/>
                <a:cs typeface="Calibri" panose="020F0502020204030204" pitchFamily="34" charset="0"/>
              </a:rPr>
              <a:t> tin </a:t>
            </a:r>
            <a:r>
              <a:rPr lang="en-US" altLang="en-US" sz="4000" dirty="0" err="1">
                <a:latin typeface="Calibri" panose="020F0502020204030204" pitchFamily="34" charset="0"/>
                <a:ea typeface="Calibri" panose="020F0502020204030204" pitchFamily="34" charset="0"/>
                <a:cs typeface="Calibri" panose="020F0502020204030204" pitchFamily="34" charset="0"/>
              </a:rPr>
              <a:t>tưởng</a:t>
            </a:r>
            <a:r>
              <a:rPr lang="en-US" altLang="en-US" sz="4000" dirty="0">
                <a:latin typeface="Calibri" panose="020F0502020204030204" pitchFamily="34" charset="0"/>
                <a:ea typeface="Calibri" panose="020F0502020204030204" pitchFamily="34" charset="0"/>
                <a:cs typeface="Calibri" panose="020F0502020204030204" pitchFamily="34" charset="0"/>
              </a:rPr>
              <a:t>.</a:t>
            </a:r>
          </a:p>
          <a:p>
            <a:pPr lvl="0" algn="just" eaLnBrk="0" fontAlgn="base" hangingPunct="0">
              <a:spcBef>
                <a:spcPct val="0"/>
              </a:spcBef>
              <a:spcAft>
                <a:spcPct val="0"/>
              </a:spcAft>
            </a:pPr>
            <a:r>
              <a:rPr lang="vi-VN" altLang="en-US" sz="4000" dirty="0">
                <a:latin typeface="Calibri" panose="020F0502020204030204" pitchFamily="34" charset="0"/>
                <a:ea typeface="Calibri" panose="020F0502020204030204" pitchFamily="34" charset="0"/>
                <a:cs typeface="Calibri" panose="020F0502020204030204" pitchFamily="34" charset="0"/>
              </a:rPr>
              <a:t>	</a:t>
            </a:r>
            <a:r>
              <a:rPr lang="en-US" altLang="en-US" sz="4000" dirty="0" err="1">
                <a:latin typeface="Calibri" panose="020F0502020204030204" pitchFamily="34" charset="0"/>
                <a:ea typeface="Calibri" panose="020F0502020204030204" pitchFamily="34" charset="0"/>
                <a:cs typeface="Calibri" panose="020F0502020204030204" pitchFamily="34" charset="0"/>
              </a:rPr>
              <a:t>Vấn</a:t>
            </a:r>
            <a:r>
              <a:rPr lang="en-US" altLang="en-US" sz="4000" dirty="0">
                <a:latin typeface="Calibri" panose="020F0502020204030204" pitchFamily="34" charset="0"/>
                <a:ea typeface="Calibri" panose="020F0502020204030204" pitchFamily="34" charset="0"/>
                <a:cs typeface="Calibri" panose="020F0502020204030204" pitchFamily="34" charset="0"/>
              </a:rPr>
              <a:t> </a:t>
            </a:r>
            <a:r>
              <a:rPr lang="en-US" altLang="en-US" sz="4000" dirty="0" err="1">
                <a:latin typeface="Calibri" panose="020F0502020204030204" pitchFamily="34" charset="0"/>
                <a:ea typeface="Calibri" panose="020F0502020204030204" pitchFamily="34" charset="0"/>
                <a:cs typeface="Calibri" panose="020F0502020204030204" pitchFamily="34" charset="0"/>
              </a:rPr>
              <a:t>đề</a:t>
            </a:r>
            <a:r>
              <a:rPr lang="en-US" altLang="en-US" sz="4000" dirty="0">
                <a:latin typeface="Calibri" panose="020F0502020204030204" pitchFamily="34" charset="0"/>
                <a:ea typeface="Calibri" panose="020F0502020204030204" pitchFamily="34" charset="0"/>
                <a:cs typeface="Calibri" panose="020F0502020204030204" pitchFamily="34" charset="0"/>
              </a:rPr>
              <a:t>: </a:t>
            </a:r>
            <a:r>
              <a:rPr lang="en-US" altLang="en-US" sz="4000" dirty="0" err="1">
                <a:latin typeface="Calibri" panose="020F0502020204030204" pitchFamily="34" charset="0"/>
                <a:ea typeface="Calibri" panose="020F0502020204030204" pitchFamily="34" charset="0"/>
                <a:cs typeface="Calibri" panose="020F0502020204030204" pitchFamily="34" charset="0"/>
              </a:rPr>
              <a:t>Thiếu</a:t>
            </a:r>
            <a:r>
              <a:rPr lang="en-US" altLang="en-US" sz="4000" dirty="0">
                <a:latin typeface="Calibri" panose="020F0502020204030204" pitchFamily="34" charset="0"/>
                <a:ea typeface="Calibri" panose="020F0502020204030204" pitchFamily="34" charset="0"/>
                <a:cs typeface="Calibri" panose="020F0502020204030204" pitchFamily="34" charset="0"/>
              </a:rPr>
              <a:t> </a:t>
            </a:r>
            <a:r>
              <a:rPr lang="en-US" altLang="en-US" sz="4000" dirty="0" err="1">
                <a:latin typeface="Calibri" panose="020F0502020204030204" pitchFamily="34" charset="0"/>
                <a:ea typeface="Calibri" panose="020F0502020204030204" pitchFamily="34" charset="0"/>
                <a:cs typeface="Calibri" panose="020F0502020204030204" pitchFamily="34" charset="0"/>
              </a:rPr>
              <a:t>thói</a:t>
            </a:r>
            <a:r>
              <a:rPr lang="en-US" altLang="en-US" sz="4000" dirty="0">
                <a:latin typeface="Calibri" panose="020F0502020204030204" pitchFamily="34" charset="0"/>
                <a:ea typeface="Calibri" panose="020F0502020204030204" pitchFamily="34" charset="0"/>
                <a:cs typeface="Calibri" panose="020F0502020204030204" pitchFamily="34" charset="0"/>
              </a:rPr>
              <a:t> </a:t>
            </a:r>
            <a:r>
              <a:rPr lang="en-US" altLang="en-US" sz="4000" dirty="0" err="1">
                <a:latin typeface="Calibri" panose="020F0502020204030204" pitchFamily="34" charset="0"/>
                <a:ea typeface="Calibri" panose="020F0502020204030204" pitchFamily="34" charset="0"/>
                <a:cs typeface="Calibri" panose="020F0502020204030204" pitchFamily="34" charset="0"/>
              </a:rPr>
              <a:t>quen</a:t>
            </a:r>
            <a:r>
              <a:rPr lang="en-US" altLang="en-US" sz="4000" dirty="0">
                <a:latin typeface="Calibri" panose="020F0502020204030204" pitchFamily="34" charset="0"/>
                <a:ea typeface="Calibri" panose="020F0502020204030204" pitchFamily="34" charset="0"/>
                <a:cs typeface="Calibri" panose="020F0502020204030204" pitchFamily="34" charset="0"/>
              </a:rPr>
              <a:t> </a:t>
            </a:r>
            <a:r>
              <a:rPr lang="en-US" altLang="en-US" sz="4000" dirty="0" err="1">
                <a:latin typeface="Calibri" panose="020F0502020204030204" pitchFamily="34" charset="0"/>
                <a:ea typeface="Calibri" panose="020F0502020204030204" pitchFamily="34" charset="0"/>
                <a:cs typeface="Calibri" panose="020F0502020204030204" pitchFamily="34" charset="0"/>
              </a:rPr>
              <a:t>theo</a:t>
            </a:r>
            <a:r>
              <a:rPr lang="en-US" altLang="en-US" sz="4000" dirty="0">
                <a:latin typeface="Calibri" panose="020F0502020204030204" pitchFamily="34" charset="0"/>
                <a:ea typeface="Calibri" panose="020F0502020204030204" pitchFamily="34" charset="0"/>
                <a:cs typeface="Calibri" panose="020F0502020204030204" pitchFamily="34" charset="0"/>
              </a:rPr>
              <a:t> </a:t>
            </a:r>
            <a:r>
              <a:rPr lang="en-US" altLang="en-US" sz="4000" dirty="0" err="1">
                <a:latin typeface="Calibri" panose="020F0502020204030204" pitchFamily="34" charset="0"/>
                <a:ea typeface="Calibri" panose="020F0502020204030204" pitchFamily="34" charset="0"/>
                <a:cs typeface="Calibri" panose="020F0502020204030204" pitchFamily="34" charset="0"/>
              </a:rPr>
              <a:t>dõi</a:t>
            </a:r>
            <a:r>
              <a:rPr lang="en-US" altLang="en-US" sz="4000" dirty="0">
                <a:latin typeface="Calibri" panose="020F0502020204030204" pitchFamily="34" charset="0"/>
                <a:ea typeface="Calibri" panose="020F0502020204030204" pitchFamily="34" charset="0"/>
                <a:cs typeface="Calibri" panose="020F0502020204030204" pitchFamily="34" charset="0"/>
              </a:rPr>
              <a:t> </a:t>
            </a:r>
            <a:r>
              <a:rPr lang="en-US" altLang="en-US" sz="4000" dirty="0" err="1">
                <a:latin typeface="Calibri" panose="020F0502020204030204" pitchFamily="34" charset="0"/>
                <a:ea typeface="Calibri" panose="020F0502020204030204" pitchFamily="34" charset="0"/>
                <a:cs typeface="Calibri" panose="020F0502020204030204" pitchFamily="34" charset="0"/>
              </a:rPr>
              <a:t>cảm</a:t>
            </a:r>
            <a:r>
              <a:rPr lang="en-US" altLang="en-US" sz="4000" dirty="0">
                <a:latin typeface="Calibri" panose="020F0502020204030204" pitchFamily="34" charset="0"/>
                <a:ea typeface="Calibri" panose="020F0502020204030204" pitchFamily="34" charset="0"/>
                <a:cs typeface="Calibri" panose="020F0502020204030204" pitchFamily="34" charset="0"/>
              </a:rPr>
              <a:t> </a:t>
            </a:r>
            <a:r>
              <a:rPr lang="en-US" altLang="en-US" sz="4000" dirty="0" err="1">
                <a:latin typeface="Calibri" panose="020F0502020204030204" pitchFamily="34" charset="0"/>
                <a:ea typeface="Calibri" panose="020F0502020204030204" pitchFamily="34" charset="0"/>
                <a:cs typeface="Calibri" panose="020F0502020204030204" pitchFamily="34" charset="0"/>
              </a:rPr>
              <a:t>xúc</a:t>
            </a:r>
            <a:r>
              <a:rPr lang="en-US" altLang="en-US" sz="4000" dirty="0">
                <a:latin typeface="Calibri" panose="020F0502020204030204" pitchFamily="34" charset="0"/>
                <a:ea typeface="Calibri" panose="020F0502020204030204" pitchFamily="34" charset="0"/>
                <a:cs typeface="Calibri" panose="020F0502020204030204" pitchFamily="34" charset="0"/>
              </a:rPr>
              <a:t> </a:t>
            </a:r>
            <a:r>
              <a:rPr lang="en-US" altLang="en-US" sz="4000" dirty="0" err="1">
                <a:latin typeface="Calibri" panose="020F0502020204030204" pitchFamily="34" charset="0"/>
                <a:ea typeface="Calibri" panose="020F0502020204030204" pitchFamily="34" charset="0"/>
                <a:cs typeface="Calibri" panose="020F0502020204030204" pitchFamily="34" charset="0"/>
              </a:rPr>
              <a:t>hằng</a:t>
            </a:r>
            <a:r>
              <a:rPr lang="en-US" altLang="en-US" sz="4000" dirty="0">
                <a:latin typeface="Calibri" panose="020F0502020204030204" pitchFamily="34" charset="0"/>
                <a:ea typeface="Calibri" panose="020F0502020204030204" pitchFamily="34" charset="0"/>
                <a:cs typeface="Calibri" panose="020F0502020204030204" pitchFamily="34" charset="0"/>
              </a:rPr>
              <a:t> </a:t>
            </a:r>
            <a:r>
              <a:rPr lang="en-US" altLang="en-US" sz="4000" dirty="0" err="1">
                <a:latin typeface="Calibri" panose="020F0502020204030204" pitchFamily="34" charset="0"/>
                <a:ea typeface="Calibri" panose="020F0502020204030204" pitchFamily="34" charset="0"/>
                <a:cs typeface="Calibri" panose="020F0502020204030204" pitchFamily="34" charset="0"/>
              </a:rPr>
              <a:t>ngày</a:t>
            </a:r>
            <a:r>
              <a:rPr lang="en-US" altLang="en-US" sz="4000" dirty="0">
                <a:latin typeface="Calibri" panose="020F0502020204030204" pitchFamily="34" charset="0"/>
                <a:ea typeface="Calibri" panose="020F0502020204030204" pitchFamily="34" charset="0"/>
                <a:cs typeface="Calibri" panose="020F0502020204030204" pitchFamily="34" charset="0"/>
              </a:rPr>
              <a:t>, </a:t>
            </a:r>
            <a:r>
              <a:rPr lang="en-US" altLang="en-US" sz="4000" dirty="0" err="1">
                <a:latin typeface="Calibri" panose="020F0502020204030204" pitchFamily="34" charset="0"/>
                <a:ea typeface="Calibri" panose="020F0502020204030204" pitchFamily="34" charset="0"/>
                <a:cs typeface="Calibri" panose="020F0502020204030204" pitchFamily="34" charset="0"/>
              </a:rPr>
              <a:t>dẫn</a:t>
            </a:r>
            <a:r>
              <a:rPr lang="en-US" altLang="en-US" sz="4000" dirty="0">
                <a:latin typeface="Calibri" panose="020F0502020204030204" pitchFamily="34" charset="0"/>
                <a:ea typeface="Calibri" panose="020F0502020204030204" pitchFamily="34" charset="0"/>
                <a:cs typeface="Calibri" panose="020F0502020204030204" pitchFamily="34" charset="0"/>
              </a:rPr>
              <a:t> </a:t>
            </a:r>
            <a:r>
              <a:rPr lang="en-US" altLang="en-US" sz="4000" dirty="0" err="1">
                <a:latin typeface="Calibri" panose="020F0502020204030204" pitchFamily="34" charset="0"/>
                <a:ea typeface="Calibri" panose="020F0502020204030204" pitchFamily="34" charset="0"/>
                <a:cs typeface="Calibri" panose="020F0502020204030204" pitchFamily="34" charset="0"/>
              </a:rPr>
              <a:t>đến</a:t>
            </a:r>
            <a:r>
              <a:rPr lang="en-US" altLang="en-US" sz="4000" dirty="0">
                <a:latin typeface="Calibri" panose="020F0502020204030204" pitchFamily="34" charset="0"/>
                <a:ea typeface="Calibri" panose="020F0502020204030204" pitchFamily="34" charset="0"/>
                <a:cs typeface="Calibri" panose="020F0502020204030204" pitchFamily="34" charset="0"/>
              </a:rPr>
              <a:t> </a:t>
            </a:r>
            <a:r>
              <a:rPr lang="en-US" altLang="en-US" sz="4000" dirty="0" err="1">
                <a:latin typeface="Calibri" panose="020F0502020204030204" pitchFamily="34" charset="0"/>
                <a:ea typeface="Calibri" panose="020F0502020204030204" pitchFamily="34" charset="0"/>
                <a:cs typeface="Calibri" panose="020F0502020204030204" pitchFamily="34" charset="0"/>
              </a:rPr>
              <a:t>không</a:t>
            </a:r>
            <a:r>
              <a:rPr lang="en-US" altLang="en-US" sz="4000" dirty="0">
                <a:latin typeface="Calibri" panose="020F0502020204030204" pitchFamily="34" charset="0"/>
                <a:ea typeface="Calibri" panose="020F0502020204030204" pitchFamily="34" charset="0"/>
                <a:cs typeface="Calibri" panose="020F0502020204030204" pitchFamily="34" charset="0"/>
              </a:rPr>
              <a:t> </a:t>
            </a:r>
            <a:r>
              <a:rPr lang="en-US" altLang="en-US" sz="4000" dirty="0" err="1">
                <a:latin typeface="Calibri" panose="020F0502020204030204" pitchFamily="34" charset="0"/>
                <a:ea typeface="Calibri" panose="020F0502020204030204" pitchFamily="34" charset="0"/>
                <a:cs typeface="Calibri" panose="020F0502020204030204" pitchFamily="34" charset="0"/>
              </a:rPr>
              <a:t>nhận</a:t>
            </a:r>
            <a:r>
              <a:rPr lang="en-US" altLang="en-US" sz="4000" dirty="0">
                <a:latin typeface="Calibri" panose="020F0502020204030204" pitchFamily="34" charset="0"/>
                <a:ea typeface="Calibri" panose="020F0502020204030204" pitchFamily="34" charset="0"/>
                <a:cs typeface="Calibri" panose="020F0502020204030204" pitchFamily="34" charset="0"/>
              </a:rPr>
              <a:t> </a:t>
            </a:r>
            <a:r>
              <a:rPr lang="en-US" altLang="en-US" sz="4000" dirty="0" err="1">
                <a:latin typeface="Calibri" panose="020F0502020204030204" pitchFamily="34" charset="0"/>
                <a:ea typeface="Calibri" panose="020F0502020204030204" pitchFamily="34" charset="0"/>
                <a:cs typeface="Calibri" panose="020F0502020204030204" pitchFamily="34" charset="0"/>
              </a:rPr>
              <a:t>diện</a:t>
            </a:r>
            <a:r>
              <a:rPr lang="en-US" altLang="en-US" sz="4000" dirty="0">
                <a:latin typeface="Calibri" panose="020F0502020204030204" pitchFamily="34" charset="0"/>
                <a:ea typeface="Calibri" panose="020F0502020204030204" pitchFamily="34" charset="0"/>
                <a:cs typeface="Calibri" panose="020F0502020204030204" pitchFamily="34" charset="0"/>
              </a:rPr>
              <a:t> </a:t>
            </a:r>
            <a:r>
              <a:rPr lang="en-US" altLang="en-US" sz="4000" dirty="0" err="1">
                <a:latin typeface="Calibri" panose="020F0502020204030204" pitchFamily="34" charset="0"/>
                <a:ea typeface="Calibri" panose="020F0502020204030204" pitchFamily="34" charset="0"/>
                <a:cs typeface="Calibri" panose="020F0502020204030204" pitchFamily="34" charset="0"/>
              </a:rPr>
              <a:t>kịp</a:t>
            </a:r>
            <a:r>
              <a:rPr lang="en-US" altLang="en-US" sz="4000" dirty="0">
                <a:latin typeface="Calibri" panose="020F0502020204030204" pitchFamily="34" charset="0"/>
                <a:ea typeface="Calibri" panose="020F0502020204030204" pitchFamily="34" charset="0"/>
                <a:cs typeface="Calibri" panose="020F0502020204030204" pitchFamily="34" charset="0"/>
              </a:rPr>
              <a:t> </a:t>
            </a:r>
            <a:r>
              <a:rPr lang="en-US" altLang="en-US" sz="4000" dirty="0" err="1">
                <a:latin typeface="Calibri" panose="020F0502020204030204" pitchFamily="34" charset="0"/>
                <a:ea typeface="Calibri" panose="020F0502020204030204" pitchFamily="34" charset="0"/>
                <a:cs typeface="Calibri" panose="020F0502020204030204" pitchFamily="34" charset="0"/>
              </a:rPr>
              <a:t>thời</a:t>
            </a:r>
            <a:r>
              <a:rPr lang="en-US" altLang="en-US" sz="4000" dirty="0">
                <a:latin typeface="Calibri" panose="020F0502020204030204" pitchFamily="34" charset="0"/>
                <a:ea typeface="Calibri" panose="020F0502020204030204" pitchFamily="34" charset="0"/>
                <a:cs typeface="Calibri" panose="020F0502020204030204" pitchFamily="34" charset="0"/>
              </a:rPr>
              <a:t> </a:t>
            </a:r>
            <a:r>
              <a:rPr lang="en-US" altLang="en-US" sz="4000" dirty="0" err="1">
                <a:latin typeface="Calibri" panose="020F0502020204030204" pitchFamily="34" charset="0"/>
                <a:ea typeface="Calibri" panose="020F0502020204030204" pitchFamily="34" charset="0"/>
                <a:cs typeface="Calibri" panose="020F0502020204030204" pitchFamily="34" charset="0"/>
              </a:rPr>
              <a:t>các</a:t>
            </a:r>
            <a:r>
              <a:rPr lang="en-US" altLang="en-US" sz="4000" dirty="0">
                <a:latin typeface="Calibri" panose="020F0502020204030204" pitchFamily="34" charset="0"/>
                <a:ea typeface="Calibri" panose="020F0502020204030204" pitchFamily="34" charset="0"/>
                <a:cs typeface="Calibri" panose="020F0502020204030204" pitchFamily="34" charset="0"/>
              </a:rPr>
              <a:t> </a:t>
            </a:r>
            <a:r>
              <a:rPr lang="en-US" altLang="en-US" sz="4000" dirty="0" err="1">
                <a:latin typeface="Calibri" panose="020F0502020204030204" pitchFamily="34" charset="0"/>
                <a:ea typeface="Calibri" panose="020F0502020204030204" pitchFamily="34" charset="0"/>
                <a:cs typeface="Calibri" panose="020F0502020204030204" pitchFamily="34" charset="0"/>
              </a:rPr>
              <a:t>dấu</a:t>
            </a:r>
            <a:r>
              <a:rPr lang="en-US" altLang="en-US" sz="4000" dirty="0">
                <a:latin typeface="Calibri" panose="020F0502020204030204" pitchFamily="34" charset="0"/>
                <a:ea typeface="Calibri" panose="020F0502020204030204" pitchFamily="34" charset="0"/>
                <a:cs typeface="Calibri" panose="020F0502020204030204" pitchFamily="34" charset="0"/>
              </a:rPr>
              <a:t> </a:t>
            </a:r>
            <a:r>
              <a:rPr lang="en-US" altLang="en-US" sz="4000" dirty="0" err="1">
                <a:latin typeface="Calibri" panose="020F0502020204030204" pitchFamily="34" charset="0"/>
                <a:ea typeface="Calibri" panose="020F0502020204030204" pitchFamily="34" charset="0"/>
                <a:cs typeface="Calibri" panose="020F0502020204030204" pitchFamily="34" charset="0"/>
              </a:rPr>
              <a:t>hiệu</a:t>
            </a:r>
            <a:r>
              <a:rPr lang="en-US" altLang="en-US" sz="4000" dirty="0">
                <a:latin typeface="Calibri" panose="020F0502020204030204" pitchFamily="34" charset="0"/>
                <a:ea typeface="Calibri" panose="020F0502020204030204" pitchFamily="34" charset="0"/>
                <a:cs typeface="Calibri" panose="020F0502020204030204" pitchFamily="34" charset="0"/>
              </a:rPr>
              <a:t> </a:t>
            </a:r>
            <a:r>
              <a:rPr lang="en-US" altLang="en-US" sz="4000" dirty="0" err="1">
                <a:latin typeface="Calibri" panose="020F0502020204030204" pitchFamily="34" charset="0"/>
                <a:ea typeface="Calibri" panose="020F0502020204030204" pitchFamily="34" charset="0"/>
                <a:cs typeface="Calibri" panose="020F0502020204030204" pitchFamily="34" charset="0"/>
              </a:rPr>
              <a:t>bất</a:t>
            </a:r>
            <a:r>
              <a:rPr lang="en-US" altLang="en-US" sz="4000" dirty="0">
                <a:latin typeface="Calibri" panose="020F0502020204030204" pitchFamily="34" charset="0"/>
                <a:ea typeface="Calibri" panose="020F0502020204030204" pitchFamily="34" charset="0"/>
                <a:cs typeface="Calibri" panose="020F0502020204030204" pitchFamily="34" charset="0"/>
              </a:rPr>
              <a:t> </a:t>
            </a:r>
            <a:r>
              <a:rPr lang="en-US" altLang="en-US" sz="4000" dirty="0" err="1">
                <a:latin typeface="Calibri" panose="020F0502020204030204" pitchFamily="34" charset="0"/>
                <a:ea typeface="Calibri" panose="020F0502020204030204" pitchFamily="34" charset="0"/>
                <a:cs typeface="Calibri" panose="020F0502020204030204" pitchFamily="34" charset="0"/>
              </a:rPr>
              <a:t>ổn</a:t>
            </a:r>
            <a:r>
              <a:rPr lang="en-US" altLang="en-US" sz="4000" dirty="0">
                <a:latin typeface="Calibri" panose="020F0502020204030204" pitchFamily="34" charset="0"/>
                <a:ea typeface="Calibri" panose="020F0502020204030204" pitchFamily="34" charset="0"/>
                <a:cs typeface="Calibri" panose="020F0502020204030204" pitchFamily="34" charset="0"/>
              </a:rPr>
              <a:t> </a:t>
            </a:r>
            <a:r>
              <a:rPr lang="en-US" altLang="en-US" sz="4000" dirty="0" err="1">
                <a:latin typeface="Calibri" panose="020F0502020204030204" pitchFamily="34" charset="0"/>
                <a:ea typeface="Calibri" panose="020F0502020204030204" pitchFamily="34" charset="0"/>
                <a:cs typeface="Calibri" panose="020F0502020204030204" pitchFamily="34" charset="0"/>
              </a:rPr>
              <a:t>tâm</a:t>
            </a:r>
            <a:r>
              <a:rPr lang="en-US" altLang="en-US" sz="4000" dirty="0">
                <a:latin typeface="Calibri" panose="020F0502020204030204" pitchFamily="34" charset="0"/>
                <a:ea typeface="Calibri" panose="020F0502020204030204" pitchFamily="34" charset="0"/>
                <a:cs typeface="Calibri" panose="020F0502020204030204" pitchFamily="34" charset="0"/>
              </a:rPr>
              <a:t> </a:t>
            </a:r>
            <a:r>
              <a:rPr lang="en-US" altLang="en-US" sz="4000" dirty="0" err="1">
                <a:latin typeface="Calibri" panose="020F0502020204030204" pitchFamily="34" charset="0"/>
                <a:ea typeface="Calibri" panose="020F0502020204030204" pitchFamily="34" charset="0"/>
                <a:cs typeface="Calibri" panose="020F0502020204030204" pitchFamily="34" charset="0"/>
              </a:rPr>
              <a:t>lý</a:t>
            </a:r>
            <a:r>
              <a:rPr lang="en-US" altLang="en-US" sz="4000" dirty="0">
                <a:latin typeface="Calibri" panose="020F0502020204030204" pitchFamily="34" charset="0"/>
                <a:ea typeface="Calibri" panose="020F0502020204030204" pitchFamily="34" charset="0"/>
                <a:cs typeface="Calibri" panose="020F0502020204030204" pitchFamily="34" charset="0"/>
              </a:rPr>
              <a:t>.</a:t>
            </a:r>
          </a:p>
        </p:txBody>
      </p:sp>
      <p:pic>
        <p:nvPicPr>
          <p:cNvPr id="2052" name="Picture 4" descr="Hội chứng sợ giao tiếp xã hội là như thế nào?">
            <a:extLst>
              <a:ext uri="{FF2B5EF4-FFF2-40B4-BE49-F238E27FC236}">
                <a16:creationId xmlns:a16="http://schemas.microsoft.com/office/drawing/2014/main" id="{9635868B-65BC-4781-B6B0-9B11581643D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404" r="16278"/>
          <a:stretch/>
        </p:blipFill>
        <p:spPr bwMode="auto">
          <a:xfrm>
            <a:off x="0" y="2095500"/>
            <a:ext cx="7772400" cy="8191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32827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DF9"/>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2095500"/>
            <a:chOff x="0" y="0"/>
            <a:chExt cx="4816593" cy="812800"/>
          </a:xfrm>
        </p:grpSpPr>
        <p:sp>
          <p:nvSpPr>
            <p:cNvPr id="3" name="Freeform 3"/>
            <p:cNvSpPr/>
            <p:nvPr/>
          </p:nvSpPr>
          <p:spPr>
            <a:xfrm>
              <a:off x="0" y="0"/>
              <a:ext cx="4816592" cy="812800"/>
            </a:xfrm>
            <a:custGeom>
              <a:avLst/>
              <a:gdLst/>
              <a:ahLst/>
              <a:cxnLst/>
              <a:rect l="l" t="t" r="r" b="b"/>
              <a:pathLst>
                <a:path w="4816592" h="812800">
                  <a:moveTo>
                    <a:pt x="0" y="0"/>
                  </a:moveTo>
                  <a:lnTo>
                    <a:pt x="4816592" y="0"/>
                  </a:lnTo>
                  <a:lnTo>
                    <a:pt x="4816592" y="812800"/>
                  </a:lnTo>
                  <a:lnTo>
                    <a:pt x="0" y="812800"/>
                  </a:lnTo>
                  <a:close/>
                </a:path>
              </a:pathLst>
            </a:custGeom>
            <a:solidFill>
              <a:srgbClr val="593EA1"/>
            </a:solidFill>
          </p:spPr>
          <p:txBody>
            <a:bodyPr/>
            <a:lstStyle/>
            <a:p>
              <a:endParaRPr lang="en-US" dirty="0"/>
            </a:p>
          </p:txBody>
        </p:sp>
        <p:sp>
          <p:nvSpPr>
            <p:cNvPr id="4" name="TextBox 4"/>
            <p:cNvSpPr txBox="1"/>
            <p:nvPr/>
          </p:nvSpPr>
          <p:spPr>
            <a:xfrm>
              <a:off x="0" y="-38100"/>
              <a:ext cx="4816593" cy="850900"/>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6">
            <a:extLst>
              <a:ext uri="{FF2B5EF4-FFF2-40B4-BE49-F238E27FC236}">
                <a16:creationId xmlns:a16="http://schemas.microsoft.com/office/drawing/2014/main" id="{1E41CD49-8389-476F-B243-C41A2C90314E}"/>
              </a:ext>
            </a:extLst>
          </p:cNvPr>
          <p:cNvSpPr txBox="1"/>
          <p:nvPr/>
        </p:nvSpPr>
        <p:spPr>
          <a:xfrm>
            <a:off x="6172198" y="632252"/>
            <a:ext cx="5943600" cy="830997"/>
          </a:xfrm>
          <a:prstGeom prst="rect">
            <a:avLst/>
          </a:prstGeom>
          <a:effectLst>
            <a:glow rad="63500">
              <a:schemeClr val="accent1">
                <a:satMod val="175000"/>
                <a:alpha val="40000"/>
              </a:schemeClr>
            </a:glow>
            <a:innerShdw blurRad="63500" dist="50800" dir="16200000">
              <a:prstClr val="black">
                <a:alpha val="50000"/>
              </a:prstClr>
            </a:innerShdw>
          </a:effectLst>
        </p:spPr>
        <p:txBody>
          <a:bodyPr wrap="square" lIns="0" tIns="0" rIns="0" bIns="0" rtlCol="0" anchor="t">
            <a:spAutoFit/>
          </a:bodyPr>
          <a:lstStyle/>
          <a:p>
            <a:pPr algn="ctr"/>
            <a:r>
              <a:rPr lang="vi-VN" sz="5400" b="1">
                <a:solidFill>
                  <a:srgbClr val="A2DFD9"/>
                </a:solidFill>
                <a:latin typeface="Bahnschrift SemiBold" panose="020B0502040204020203" pitchFamily="34" charset="0"/>
                <a:ea typeface="Bubblebody Neue Bold"/>
                <a:cs typeface="Bubblebody Neue Bold"/>
                <a:sym typeface="Bubblebody Neue Bold"/>
              </a:rPr>
              <a:t>Mục tiêu</a:t>
            </a:r>
            <a:endParaRPr lang="en-US" sz="5400" b="1" dirty="0">
              <a:solidFill>
                <a:srgbClr val="A2DFD9"/>
              </a:solidFill>
              <a:latin typeface="Bahnschrift SemiBold" panose="020B0502040204020203" pitchFamily="34" charset="0"/>
              <a:ea typeface="Bubblebody Neue Bold"/>
              <a:cs typeface="Bubblebody Neue Bold"/>
              <a:sym typeface="Bubblebody Neue Bold"/>
            </a:endParaRPr>
          </a:p>
        </p:txBody>
      </p:sp>
      <p:sp>
        <p:nvSpPr>
          <p:cNvPr id="5" name="Rectangle 4">
            <a:extLst>
              <a:ext uri="{FF2B5EF4-FFF2-40B4-BE49-F238E27FC236}">
                <a16:creationId xmlns:a16="http://schemas.microsoft.com/office/drawing/2014/main" id="{F5FBF6A9-810A-4C5D-AB6B-8E7A8BAD9B9A}"/>
              </a:ext>
            </a:extLst>
          </p:cNvPr>
          <p:cNvSpPr/>
          <p:nvPr/>
        </p:nvSpPr>
        <p:spPr>
          <a:xfrm>
            <a:off x="533400" y="2727752"/>
            <a:ext cx="8153400" cy="6986528"/>
          </a:xfrm>
          <a:prstGeom prst="rect">
            <a:avLst/>
          </a:prstGeom>
        </p:spPr>
        <p:txBody>
          <a:bodyPr wrap="square">
            <a:spAutoFit/>
          </a:bodyPr>
          <a:lstStyle/>
          <a:p>
            <a:pPr algn="just"/>
            <a:r>
              <a:rPr lang="vi-VN" sz="3200" b="1" dirty="0"/>
              <a:t>Tương tác tự nhiên:</a:t>
            </a:r>
            <a:r>
              <a:rPr lang="vi-VN" sz="3200" dirty="0"/>
              <a:t> Xây dựng ứng dụng chat với AI thân thiện, sử dụng kỹ thuật NLP để giao tiếp như con người.</a:t>
            </a:r>
          </a:p>
          <a:p>
            <a:pPr algn="just"/>
            <a:r>
              <a:rPr lang="vi-VN" sz="3200" b="1" dirty="0"/>
              <a:t>Phân tích cảm xúc:</a:t>
            </a:r>
            <a:r>
              <a:rPr lang="vi-VN" sz="3200" dirty="0"/>
              <a:t> Ứng dụng mô hình AI để nhận diện trạng thái cảm xúc qua tin nhắn văn bản.</a:t>
            </a:r>
          </a:p>
          <a:p>
            <a:pPr algn="just"/>
            <a:r>
              <a:rPr lang="vi-VN" sz="3200" b="1" dirty="0"/>
              <a:t>Theo dõi tâm trạng:</a:t>
            </a:r>
            <a:r>
              <a:rPr lang="vi-VN" sz="3200" dirty="0"/>
              <a:t> Tích hợp nhật ký và hệ thống thống kê giúp người dùng nhận diện xu hướng cảm xúc theo thời gian.</a:t>
            </a:r>
          </a:p>
          <a:p>
            <a:pPr algn="just"/>
            <a:r>
              <a:rPr lang="vi-VN" sz="3200" b="1" dirty="0"/>
              <a:t>Đề xuất giải pháp:</a:t>
            </a:r>
            <a:r>
              <a:rPr lang="vi-VN" sz="3200" dirty="0"/>
              <a:t> Tự động đưa ra gợi ý cải thiện sức khỏe tinh thần phù hợp với kết quả phân tích.</a:t>
            </a:r>
          </a:p>
          <a:p>
            <a:pPr algn="just"/>
            <a:r>
              <a:rPr lang="vi-VN" sz="3200" b="1" dirty="0"/>
              <a:t>Hỗ trợ toàn diện:</a:t>
            </a:r>
            <a:r>
              <a:rPr lang="vi-VN" sz="3200" dirty="0"/>
              <a:t> Cung cấp tư vấn chuyên gia, thư viện kiến thức và bài tập thiền định.</a:t>
            </a:r>
          </a:p>
        </p:txBody>
      </p:sp>
      <p:pic>
        <p:nvPicPr>
          <p:cNvPr id="9218" name="Picture 2" descr="Chăm sóc sức khỏe tinh thần">
            <a:extLst>
              <a:ext uri="{FF2B5EF4-FFF2-40B4-BE49-F238E27FC236}">
                <a16:creationId xmlns:a16="http://schemas.microsoft.com/office/drawing/2014/main" id="{4AED9668-70BF-44C1-B574-D5EF9016B7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15400" y="3009900"/>
            <a:ext cx="9199426" cy="60995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9840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DF9"/>
        </a:solidFill>
        <a:effectLst/>
      </p:bgPr>
    </p:bg>
    <p:spTree>
      <p:nvGrpSpPr>
        <p:cNvPr id="1" name=""/>
        <p:cNvGrpSpPr/>
        <p:nvPr/>
      </p:nvGrpSpPr>
      <p:grpSpPr>
        <a:xfrm>
          <a:off x="0" y="0"/>
          <a:ext cx="0" cy="0"/>
          <a:chOff x="0" y="0"/>
          <a:chExt cx="0" cy="0"/>
        </a:xfrm>
      </p:grpSpPr>
      <p:sp>
        <p:nvSpPr>
          <p:cNvPr id="4" name="Freeform 4"/>
          <p:cNvSpPr/>
          <p:nvPr/>
        </p:nvSpPr>
        <p:spPr>
          <a:xfrm>
            <a:off x="7543800" y="6456511"/>
            <a:ext cx="3539193" cy="199127"/>
          </a:xfrm>
          <a:custGeom>
            <a:avLst/>
            <a:gdLst/>
            <a:ahLst/>
            <a:cxnLst/>
            <a:rect l="l" t="t" r="r" b="b"/>
            <a:pathLst>
              <a:path w="3539193" h="199127">
                <a:moveTo>
                  <a:pt x="0" y="0"/>
                </a:moveTo>
                <a:lnTo>
                  <a:pt x="3539192" y="0"/>
                </a:lnTo>
                <a:lnTo>
                  <a:pt x="3539192" y="199127"/>
                </a:lnTo>
                <a:lnTo>
                  <a:pt x="0" y="1991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7374403" y="4555295"/>
            <a:ext cx="3539193" cy="199127"/>
          </a:xfrm>
          <a:custGeom>
            <a:avLst/>
            <a:gdLst/>
            <a:ahLst/>
            <a:cxnLst/>
            <a:rect l="l" t="t" r="r" b="b"/>
            <a:pathLst>
              <a:path w="3539193" h="199127">
                <a:moveTo>
                  <a:pt x="0" y="0"/>
                </a:moveTo>
                <a:lnTo>
                  <a:pt x="3539192" y="0"/>
                </a:lnTo>
                <a:lnTo>
                  <a:pt x="3539192" y="199127"/>
                </a:lnTo>
                <a:lnTo>
                  <a:pt x="0" y="1991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1300606" y="327725"/>
            <a:ext cx="5472439" cy="3066788"/>
          </a:xfrm>
          <a:custGeom>
            <a:avLst/>
            <a:gdLst/>
            <a:ahLst/>
            <a:cxnLst/>
            <a:rect l="l" t="t" r="r" b="b"/>
            <a:pathLst>
              <a:path w="5472439" h="3066788">
                <a:moveTo>
                  <a:pt x="0" y="0"/>
                </a:moveTo>
                <a:lnTo>
                  <a:pt x="5472439" y="0"/>
                </a:lnTo>
                <a:lnTo>
                  <a:pt x="5472439" y="3066787"/>
                </a:lnTo>
                <a:lnTo>
                  <a:pt x="0" y="306678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TextBox 9"/>
          <p:cNvSpPr txBox="1"/>
          <p:nvPr/>
        </p:nvSpPr>
        <p:spPr>
          <a:xfrm>
            <a:off x="5196713" y="5992316"/>
            <a:ext cx="7894574" cy="563759"/>
          </a:xfrm>
          <a:prstGeom prst="rect">
            <a:avLst/>
          </a:prstGeom>
        </p:spPr>
        <p:txBody>
          <a:bodyPr lIns="0" tIns="0" rIns="0" bIns="0" rtlCol="0" anchor="t">
            <a:spAutoFit/>
          </a:bodyPr>
          <a:lstStyle/>
          <a:p>
            <a:pPr algn="ctr">
              <a:lnSpc>
                <a:spcPts val="4626"/>
              </a:lnSpc>
            </a:pPr>
            <a:r>
              <a:rPr lang="en-US" sz="3304" b="1" dirty="0">
                <a:solidFill>
                  <a:srgbClr val="FFFDF9"/>
                </a:solidFill>
                <a:latin typeface="Canva Sans Bold"/>
                <a:ea typeface="Canva Sans Bold"/>
                <a:cs typeface="Canva Sans Bold"/>
                <a:sym typeface="Canva Sans Bold"/>
              </a:rPr>
              <a:t>Presented by Samira Hadid</a:t>
            </a:r>
          </a:p>
        </p:txBody>
      </p:sp>
      <p:sp>
        <p:nvSpPr>
          <p:cNvPr id="10" name="Freeform 10"/>
          <p:cNvSpPr/>
          <p:nvPr/>
        </p:nvSpPr>
        <p:spPr>
          <a:xfrm>
            <a:off x="14523081" y="6556075"/>
            <a:ext cx="5472439" cy="3066788"/>
          </a:xfrm>
          <a:custGeom>
            <a:avLst/>
            <a:gdLst/>
            <a:ahLst/>
            <a:cxnLst/>
            <a:rect l="l" t="t" r="r" b="b"/>
            <a:pathLst>
              <a:path w="5472439" h="3066788">
                <a:moveTo>
                  <a:pt x="0" y="0"/>
                </a:moveTo>
                <a:lnTo>
                  <a:pt x="5472438" y="0"/>
                </a:lnTo>
                <a:lnTo>
                  <a:pt x="5472438" y="3066788"/>
                </a:lnTo>
                <a:lnTo>
                  <a:pt x="0" y="306678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TextBox 5">
            <a:extLst>
              <a:ext uri="{FF2B5EF4-FFF2-40B4-BE49-F238E27FC236}">
                <a16:creationId xmlns:a16="http://schemas.microsoft.com/office/drawing/2014/main" id="{58EC4899-98F4-4A35-9962-DED866E498AE}"/>
              </a:ext>
            </a:extLst>
          </p:cNvPr>
          <p:cNvSpPr txBox="1"/>
          <p:nvPr/>
        </p:nvSpPr>
        <p:spPr>
          <a:xfrm>
            <a:off x="4422249" y="4985870"/>
            <a:ext cx="9782294" cy="1238544"/>
          </a:xfrm>
          <a:prstGeom prst="rect">
            <a:avLst/>
          </a:prstGeom>
        </p:spPr>
        <p:txBody>
          <a:bodyPr wrap="square" lIns="0" tIns="0" rIns="0" bIns="0" rtlCol="0" anchor="t">
            <a:spAutoFit/>
          </a:bodyPr>
          <a:lstStyle/>
          <a:p>
            <a:pPr algn="ctr">
              <a:lnSpc>
                <a:spcPts val="10877"/>
              </a:lnSpc>
            </a:pPr>
            <a:r>
              <a:rPr lang="vi-VN" sz="7200" b="1" dirty="0">
                <a:solidFill>
                  <a:srgbClr val="593EA1"/>
                </a:solidFill>
                <a:latin typeface="Bahnschrift SemiBold" panose="020B0502040204020203" pitchFamily="34" charset="0"/>
                <a:ea typeface="Calibri" panose="020F0502020204030204" pitchFamily="34" charset="0"/>
                <a:cs typeface="Calibri" panose="020F0502020204030204" pitchFamily="34" charset="0"/>
                <a:sym typeface="Bubblebody Neue Bold"/>
              </a:rPr>
              <a:t>CÔNG NGHỆ SỬ DỤNG</a:t>
            </a:r>
            <a:endParaRPr lang="en-US" sz="7200" b="1" dirty="0">
              <a:solidFill>
                <a:srgbClr val="593EA1"/>
              </a:solidFill>
              <a:latin typeface="Bahnschrift SemiBold" panose="020B0502040204020203" pitchFamily="34" charset="0"/>
              <a:ea typeface="Calibri" panose="020F0502020204030204" pitchFamily="34" charset="0"/>
              <a:cs typeface="Calibri" panose="020F0502020204030204" pitchFamily="34" charset="0"/>
              <a:sym typeface="Bubblebody Neue Bold"/>
            </a:endParaRPr>
          </a:p>
        </p:txBody>
      </p:sp>
    </p:spTree>
    <p:extLst>
      <p:ext uri="{BB962C8B-B14F-4D97-AF65-F5344CB8AC3E}">
        <p14:creationId xmlns:p14="http://schemas.microsoft.com/office/powerpoint/2010/main" val="4570609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DF9"/>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2095500"/>
            <a:chOff x="0" y="0"/>
            <a:chExt cx="4816593" cy="812800"/>
          </a:xfrm>
        </p:grpSpPr>
        <p:sp>
          <p:nvSpPr>
            <p:cNvPr id="3" name="Freeform 3"/>
            <p:cNvSpPr/>
            <p:nvPr/>
          </p:nvSpPr>
          <p:spPr>
            <a:xfrm>
              <a:off x="0" y="0"/>
              <a:ext cx="4816592" cy="812800"/>
            </a:xfrm>
            <a:custGeom>
              <a:avLst/>
              <a:gdLst/>
              <a:ahLst/>
              <a:cxnLst/>
              <a:rect l="l" t="t" r="r" b="b"/>
              <a:pathLst>
                <a:path w="4816592" h="812800">
                  <a:moveTo>
                    <a:pt x="0" y="0"/>
                  </a:moveTo>
                  <a:lnTo>
                    <a:pt x="4816592" y="0"/>
                  </a:lnTo>
                  <a:lnTo>
                    <a:pt x="4816592" y="812800"/>
                  </a:lnTo>
                  <a:lnTo>
                    <a:pt x="0" y="812800"/>
                  </a:lnTo>
                  <a:close/>
                </a:path>
              </a:pathLst>
            </a:custGeom>
            <a:solidFill>
              <a:srgbClr val="593EA1"/>
            </a:solidFill>
          </p:spPr>
          <p:txBody>
            <a:bodyPr/>
            <a:lstStyle/>
            <a:p>
              <a:endParaRPr lang="en-US" dirty="0"/>
            </a:p>
          </p:txBody>
        </p:sp>
        <p:sp>
          <p:nvSpPr>
            <p:cNvPr id="4" name="TextBox 4"/>
            <p:cNvSpPr txBox="1"/>
            <p:nvPr/>
          </p:nvSpPr>
          <p:spPr>
            <a:xfrm>
              <a:off x="0" y="-38100"/>
              <a:ext cx="4816593" cy="850900"/>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6">
            <a:extLst>
              <a:ext uri="{FF2B5EF4-FFF2-40B4-BE49-F238E27FC236}">
                <a16:creationId xmlns:a16="http://schemas.microsoft.com/office/drawing/2014/main" id="{1E41CD49-8389-476F-B243-C41A2C90314E}"/>
              </a:ext>
            </a:extLst>
          </p:cNvPr>
          <p:cNvSpPr txBox="1"/>
          <p:nvPr/>
        </p:nvSpPr>
        <p:spPr>
          <a:xfrm>
            <a:off x="6172198" y="632252"/>
            <a:ext cx="5943600" cy="830997"/>
          </a:xfrm>
          <a:prstGeom prst="rect">
            <a:avLst/>
          </a:prstGeom>
          <a:effectLst>
            <a:glow rad="63500">
              <a:schemeClr val="accent1">
                <a:satMod val="175000"/>
                <a:alpha val="40000"/>
              </a:schemeClr>
            </a:glow>
            <a:innerShdw blurRad="63500" dist="50800" dir="16200000">
              <a:prstClr val="black">
                <a:alpha val="50000"/>
              </a:prstClr>
            </a:innerShdw>
          </a:effectLst>
        </p:spPr>
        <p:txBody>
          <a:bodyPr wrap="square" lIns="0" tIns="0" rIns="0" bIns="0" rtlCol="0" anchor="t">
            <a:spAutoFit/>
          </a:bodyPr>
          <a:lstStyle/>
          <a:p>
            <a:pPr algn="ctr"/>
            <a:r>
              <a:rPr lang="vi-VN" sz="5400" b="1" dirty="0">
                <a:solidFill>
                  <a:srgbClr val="A2DFD9"/>
                </a:solidFill>
                <a:latin typeface="Bahnschrift SemiBold" panose="020B0502040204020203" pitchFamily="34" charset="0"/>
                <a:ea typeface="Bubblebody Neue Bold"/>
                <a:cs typeface="Bubblebody Neue Bold"/>
                <a:sym typeface="Bubblebody Neue Bold"/>
              </a:rPr>
              <a:t>FRONT - END</a:t>
            </a:r>
            <a:endParaRPr lang="en-US" sz="5400" b="1" dirty="0">
              <a:solidFill>
                <a:srgbClr val="A2DFD9"/>
              </a:solidFill>
              <a:latin typeface="Bahnschrift SemiBold" panose="020B0502040204020203" pitchFamily="34" charset="0"/>
              <a:ea typeface="Bubblebody Neue Bold"/>
              <a:cs typeface="Bubblebody Neue Bold"/>
              <a:sym typeface="Bubblebody Neue Bold"/>
            </a:endParaRPr>
          </a:p>
        </p:txBody>
      </p:sp>
      <p:pic>
        <p:nvPicPr>
          <p:cNvPr id="3074" name="Picture 2">
            <a:extLst>
              <a:ext uri="{FF2B5EF4-FFF2-40B4-BE49-F238E27FC236}">
                <a16:creationId xmlns:a16="http://schemas.microsoft.com/office/drawing/2014/main" id="{56D11EE9-F4E9-450F-AA86-B374829A62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63466" y="3009900"/>
            <a:ext cx="12361068" cy="652263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E5DFDA2E-5B31-4D54-816E-C45D0838FD4A}"/>
              </a:ext>
            </a:extLst>
          </p:cNvPr>
          <p:cNvSpPr/>
          <p:nvPr/>
        </p:nvSpPr>
        <p:spPr>
          <a:xfrm>
            <a:off x="677466" y="3314700"/>
            <a:ext cx="4572000" cy="5016758"/>
          </a:xfrm>
          <a:prstGeom prst="rect">
            <a:avLst/>
          </a:prstGeom>
        </p:spPr>
        <p:txBody>
          <a:bodyPr wrap="square">
            <a:spAutoFit/>
          </a:bodyPr>
          <a:lstStyle/>
          <a:p>
            <a:pPr lvl="0" algn="just" eaLnBrk="0" fontAlgn="base" hangingPunct="0">
              <a:spcBef>
                <a:spcPct val="0"/>
              </a:spcBef>
              <a:spcAft>
                <a:spcPct val="0"/>
              </a:spcAft>
            </a:pPr>
            <a:r>
              <a:rPr lang="vi-VN" altLang="en-US" sz="4000" dirty="0">
                <a:latin typeface="Calibri" panose="020F0502020204030204" pitchFamily="34" charset="0"/>
                <a:ea typeface="Calibri" panose="020F0502020204030204" pitchFamily="34" charset="0"/>
                <a:cs typeface="Calibri" panose="020F0502020204030204" pitchFamily="34" charset="0"/>
              </a:rPr>
              <a:t>	</a:t>
            </a:r>
            <a:r>
              <a:rPr lang="vi-VN" sz="4000" b="1" dirty="0"/>
              <a:t>React</a:t>
            </a:r>
            <a:r>
              <a:rPr lang="vi-VN" sz="4000" dirty="0"/>
              <a:t> để xây dựng cấu trúc ứng dụng theo dạng Component, giúp code gọn gàng và website chạy mượt mà hơn nhờ cơ chế SPA.</a:t>
            </a:r>
            <a:endParaRPr lang="en-US" altLang="en-US" sz="4000" dirty="0">
              <a:latin typeface="Calibri" panose="020F0502020204030204" pitchFamily="34" charset="0"/>
              <a:ea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F8DC0721-D69F-4A8C-8805-8873A7F42A92}"/>
              </a:ext>
            </a:extLst>
          </p:cNvPr>
          <p:cNvSpPr/>
          <p:nvPr/>
        </p:nvSpPr>
        <p:spPr>
          <a:xfrm>
            <a:off x="13038536" y="3294638"/>
            <a:ext cx="4572000" cy="4401205"/>
          </a:xfrm>
          <a:prstGeom prst="rect">
            <a:avLst/>
          </a:prstGeom>
        </p:spPr>
        <p:txBody>
          <a:bodyPr wrap="square">
            <a:spAutoFit/>
          </a:bodyPr>
          <a:lstStyle/>
          <a:p>
            <a:pPr lvl="0" algn="just" eaLnBrk="0" fontAlgn="base" hangingPunct="0">
              <a:spcBef>
                <a:spcPct val="0"/>
              </a:spcBef>
              <a:spcAft>
                <a:spcPct val="0"/>
              </a:spcAft>
            </a:pPr>
            <a:r>
              <a:rPr lang="vi-VN" altLang="en-US" sz="4000" dirty="0">
                <a:latin typeface="Calibri" panose="020F0502020204030204" pitchFamily="34" charset="0"/>
                <a:ea typeface="Calibri" panose="020F0502020204030204" pitchFamily="34" charset="0"/>
                <a:cs typeface="Calibri" panose="020F0502020204030204" pitchFamily="34" charset="0"/>
              </a:rPr>
              <a:t>	</a:t>
            </a:r>
            <a:r>
              <a:rPr lang="en-US" sz="4000" b="1" dirty="0">
                <a:latin typeface="Arial" panose="020B0604020202020204" pitchFamily="34" charset="0"/>
                <a:cs typeface="Arial" panose="020B0604020202020204" pitchFamily="34" charset="0"/>
              </a:rPr>
              <a:t>Bootstrap</a:t>
            </a:r>
            <a:r>
              <a:rPr lang="en-US" sz="4000" dirty="0">
                <a:latin typeface="Arial" panose="020B0604020202020204" pitchFamily="34" charset="0"/>
                <a:cs typeface="Arial" panose="020B0604020202020204" pitchFamily="34" charset="0"/>
              </a:rPr>
              <a:t> </a:t>
            </a:r>
            <a:r>
              <a:rPr lang="en-US" sz="4000" dirty="0" err="1">
                <a:latin typeface="Arial" panose="020B0604020202020204" pitchFamily="34" charset="0"/>
                <a:cs typeface="Arial" panose="020B0604020202020204" pitchFamily="34" charset="0"/>
              </a:rPr>
              <a:t>để</a:t>
            </a:r>
            <a:r>
              <a:rPr lang="en-US" sz="4000" dirty="0">
                <a:latin typeface="Arial" panose="020B0604020202020204" pitchFamily="34" charset="0"/>
                <a:cs typeface="Arial" panose="020B0604020202020204" pitchFamily="34" charset="0"/>
              </a:rPr>
              <a:t> </a:t>
            </a:r>
            <a:r>
              <a:rPr lang="en-US" sz="4000" dirty="0" err="1">
                <a:latin typeface="Arial" panose="020B0604020202020204" pitchFamily="34" charset="0"/>
                <a:cs typeface="Arial" panose="020B0604020202020204" pitchFamily="34" charset="0"/>
              </a:rPr>
              <a:t>xử</a:t>
            </a:r>
            <a:r>
              <a:rPr lang="en-US" sz="4000" dirty="0">
                <a:latin typeface="Arial" panose="020B0604020202020204" pitchFamily="34" charset="0"/>
                <a:cs typeface="Arial" panose="020B0604020202020204" pitchFamily="34" charset="0"/>
              </a:rPr>
              <a:t> </a:t>
            </a:r>
            <a:r>
              <a:rPr lang="en-US" sz="4000" dirty="0" err="1">
                <a:latin typeface="Arial" panose="020B0604020202020204" pitchFamily="34" charset="0"/>
                <a:cs typeface="Arial" panose="020B0604020202020204" pitchFamily="34" charset="0"/>
              </a:rPr>
              <a:t>lý</a:t>
            </a:r>
            <a:r>
              <a:rPr lang="en-US" sz="4000" dirty="0">
                <a:latin typeface="Arial" panose="020B0604020202020204" pitchFamily="34" charset="0"/>
                <a:cs typeface="Arial" panose="020B0604020202020204" pitchFamily="34" charset="0"/>
              </a:rPr>
              <a:t> </a:t>
            </a:r>
            <a:r>
              <a:rPr lang="en-US" sz="4000" dirty="0" err="1">
                <a:latin typeface="Arial" panose="020B0604020202020204" pitchFamily="34" charset="0"/>
                <a:cs typeface="Arial" panose="020B0604020202020204" pitchFamily="34" charset="0"/>
              </a:rPr>
              <a:t>giao</a:t>
            </a:r>
            <a:r>
              <a:rPr lang="en-US" sz="4000" dirty="0">
                <a:latin typeface="Arial" panose="020B0604020202020204" pitchFamily="34" charset="0"/>
                <a:cs typeface="Arial" panose="020B0604020202020204" pitchFamily="34" charset="0"/>
              </a:rPr>
              <a:t> </a:t>
            </a:r>
            <a:r>
              <a:rPr lang="en-US" sz="4000" dirty="0" err="1">
                <a:latin typeface="Arial" panose="020B0604020202020204" pitchFamily="34" charset="0"/>
                <a:cs typeface="Arial" panose="020B0604020202020204" pitchFamily="34" charset="0"/>
              </a:rPr>
              <a:t>diện</a:t>
            </a:r>
            <a:r>
              <a:rPr lang="en-US" sz="4000" dirty="0">
                <a:latin typeface="Arial" panose="020B0604020202020204" pitchFamily="34" charset="0"/>
                <a:cs typeface="Arial" panose="020B0604020202020204" pitchFamily="34" charset="0"/>
              </a:rPr>
              <a:t> Responsive, </a:t>
            </a:r>
            <a:r>
              <a:rPr lang="en-US" sz="4000" dirty="0" err="1">
                <a:latin typeface="Arial" panose="020B0604020202020204" pitchFamily="34" charset="0"/>
                <a:cs typeface="Arial" panose="020B0604020202020204" pitchFamily="34" charset="0"/>
              </a:rPr>
              <a:t>đảm</a:t>
            </a:r>
            <a:r>
              <a:rPr lang="en-US" sz="4000" dirty="0">
                <a:latin typeface="Arial" panose="020B0604020202020204" pitchFamily="34" charset="0"/>
                <a:cs typeface="Arial" panose="020B0604020202020204" pitchFamily="34" charset="0"/>
              </a:rPr>
              <a:t> </a:t>
            </a:r>
            <a:r>
              <a:rPr lang="en-US" sz="4000" dirty="0" err="1">
                <a:latin typeface="Arial" panose="020B0604020202020204" pitchFamily="34" charset="0"/>
                <a:cs typeface="Arial" panose="020B0604020202020204" pitchFamily="34" charset="0"/>
              </a:rPr>
              <a:t>bảo</a:t>
            </a:r>
            <a:r>
              <a:rPr lang="en-US" sz="4000" dirty="0">
                <a:latin typeface="Arial" panose="020B0604020202020204" pitchFamily="34" charset="0"/>
                <a:cs typeface="Arial" panose="020B0604020202020204" pitchFamily="34" charset="0"/>
              </a:rPr>
              <a:t> </a:t>
            </a:r>
            <a:r>
              <a:rPr lang="en-US" sz="4000" dirty="0" err="1">
                <a:latin typeface="Arial" panose="020B0604020202020204" pitchFamily="34" charset="0"/>
                <a:cs typeface="Arial" panose="020B0604020202020204" pitchFamily="34" charset="0"/>
              </a:rPr>
              <a:t>ứng</a:t>
            </a:r>
            <a:r>
              <a:rPr lang="en-US" sz="4000" dirty="0">
                <a:latin typeface="Arial" panose="020B0604020202020204" pitchFamily="34" charset="0"/>
                <a:cs typeface="Arial" panose="020B0604020202020204" pitchFamily="34" charset="0"/>
              </a:rPr>
              <a:t> </a:t>
            </a:r>
            <a:r>
              <a:rPr lang="en-US" sz="4000" dirty="0" err="1">
                <a:latin typeface="Arial" panose="020B0604020202020204" pitchFamily="34" charset="0"/>
                <a:cs typeface="Arial" panose="020B0604020202020204" pitchFamily="34" charset="0"/>
              </a:rPr>
              <a:t>dụng</a:t>
            </a:r>
            <a:r>
              <a:rPr lang="en-US" sz="4000" dirty="0">
                <a:latin typeface="Arial" panose="020B0604020202020204" pitchFamily="34" charset="0"/>
                <a:cs typeface="Arial" panose="020B0604020202020204" pitchFamily="34" charset="0"/>
              </a:rPr>
              <a:t> </a:t>
            </a:r>
            <a:r>
              <a:rPr lang="en-US" sz="4000" dirty="0" err="1">
                <a:latin typeface="Arial" panose="020B0604020202020204" pitchFamily="34" charset="0"/>
                <a:cs typeface="Arial" panose="020B0604020202020204" pitchFamily="34" charset="0"/>
              </a:rPr>
              <a:t>hiển</a:t>
            </a:r>
            <a:r>
              <a:rPr lang="en-US" sz="4000" dirty="0">
                <a:latin typeface="Arial" panose="020B0604020202020204" pitchFamily="34" charset="0"/>
                <a:cs typeface="Arial" panose="020B0604020202020204" pitchFamily="34" charset="0"/>
              </a:rPr>
              <a:t> </a:t>
            </a:r>
            <a:r>
              <a:rPr lang="en-US" sz="4000" dirty="0" err="1">
                <a:latin typeface="Arial" panose="020B0604020202020204" pitchFamily="34" charset="0"/>
                <a:cs typeface="Arial" panose="020B0604020202020204" pitchFamily="34" charset="0"/>
              </a:rPr>
              <a:t>thị</a:t>
            </a:r>
            <a:r>
              <a:rPr lang="en-US" sz="4000" dirty="0">
                <a:latin typeface="Arial" panose="020B0604020202020204" pitchFamily="34" charset="0"/>
                <a:cs typeface="Arial" panose="020B0604020202020204" pitchFamily="34" charset="0"/>
              </a:rPr>
              <a:t> </a:t>
            </a:r>
            <a:r>
              <a:rPr lang="en-US" sz="4000" dirty="0" err="1">
                <a:latin typeface="Arial" panose="020B0604020202020204" pitchFamily="34" charset="0"/>
                <a:cs typeface="Arial" panose="020B0604020202020204" pitchFamily="34" charset="0"/>
              </a:rPr>
              <a:t>tốt</a:t>
            </a:r>
            <a:r>
              <a:rPr lang="en-US" sz="4000" dirty="0">
                <a:latin typeface="Arial" panose="020B0604020202020204" pitchFamily="34" charset="0"/>
                <a:cs typeface="Arial" panose="020B0604020202020204" pitchFamily="34" charset="0"/>
              </a:rPr>
              <a:t> </a:t>
            </a:r>
            <a:r>
              <a:rPr lang="en-US" sz="4000" dirty="0" err="1">
                <a:latin typeface="Arial" panose="020B0604020202020204" pitchFamily="34" charset="0"/>
                <a:cs typeface="Arial" panose="020B0604020202020204" pitchFamily="34" charset="0"/>
              </a:rPr>
              <a:t>trên</a:t>
            </a:r>
            <a:r>
              <a:rPr lang="en-US" sz="4000" dirty="0">
                <a:latin typeface="Arial" panose="020B0604020202020204" pitchFamily="34" charset="0"/>
                <a:cs typeface="Arial" panose="020B0604020202020204" pitchFamily="34" charset="0"/>
              </a:rPr>
              <a:t> </a:t>
            </a:r>
            <a:r>
              <a:rPr lang="en-US" sz="4000" dirty="0" err="1">
                <a:latin typeface="Arial" panose="020B0604020202020204" pitchFamily="34" charset="0"/>
                <a:cs typeface="Arial" panose="020B0604020202020204" pitchFamily="34" charset="0"/>
              </a:rPr>
              <a:t>mọi</a:t>
            </a:r>
            <a:r>
              <a:rPr lang="en-US" sz="4000" dirty="0">
                <a:latin typeface="Arial" panose="020B0604020202020204" pitchFamily="34" charset="0"/>
                <a:cs typeface="Arial" panose="020B0604020202020204" pitchFamily="34" charset="0"/>
              </a:rPr>
              <a:t> </a:t>
            </a:r>
            <a:r>
              <a:rPr lang="en-US" sz="4000" dirty="0" err="1">
                <a:latin typeface="Arial" panose="020B0604020202020204" pitchFamily="34" charset="0"/>
                <a:cs typeface="Arial" panose="020B0604020202020204" pitchFamily="34" charset="0"/>
              </a:rPr>
              <a:t>thiết</a:t>
            </a:r>
            <a:r>
              <a:rPr lang="en-US" sz="4000" dirty="0">
                <a:latin typeface="Arial" panose="020B0604020202020204" pitchFamily="34" charset="0"/>
                <a:cs typeface="Arial" panose="020B0604020202020204" pitchFamily="34" charset="0"/>
              </a:rPr>
              <a:t> </a:t>
            </a:r>
            <a:r>
              <a:rPr lang="en-US" sz="4000" dirty="0" err="1">
                <a:latin typeface="Arial" panose="020B0604020202020204" pitchFamily="34" charset="0"/>
                <a:cs typeface="Arial" panose="020B0604020202020204" pitchFamily="34" charset="0"/>
              </a:rPr>
              <a:t>bị</a:t>
            </a:r>
            <a:r>
              <a:rPr lang="en-US" sz="4000" dirty="0">
                <a:latin typeface="Arial" panose="020B0604020202020204" pitchFamily="34" charset="0"/>
                <a:cs typeface="Arial" panose="020B0604020202020204" pitchFamily="34" charset="0"/>
              </a:rPr>
              <a:t> </a:t>
            </a:r>
            <a:r>
              <a:rPr lang="en-US" sz="4000" dirty="0" err="1">
                <a:latin typeface="Arial" panose="020B0604020202020204" pitchFamily="34" charset="0"/>
                <a:cs typeface="Arial" panose="020B0604020202020204" pitchFamily="34" charset="0"/>
              </a:rPr>
              <a:t>và</a:t>
            </a:r>
            <a:r>
              <a:rPr lang="en-US" sz="4000" dirty="0">
                <a:latin typeface="Arial" panose="020B0604020202020204" pitchFamily="34" charset="0"/>
                <a:cs typeface="Arial" panose="020B0604020202020204" pitchFamily="34" charset="0"/>
              </a:rPr>
              <a:t> </a:t>
            </a:r>
            <a:r>
              <a:rPr lang="en-US" sz="4000" dirty="0" err="1">
                <a:latin typeface="Arial" panose="020B0604020202020204" pitchFamily="34" charset="0"/>
                <a:cs typeface="Arial" panose="020B0604020202020204" pitchFamily="34" charset="0"/>
              </a:rPr>
              <a:t>rút</a:t>
            </a:r>
            <a:r>
              <a:rPr lang="en-US" sz="4000" dirty="0">
                <a:latin typeface="Arial" panose="020B0604020202020204" pitchFamily="34" charset="0"/>
                <a:cs typeface="Arial" panose="020B0604020202020204" pitchFamily="34" charset="0"/>
              </a:rPr>
              <a:t> </a:t>
            </a:r>
            <a:r>
              <a:rPr lang="en-US" sz="4000" dirty="0" err="1">
                <a:latin typeface="Arial" panose="020B0604020202020204" pitchFamily="34" charset="0"/>
                <a:cs typeface="Arial" panose="020B0604020202020204" pitchFamily="34" charset="0"/>
              </a:rPr>
              <a:t>ngắn</a:t>
            </a:r>
            <a:r>
              <a:rPr lang="en-US" sz="4000" dirty="0">
                <a:latin typeface="Arial" panose="020B0604020202020204" pitchFamily="34" charset="0"/>
                <a:cs typeface="Arial" panose="020B0604020202020204" pitchFamily="34" charset="0"/>
              </a:rPr>
              <a:t> </a:t>
            </a:r>
            <a:r>
              <a:rPr lang="en-US" sz="4000" dirty="0" err="1">
                <a:latin typeface="Arial" panose="020B0604020202020204" pitchFamily="34" charset="0"/>
                <a:cs typeface="Arial" panose="020B0604020202020204" pitchFamily="34" charset="0"/>
              </a:rPr>
              <a:t>thời</a:t>
            </a:r>
            <a:r>
              <a:rPr lang="en-US" sz="4000" dirty="0">
                <a:latin typeface="Arial" panose="020B0604020202020204" pitchFamily="34" charset="0"/>
                <a:cs typeface="Arial" panose="020B0604020202020204" pitchFamily="34" charset="0"/>
              </a:rPr>
              <a:t> </a:t>
            </a:r>
            <a:r>
              <a:rPr lang="en-US" sz="4000" dirty="0" err="1">
                <a:latin typeface="Arial" panose="020B0604020202020204" pitchFamily="34" charset="0"/>
                <a:cs typeface="Arial" panose="020B0604020202020204" pitchFamily="34" charset="0"/>
              </a:rPr>
              <a:t>gian</a:t>
            </a:r>
            <a:r>
              <a:rPr lang="en-US" sz="4000" dirty="0">
                <a:latin typeface="Arial" panose="020B0604020202020204" pitchFamily="34" charset="0"/>
                <a:cs typeface="Arial" panose="020B0604020202020204" pitchFamily="34" charset="0"/>
              </a:rPr>
              <a:t> </a:t>
            </a:r>
            <a:r>
              <a:rPr lang="en-US" sz="4000" dirty="0" err="1">
                <a:latin typeface="Arial" panose="020B0604020202020204" pitchFamily="34" charset="0"/>
                <a:cs typeface="Arial" panose="020B0604020202020204" pitchFamily="34" charset="0"/>
              </a:rPr>
              <a:t>thiết</a:t>
            </a:r>
            <a:r>
              <a:rPr lang="en-US" sz="4000" dirty="0">
                <a:latin typeface="Arial" panose="020B0604020202020204" pitchFamily="34" charset="0"/>
                <a:cs typeface="Arial" panose="020B0604020202020204" pitchFamily="34" charset="0"/>
              </a:rPr>
              <a:t> </a:t>
            </a:r>
            <a:r>
              <a:rPr lang="en-US" sz="4000" dirty="0" err="1">
                <a:latin typeface="Arial" panose="020B0604020202020204" pitchFamily="34" charset="0"/>
                <a:cs typeface="Arial" panose="020B0604020202020204" pitchFamily="34" charset="0"/>
              </a:rPr>
              <a:t>kế</a:t>
            </a:r>
            <a:r>
              <a:rPr lang="en-US" sz="4000" dirty="0">
                <a:latin typeface="Arial" panose="020B0604020202020204" pitchFamily="34" charset="0"/>
                <a:cs typeface="Arial" panose="020B0604020202020204" pitchFamily="34" charset="0"/>
              </a:rPr>
              <a:t> UI.</a:t>
            </a:r>
            <a:endParaRPr lang="en-US" altLang="en-US" sz="4000" dirty="0">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2326244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DF9"/>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2095500"/>
            <a:chOff x="0" y="0"/>
            <a:chExt cx="4816593" cy="812800"/>
          </a:xfrm>
        </p:grpSpPr>
        <p:sp>
          <p:nvSpPr>
            <p:cNvPr id="3" name="Freeform 3"/>
            <p:cNvSpPr/>
            <p:nvPr/>
          </p:nvSpPr>
          <p:spPr>
            <a:xfrm>
              <a:off x="0" y="0"/>
              <a:ext cx="4816592" cy="812800"/>
            </a:xfrm>
            <a:custGeom>
              <a:avLst/>
              <a:gdLst/>
              <a:ahLst/>
              <a:cxnLst/>
              <a:rect l="l" t="t" r="r" b="b"/>
              <a:pathLst>
                <a:path w="4816592" h="812800">
                  <a:moveTo>
                    <a:pt x="0" y="0"/>
                  </a:moveTo>
                  <a:lnTo>
                    <a:pt x="4816592" y="0"/>
                  </a:lnTo>
                  <a:lnTo>
                    <a:pt x="4816592" y="812800"/>
                  </a:lnTo>
                  <a:lnTo>
                    <a:pt x="0" y="812800"/>
                  </a:lnTo>
                  <a:close/>
                </a:path>
              </a:pathLst>
            </a:custGeom>
            <a:solidFill>
              <a:srgbClr val="593EA1"/>
            </a:solidFill>
          </p:spPr>
          <p:txBody>
            <a:bodyPr/>
            <a:lstStyle/>
            <a:p>
              <a:endParaRPr lang="en-US" dirty="0"/>
            </a:p>
          </p:txBody>
        </p:sp>
        <p:sp>
          <p:nvSpPr>
            <p:cNvPr id="4" name="TextBox 4"/>
            <p:cNvSpPr txBox="1"/>
            <p:nvPr/>
          </p:nvSpPr>
          <p:spPr>
            <a:xfrm>
              <a:off x="0" y="-38100"/>
              <a:ext cx="4816593" cy="850900"/>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6">
            <a:extLst>
              <a:ext uri="{FF2B5EF4-FFF2-40B4-BE49-F238E27FC236}">
                <a16:creationId xmlns:a16="http://schemas.microsoft.com/office/drawing/2014/main" id="{1E41CD49-8389-476F-B243-C41A2C90314E}"/>
              </a:ext>
            </a:extLst>
          </p:cNvPr>
          <p:cNvSpPr txBox="1"/>
          <p:nvPr/>
        </p:nvSpPr>
        <p:spPr>
          <a:xfrm>
            <a:off x="6172198" y="632252"/>
            <a:ext cx="5943600" cy="830997"/>
          </a:xfrm>
          <a:prstGeom prst="rect">
            <a:avLst/>
          </a:prstGeom>
          <a:effectLst>
            <a:glow rad="63500">
              <a:schemeClr val="accent1">
                <a:satMod val="175000"/>
                <a:alpha val="40000"/>
              </a:schemeClr>
            </a:glow>
            <a:innerShdw blurRad="63500" dist="50800" dir="16200000">
              <a:prstClr val="black">
                <a:alpha val="50000"/>
              </a:prstClr>
            </a:innerShdw>
          </a:effectLst>
        </p:spPr>
        <p:txBody>
          <a:bodyPr wrap="square" lIns="0" tIns="0" rIns="0" bIns="0" rtlCol="0" anchor="t">
            <a:spAutoFit/>
          </a:bodyPr>
          <a:lstStyle/>
          <a:p>
            <a:pPr algn="ctr"/>
            <a:r>
              <a:rPr lang="vi-VN" sz="5400" b="1" dirty="0">
                <a:solidFill>
                  <a:srgbClr val="A2DFD9"/>
                </a:solidFill>
                <a:latin typeface="Bahnschrift SemiBold" panose="020B0502040204020203" pitchFamily="34" charset="0"/>
                <a:ea typeface="Bubblebody Neue Bold"/>
                <a:cs typeface="Bubblebody Neue Bold"/>
                <a:sym typeface="Bubblebody Neue Bold"/>
              </a:rPr>
              <a:t>BACK - END</a:t>
            </a:r>
            <a:endParaRPr lang="en-US" sz="5400" b="1" dirty="0">
              <a:solidFill>
                <a:srgbClr val="A2DFD9"/>
              </a:solidFill>
              <a:latin typeface="Bahnschrift SemiBold" panose="020B0502040204020203" pitchFamily="34" charset="0"/>
              <a:ea typeface="Bubblebody Neue Bold"/>
              <a:cs typeface="Bubblebody Neue Bold"/>
              <a:sym typeface="Bubblebody Neue Bold"/>
            </a:endParaRPr>
          </a:p>
        </p:txBody>
      </p:sp>
      <p:pic>
        <p:nvPicPr>
          <p:cNvPr id="6146" name="Picture 2" descr="What are the prime differences between Node JS and Express JS | by A Smith  | Medium">
            <a:extLst>
              <a:ext uri="{FF2B5EF4-FFF2-40B4-BE49-F238E27FC236}">
                <a16:creationId xmlns:a16="http://schemas.microsoft.com/office/drawing/2014/main" id="{88C3E081-446E-46CE-9A1C-05268F9D0A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2727752"/>
            <a:ext cx="8997351" cy="6368912"/>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a:extLst>
              <a:ext uri="{FF2B5EF4-FFF2-40B4-BE49-F238E27FC236}">
                <a16:creationId xmlns:a16="http://schemas.microsoft.com/office/drawing/2014/main" id="{BB75F3CB-B6DA-4103-AAD6-6EECCFAA7105}"/>
              </a:ext>
            </a:extLst>
          </p:cNvPr>
          <p:cNvSpPr/>
          <p:nvPr/>
        </p:nvSpPr>
        <p:spPr>
          <a:xfrm>
            <a:off x="10374702" y="2727752"/>
            <a:ext cx="7600956" cy="3170099"/>
          </a:xfrm>
          <a:prstGeom prst="rect">
            <a:avLst/>
          </a:prstGeom>
        </p:spPr>
        <p:txBody>
          <a:bodyPr wrap="square">
            <a:spAutoFit/>
          </a:bodyPr>
          <a:lstStyle/>
          <a:p>
            <a:pPr lvl="0" algn="just" eaLnBrk="0" fontAlgn="base" hangingPunct="0">
              <a:spcBef>
                <a:spcPct val="0"/>
              </a:spcBef>
              <a:spcAft>
                <a:spcPct val="0"/>
              </a:spcAft>
            </a:pPr>
            <a:r>
              <a:rPr lang="vi-VN" altLang="en-US" sz="4000" dirty="0">
                <a:latin typeface="Calibri" panose="020F0502020204030204" pitchFamily="34" charset="0"/>
                <a:ea typeface="Calibri" panose="020F0502020204030204" pitchFamily="34" charset="0"/>
                <a:cs typeface="Calibri" panose="020F0502020204030204" pitchFamily="34" charset="0"/>
              </a:rPr>
              <a:t>	</a:t>
            </a:r>
            <a:r>
              <a:rPr lang="vi-VN" sz="4000" b="1" dirty="0"/>
              <a:t>Node.js</a:t>
            </a:r>
            <a:r>
              <a:rPr lang="vi-VN" sz="4000" dirty="0"/>
              <a:t> đóng vai trò là môi trường chạy (Runtime) cốt lõi, tận dụng cơ chế bất đồng bộ để xử lý các tác vụ và duy trì kết nối với AI Service.</a:t>
            </a:r>
            <a:endParaRPr lang="en-US" altLang="en-US" sz="4000" dirty="0">
              <a:latin typeface="Calibri" panose="020F0502020204030204" pitchFamily="34" charset="0"/>
              <a:ea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80BB8731-3C21-4B1F-B576-7FC1C741F444}"/>
              </a:ext>
            </a:extLst>
          </p:cNvPr>
          <p:cNvSpPr/>
          <p:nvPr/>
        </p:nvSpPr>
        <p:spPr>
          <a:xfrm>
            <a:off x="10374702" y="6286500"/>
            <a:ext cx="7600956" cy="3170099"/>
          </a:xfrm>
          <a:prstGeom prst="rect">
            <a:avLst/>
          </a:prstGeom>
        </p:spPr>
        <p:txBody>
          <a:bodyPr wrap="square">
            <a:spAutoFit/>
          </a:bodyPr>
          <a:lstStyle/>
          <a:p>
            <a:pPr lvl="0" algn="just" eaLnBrk="0" fontAlgn="base" hangingPunct="0">
              <a:spcBef>
                <a:spcPct val="0"/>
              </a:spcBef>
              <a:spcAft>
                <a:spcPct val="0"/>
              </a:spcAft>
            </a:pPr>
            <a:r>
              <a:rPr lang="vi-VN" altLang="en-US" sz="4000" dirty="0">
                <a:latin typeface="Calibri" panose="020F0502020204030204" pitchFamily="34" charset="0"/>
                <a:ea typeface="Calibri" panose="020F0502020204030204" pitchFamily="34" charset="0"/>
                <a:cs typeface="Calibri" panose="020F0502020204030204" pitchFamily="34" charset="0"/>
              </a:rPr>
              <a:t>	</a:t>
            </a:r>
            <a:r>
              <a:rPr lang="vi-VN" sz="4000" b="1" dirty="0"/>
              <a:t>Express </a:t>
            </a:r>
            <a:r>
              <a:rPr lang="vi-VN" sz="4000" dirty="0"/>
              <a:t>giúp chuẩn hóa việc quản lý định tuyến (Routing) và xử lý các lớp bảo mật trung gian (Middleware) một cách hiệu quả.</a:t>
            </a:r>
            <a:endParaRPr lang="en-US" altLang="en-US" sz="4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164822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DF9"/>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2095500"/>
            <a:chOff x="0" y="0"/>
            <a:chExt cx="4816593" cy="812800"/>
          </a:xfrm>
        </p:grpSpPr>
        <p:sp>
          <p:nvSpPr>
            <p:cNvPr id="3" name="Freeform 3"/>
            <p:cNvSpPr/>
            <p:nvPr/>
          </p:nvSpPr>
          <p:spPr>
            <a:xfrm>
              <a:off x="0" y="0"/>
              <a:ext cx="4816592" cy="812800"/>
            </a:xfrm>
            <a:custGeom>
              <a:avLst/>
              <a:gdLst/>
              <a:ahLst/>
              <a:cxnLst/>
              <a:rect l="l" t="t" r="r" b="b"/>
              <a:pathLst>
                <a:path w="4816592" h="812800">
                  <a:moveTo>
                    <a:pt x="0" y="0"/>
                  </a:moveTo>
                  <a:lnTo>
                    <a:pt x="4816592" y="0"/>
                  </a:lnTo>
                  <a:lnTo>
                    <a:pt x="4816592" y="812800"/>
                  </a:lnTo>
                  <a:lnTo>
                    <a:pt x="0" y="812800"/>
                  </a:lnTo>
                  <a:close/>
                </a:path>
              </a:pathLst>
            </a:custGeom>
            <a:solidFill>
              <a:srgbClr val="593EA1"/>
            </a:solidFill>
          </p:spPr>
          <p:txBody>
            <a:bodyPr/>
            <a:lstStyle/>
            <a:p>
              <a:endParaRPr lang="en-US" dirty="0"/>
            </a:p>
          </p:txBody>
        </p:sp>
        <p:sp>
          <p:nvSpPr>
            <p:cNvPr id="4" name="TextBox 4"/>
            <p:cNvSpPr txBox="1"/>
            <p:nvPr/>
          </p:nvSpPr>
          <p:spPr>
            <a:xfrm>
              <a:off x="0" y="-38100"/>
              <a:ext cx="4816593" cy="850900"/>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6">
            <a:extLst>
              <a:ext uri="{FF2B5EF4-FFF2-40B4-BE49-F238E27FC236}">
                <a16:creationId xmlns:a16="http://schemas.microsoft.com/office/drawing/2014/main" id="{1E41CD49-8389-476F-B243-C41A2C90314E}"/>
              </a:ext>
            </a:extLst>
          </p:cNvPr>
          <p:cNvSpPr txBox="1"/>
          <p:nvPr/>
        </p:nvSpPr>
        <p:spPr>
          <a:xfrm>
            <a:off x="6172198" y="632252"/>
            <a:ext cx="5943600" cy="830997"/>
          </a:xfrm>
          <a:prstGeom prst="rect">
            <a:avLst/>
          </a:prstGeom>
          <a:effectLst>
            <a:glow rad="63500">
              <a:schemeClr val="accent1">
                <a:satMod val="175000"/>
                <a:alpha val="40000"/>
              </a:schemeClr>
            </a:glow>
            <a:innerShdw blurRad="63500" dist="50800" dir="16200000">
              <a:prstClr val="black">
                <a:alpha val="50000"/>
              </a:prstClr>
            </a:innerShdw>
          </a:effectLst>
        </p:spPr>
        <p:txBody>
          <a:bodyPr wrap="square" lIns="0" tIns="0" rIns="0" bIns="0" rtlCol="0" anchor="t">
            <a:spAutoFit/>
          </a:bodyPr>
          <a:lstStyle/>
          <a:p>
            <a:pPr algn="ctr"/>
            <a:r>
              <a:rPr lang="vi-VN" sz="5400" b="1" dirty="0">
                <a:solidFill>
                  <a:srgbClr val="A2DFD9"/>
                </a:solidFill>
                <a:latin typeface="Bahnschrift SemiBold" panose="020B0502040204020203" pitchFamily="34" charset="0"/>
                <a:ea typeface="Bubblebody Neue Bold"/>
                <a:cs typeface="Bubblebody Neue Bold"/>
                <a:sym typeface="Bubblebody Neue Bold"/>
              </a:rPr>
              <a:t>DIALOGFLOW</a:t>
            </a:r>
            <a:endParaRPr lang="en-US" sz="5400" b="1" dirty="0">
              <a:solidFill>
                <a:srgbClr val="A2DFD9"/>
              </a:solidFill>
              <a:latin typeface="Bahnschrift SemiBold" panose="020B0502040204020203" pitchFamily="34" charset="0"/>
              <a:ea typeface="Bubblebody Neue Bold"/>
              <a:cs typeface="Bubblebody Neue Bold"/>
              <a:sym typeface="Bubblebody Neue Bold"/>
            </a:endParaRPr>
          </a:p>
        </p:txBody>
      </p:sp>
      <p:pic>
        <p:nvPicPr>
          <p:cNvPr id="6" name="Picture 5">
            <a:extLst>
              <a:ext uri="{FF2B5EF4-FFF2-40B4-BE49-F238E27FC236}">
                <a16:creationId xmlns:a16="http://schemas.microsoft.com/office/drawing/2014/main" id="{AB53D04B-398B-4AF8-AFC5-C611D41BFE89}"/>
              </a:ext>
            </a:extLst>
          </p:cNvPr>
          <p:cNvPicPr>
            <a:picLocks noChangeAspect="1"/>
          </p:cNvPicPr>
          <p:nvPr/>
        </p:nvPicPr>
        <p:blipFill>
          <a:blip r:embed="rId3"/>
          <a:stretch>
            <a:fillRect/>
          </a:stretch>
        </p:blipFill>
        <p:spPr>
          <a:xfrm>
            <a:off x="0" y="5600700"/>
            <a:ext cx="18287996" cy="4634032"/>
          </a:xfrm>
          <a:prstGeom prst="rect">
            <a:avLst/>
          </a:prstGeom>
        </p:spPr>
      </p:pic>
      <p:pic>
        <p:nvPicPr>
          <p:cNvPr id="1026" name="Picture 2" descr="Tổng quan về Dialogflow">
            <a:extLst>
              <a:ext uri="{FF2B5EF4-FFF2-40B4-BE49-F238E27FC236}">
                <a16:creationId xmlns:a16="http://schemas.microsoft.com/office/drawing/2014/main" id="{E7E6F079-3B36-4BF4-B87C-B823D2CD266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204896"/>
            <a:ext cx="8991596" cy="23605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93068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DF9"/>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2095500"/>
            <a:chOff x="0" y="0"/>
            <a:chExt cx="4816593" cy="812800"/>
          </a:xfrm>
        </p:grpSpPr>
        <p:sp>
          <p:nvSpPr>
            <p:cNvPr id="3" name="Freeform 3"/>
            <p:cNvSpPr/>
            <p:nvPr/>
          </p:nvSpPr>
          <p:spPr>
            <a:xfrm>
              <a:off x="0" y="0"/>
              <a:ext cx="4816592" cy="812800"/>
            </a:xfrm>
            <a:custGeom>
              <a:avLst/>
              <a:gdLst/>
              <a:ahLst/>
              <a:cxnLst/>
              <a:rect l="l" t="t" r="r" b="b"/>
              <a:pathLst>
                <a:path w="4816592" h="812800">
                  <a:moveTo>
                    <a:pt x="0" y="0"/>
                  </a:moveTo>
                  <a:lnTo>
                    <a:pt x="4816592" y="0"/>
                  </a:lnTo>
                  <a:lnTo>
                    <a:pt x="4816592" y="812800"/>
                  </a:lnTo>
                  <a:lnTo>
                    <a:pt x="0" y="812800"/>
                  </a:lnTo>
                  <a:close/>
                </a:path>
              </a:pathLst>
            </a:custGeom>
            <a:solidFill>
              <a:srgbClr val="593EA1"/>
            </a:solidFill>
          </p:spPr>
          <p:txBody>
            <a:bodyPr/>
            <a:lstStyle/>
            <a:p>
              <a:endParaRPr lang="en-US" dirty="0"/>
            </a:p>
          </p:txBody>
        </p:sp>
        <p:sp>
          <p:nvSpPr>
            <p:cNvPr id="4" name="TextBox 4"/>
            <p:cNvSpPr txBox="1"/>
            <p:nvPr/>
          </p:nvSpPr>
          <p:spPr>
            <a:xfrm>
              <a:off x="0" y="-38100"/>
              <a:ext cx="4816593" cy="850900"/>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6">
            <a:extLst>
              <a:ext uri="{FF2B5EF4-FFF2-40B4-BE49-F238E27FC236}">
                <a16:creationId xmlns:a16="http://schemas.microsoft.com/office/drawing/2014/main" id="{1E41CD49-8389-476F-B243-C41A2C90314E}"/>
              </a:ext>
            </a:extLst>
          </p:cNvPr>
          <p:cNvSpPr txBox="1"/>
          <p:nvPr/>
        </p:nvSpPr>
        <p:spPr>
          <a:xfrm>
            <a:off x="6172198" y="632252"/>
            <a:ext cx="5943600" cy="830997"/>
          </a:xfrm>
          <a:prstGeom prst="rect">
            <a:avLst/>
          </a:prstGeom>
          <a:effectLst>
            <a:glow rad="63500">
              <a:schemeClr val="accent1">
                <a:satMod val="175000"/>
                <a:alpha val="40000"/>
              </a:schemeClr>
            </a:glow>
            <a:innerShdw blurRad="63500" dist="50800" dir="16200000">
              <a:prstClr val="black">
                <a:alpha val="50000"/>
              </a:prstClr>
            </a:innerShdw>
          </a:effectLst>
        </p:spPr>
        <p:txBody>
          <a:bodyPr wrap="square" lIns="0" tIns="0" rIns="0" bIns="0" rtlCol="0" anchor="t">
            <a:spAutoFit/>
          </a:bodyPr>
          <a:lstStyle/>
          <a:p>
            <a:pPr algn="ctr"/>
            <a:r>
              <a:rPr lang="vi-VN" sz="5400" b="1" dirty="0">
                <a:solidFill>
                  <a:srgbClr val="A2DFD9"/>
                </a:solidFill>
                <a:latin typeface="Bahnschrift SemiBold" panose="020B0502040204020203" pitchFamily="34" charset="0"/>
                <a:ea typeface="Bubblebody Neue Bold"/>
                <a:cs typeface="Bubblebody Neue Bold"/>
                <a:sym typeface="Bubblebody Neue Bold"/>
              </a:rPr>
              <a:t>HUGGINGFACE</a:t>
            </a:r>
            <a:endParaRPr lang="en-US" sz="5400" b="1" dirty="0">
              <a:solidFill>
                <a:srgbClr val="A2DFD9"/>
              </a:solidFill>
              <a:latin typeface="Bahnschrift SemiBold" panose="020B0502040204020203" pitchFamily="34" charset="0"/>
              <a:ea typeface="Bubblebody Neue Bold"/>
              <a:cs typeface="Bubblebody Neue Bold"/>
              <a:sym typeface="Bubblebody Neue Bold"/>
            </a:endParaRPr>
          </a:p>
        </p:txBody>
      </p:sp>
      <p:pic>
        <p:nvPicPr>
          <p:cNvPr id="2050" name="Picture 2" descr="Hugging Face Transformers: The Framework Redefined Modern AI | by ML Point  | Towards AI">
            <a:extLst>
              <a:ext uri="{FF2B5EF4-FFF2-40B4-BE49-F238E27FC236}">
                <a16:creationId xmlns:a16="http://schemas.microsoft.com/office/drawing/2014/main" id="{C64A8044-C6DD-405E-BFA8-AEE7E127D5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009900"/>
            <a:ext cx="8077200" cy="53848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C8847A3C-5BAC-4A4E-9921-97D3E36A488E}"/>
              </a:ext>
            </a:extLst>
          </p:cNvPr>
          <p:cNvSpPr>
            <a:spLocks noChangeArrowheads="1"/>
          </p:cNvSpPr>
          <p:nvPr/>
        </p:nvSpPr>
        <p:spPr bwMode="auto">
          <a:xfrm>
            <a:off x="8686800" y="2268110"/>
            <a:ext cx="10515600" cy="7386638"/>
          </a:xfrm>
          <a:prstGeom prst="rect">
            <a:avLst/>
          </a:prstGeom>
          <a:noFill/>
          <a:ln>
            <a:noFill/>
          </a:ln>
          <a:effectLst/>
        </p:spPr>
        <p:txBody>
          <a:bodyPr vert="horz" wrap="square" lIns="9522" tIns="0" rIns="9522"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algn="just" defTabSz="914400" rtl="0" eaLnBrk="0" fontAlgn="base" latinLnBrk="0" hangingPunct="0">
              <a:lnSpc>
                <a:spcPct val="100000"/>
              </a:lnSpc>
              <a:spcBef>
                <a:spcPct val="0"/>
              </a:spcBef>
              <a:spcAft>
                <a:spcPct val="0"/>
              </a:spcAft>
              <a:buClrTx/>
              <a:buSzTx/>
              <a:tabLst/>
            </a:pPr>
            <a:r>
              <a:rPr kumimoji="0" lang="en-US" altLang="en-US" sz="3200" i="0" strike="noStrike" cap="none" normalizeH="0" baseline="0" dirty="0">
                <a:ln>
                  <a:noFill/>
                </a:ln>
                <a:effectLst/>
                <a:latin typeface="+mn-lt"/>
              </a:rPr>
              <a:t> Model:</a:t>
            </a:r>
          </a:p>
          <a:p>
            <a:pPr marL="0" marR="0" lvl="0" indent="0" algn="just" defTabSz="914400" rtl="0" eaLnBrk="0" fontAlgn="base" latinLnBrk="0" hangingPunct="0">
              <a:lnSpc>
                <a:spcPct val="100000"/>
              </a:lnSpc>
              <a:spcBef>
                <a:spcPct val="0"/>
              </a:spcBef>
              <a:spcAft>
                <a:spcPct val="0"/>
              </a:spcAft>
              <a:buClrTx/>
              <a:buSzTx/>
              <a:tabLst/>
            </a:pPr>
            <a:r>
              <a:rPr kumimoji="0" lang="vi-VN" altLang="en-US" sz="3200" i="0" strike="noStrike" cap="none" normalizeH="0" baseline="0" dirty="0">
                <a:ln>
                  <a:noFill/>
                </a:ln>
                <a:effectLst/>
                <a:latin typeface="+mn-lt"/>
              </a:rPr>
              <a:t>	</a:t>
            </a:r>
            <a:r>
              <a:rPr kumimoji="0" lang="en-US" altLang="en-US" sz="3200" i="0" strike="noStrike" cap="none" normalizeH="0" baseline="0" dirty="0" err="1">
                <a:ln>
                  <a:noFill/>
                </a:ln>
                <a:effectLst/>
                <a:latin typeface="+mn-lt"/>
              </a:rPr>
              <a:t>Tên</a:t>
            </a:r>
            <a:r>
              <a:rPr kumimoji="0" lang="en-US" altLang="en-US" sz="3200" i="0" strike="noStrike" cap="none" normalizeH="0" baseline="0" dirty="0">
                <a:ln>
                  <a:noFill/>
                </a:ln>
                <a:effectLst/>
                <a:latin typeface="+mn-lt"/>
              </a:rPr>
              <a:t>: emotion-</a:t>
            </a:r>
            <a:r>
              <a:rPr kumimoji="0" lang="en-US" altLang="en-US" sz="3200" i="0" strike="noStrike" cap="none" normalizeH="0" baseline="0" dirty="0" err="1">
                <a:ln>
                  <a:noFill/>
                </a:ln>
                <a:effectLst/>
                <a:latin typeface="+mn-lt"/>
              </a:rPr>
              <a:t>english</a:t>
            </a:r>
            <a:r>
              <a:rPr kumimoji="0" lang="en-US" altLang="en-US" sz="3200" i="0" strike="noStrike" cap="none" normalizeH="0" baseline="0" dirty="0">
                <a:ln>
                  <a:noFill/>
                </a:ln>
                <a:effectLst/>
                <a:latin typeface="+mn-lt"/>
              </a:rPr>
              <a:t>-</a:t>
            </a:r>
            <a:r>
              <a:rPr kumimoji="0" lang="en-US" altLang="en-US" sz="3200" i="0" strike="noStrike" cap="none" normalizeH="0" baseline="0" dirty="0" err="1">
                <a:ln>
                  <a:noFill/>
                </a:ln>
                <a:effectLst/>
                <a:latin typeface="+mn-lt"/>
              </a:rPr>
              <a:t>distilroberta</a:t>
            </a:r>
            <a:r>
              <a:rPr kumimoji="0" lang="en-US" altLang="en-US" sz="3200" i="0" strike="noStrike" cap="none" normalizeH="0" baseline="0" dirty="0">
                <a:ln>
                  <a:noFill/>
                </a:ln>
                <a:effectLst/>
                <a:latin typeface="+mn-lt"/>
              </a:rPr>
              <a:t>-base</a:t>
            </a:r>
          </a:p>
          <a:p>
            <a:pPr marL="0" marR="0" lvl="0" indent="0" algn="just" defTabSz="914400" rtl="0" eaLnBrk="0" fontAlgn="base" latinLnBrk="0" hangingPunct="0">
              <a:lnSpc>
                <a:spcPct val="100000"/>
              </a:lnSpc>
              <a:spcBef>
                <a:spcPct val="0"/>
              </a:spcBef>
              <a:spcAft>
                <a:spcPct val="0"/>
              </a:spcAft>
              <a:buClrTx/>
              <a:buSzTx/>
              <a:tabLst/>
            </a:pPr>
            <a:r>
              <a:rPr kumimoji="0" lang="vi-VN" altLang="en-US" sz="3200" i="0" strike="noStrike" cap="none" normalizeH="0" baseline="0" dirty="0">
                <a:ln>
                  <a:noFill/>
                </a:ln>
                <a:effectLst/>
                <a:latin typeface="+mn-lt"/>
              </a:rPr>
              <a:t>	</a:t>
            </a:r>
            <a:r>
              <a:rPr kumimoji="0" lang="en-US" altLang="en-US" sz="3200" i="0" strike="noStrike" cap="none" normalizeH="0" baseline="0" dirty="0" err="1">
                <a:ln>
                  <a:noFill/>
                </a:ln>
                <a:effectLst/>
                <a:latin typeface="+mn-lt"/>
              </a:rPr>
              <a:t>Tác</a:t>
            </a:r>
            <a:r>
              <a:rPr kumimoji="0" lang="en-US" altLang="en-US" sz="3200" i="0" strike="noStrike" cap="none" normalizeH="0" baseline="0" dirty="0">
                <a:ln>
                  <a:noFill/>
                </a:ln>
                <a:effectLst/>
                <a:latin typeface="+mn-lt"/>
              </a:rPr>
              <a:t> </a:t>
            </a:r>
            <a:r>
              <a:rPr kumimoji="0" lang="en-US" altLang="en-US" sz="3200" i="0" strike="noStrike" cap="none" normalizeH="0" baseline="0" dirty="0" err="1">
                <a:ln>
                  <a:noFill/>
                </a:ln>
                <a:effectLst/>
                <a:latin typeface="+mn-lt"/>
              </a:rPr>
              <a:t>giả</a:t>
            </a:r>
            <a:r>
              <a:rPr kumimoji="0" lang="en-US" altLang="en-US" sz="3200" i="0" strike="noStrike" cap="none" normalizeH="0" baseline="0" dirty="0">
                <a:ln>
                  <a:noFill/>
                </a:ln>
                <a:effectLst/>
                <a:latin typeface="+mn-lt"/>
              </a:rPr>
              <a:t>: j-</a:t>
            </a:r>
            <a:r>
              <a:rPr kumimoji="0" lang="en-US" altLang="en-US" sz="3200" i="0" strike="noStrike" cap="none" normalizeH="0" baseline="0" dirty="0" err="1">
                <a:ln>
                  <a:noFill/>
                </a:ln>
                <a:effectLst/>
                <a:latin typeface="+mn-lt"/>
              </a:rPr>
              <a:t>hartmann</a:t>
            </a:r>
            <a:endParaRPr kumimoji="0" lang="en-US" altLang="en-US" sz="3200" i="0" strike="noStrike" cap="none" normalizeH="0" baseline="0" dirty="0">
              <a:ln>
                <a:noFill/>
              </a:ln>
              <a:effectLst/>
              <a:latin typeface="+mn-lt"/>
            </a:endParaRPr>
          </a:p>
          <a:p>
            <a:pPr marL="0" marR="0" lvl="0" indent="0" algn="just" defTabSz="914400" rtl="0" eaLnBrk="0" fontAlgn="base" latinLnBrk="0" hangingPunct="0">
              <a:lnSpc>
                <a:spcPct val="100000"/>
              </a:lnSpc>
              <a:spcBef>
                <a:spcPct val="0"/>
              </a:spcBef>
              <a:spcAft>
                <a:spcPct val="0"/>
              </a:spcAft>
              <a:buClrTx/>
              <a:buSzTx/>
              <a:tabLst/>
            </a:pPr>
            <a:r>
              <a:rPr kumimoji="0" lang="vi-VN" altLang="en-US" sz="3200" i="0" strike="noStrike" cap="none" normalizeH="0" baseline="0" dirty="0">
                <a:ln>
                  <a:noFill/>
                </a:ln>
                <a:effectLst/>
                <a:latin typeface="+mn-lt"/>
              </a:rPr>
              <a:t>	</a:t>
            </a:r>
            <a:r>
              <a:rPr kumimoji="0" lang="en-US" altLang="en-US" sz="3200" i="0" strike="noStrike" cap="none" normalizeH="0" baseline="0" dirty="0" err="1">
                <a:ln>
                  <a:noFill/>
                </a:ln>
                <a:effectLst/>
                <a:latin typeface="+mn-lt"/>
              </a:rPr>
              <a:t>Kiểu</a:t>
            </a:r>
            <a:r>
              <a:rPr kumimoji="0" lang="en-US" altLang="en-US" sz="3200" i="0" strike="noStrike" cap="none" normalizeH="0" baseline="0" dirty="0">
                <a:ln>
                  <a:noFill/>
                </a:ln>
                <a:effectLst/>
                <a:latin typeface="+mn-lt"/>
              </a:rPr>
              <a:t>: Text Classification (</a:t>
            </a:r>
            <a:r>
              <a:rPr kumimoji="0" lang="en-US" altLang="en-US" sz="3200" i="0" strike="noStrike" cap="none" normalizeH="0" baseline="0" dirty="0" err="1">
                <a:ln>
                  <a:noFill/>
                </a:ln>
                <a:effectLst/>
                <a:latin typeface="+mn-lt"/>
              </a:rPr>
              <a:t>Phân</a:t>
            </a:r>
            <a:r>
              <a:rPr kumimoji="0" lang="en-US" altLang="en-US" sz="3200" i="0" strike="noStrike" cap="none" normalizeH="0" baseline="0" dirty="0">
                <a:ln>
                  <a:noFill/>
                </a:ln>
                <a:effectLst/>
                <a:latin typeface="+mn-lt"/>
              </a:rPr>
              <a:t> </a:t>
            </a:r>
            <a:r>
              <a:rPr kumimoji="0" lang="en-US" altLang="en-US" sz="3200" i="0" strike="noStrike" cap="none" normalizeH="0" baseline="0" dirty="0" err="1">
                <a:ln>
                  <a:noFill/>
                </a:ln>
                <a:effectLst/>
                <a:latin typeface="+mn-lt"/>
              </a:rPr>
              <a:t>loại</a:t>
            </a:r>
            <a:r>
              <a:rPr kumimoji="0" lang="en-US" altLang="en-US" sz="3200" i="0" strike="noStrike" cap="none" normalizeH="0" baseline="0" dirty="0">
                <a:ln>
                  <a:noFill/>
                </a:ln>
                <a:effectLst/>
                <a:latin typeface="+mn-lt"/>
              </a:rPr>
              <a:t> </a:t>
            </a:r>
            <a:r>
              <a:rPr kumimoji="0" lang="en-US" altLang="en-US" sz="3200" i="0" strike="noStrike" cap="none" normalizeH="0" baseline="0" dirty="0" err="1">
                <a:ln>
                  <a:noFill/>
                </a:ln>
                <a:effectLst/>
                <a:latin typeface="+mn-lt"/>
              </a:rPr>
              <a:t>văn</a:t>
            </a:r>
            <a:r>
              <a:rPr kumimoji="0" lang="en-US" altLang="en-US" sz="3200" i="0" strike="noStrike" cap="none" normalizeH="0" baseline="0" dirty="0">
                <a:ln>
                  <a:noFill/>
                </a:ln>
                <a:effectLst/>
                <a:latin typeface="+mn-lt"/>
              </a:rPr>
              <a:t> </a:t>
            </a:r>
            <a:r>
              <a:rPr kumimoji="0" lang="en-US" altLang="en-US" sz="3200" i="0" strike="noStrike" cap="none" normalizeH="0" baseline="0" dirty="0" err="1">
                <a:ln>
                  <a:noFill/>
                </a:ln>
                <a:effectLst/>
                <a:latin typeface="+mn-lt"/>
              </a:rPr>
              <a:t>bản</a:t>
            </a:r>
            <a:r>
              <a:rPr kumimoji="0" lang="en-US" altLang="en-US" sz="3200" i="0" strike="noStrike" cap="none" normalizeH="0" baseline="0" dirty="0">
                <a:ln>
                  <a:noFill/>
                </a:ln>
                <a:effectLst/>
                <a:latin typeface="+mn-lt"/>
              </a:rPr>
              <a:t>)</a:t>
            </a:r>
          </a:p>
          <a:p>
            <a:pPr marL="0" marR="0" lvl="0" indent="0" algn="just" defTabSz="914400" rtl="0" eaLnBrk="0" fontAlgn="base" latinLnBrk="0" hangingPunct="0">
              <a:lnSpc>
                <a:spcPct val="100000"/>
              </a:lnSpc>
              <a:spcBef>
                <a:spcPct val="0"/>
              </a:spcBef>
              <a:spcAft>
                <a:spcPct val="0"/>
              </a:spcAft>
              <a:buClrTx/>
              <a:buSzTx/>
              <a:tabLst/>
            </a:pPr>
            <a:r>
              <a:rPr kumimoji="0" lang="vi-VN" altLang="en-US" sz="3200" i="0" strike="noStrike" cap="none" normalizeH="0" baseline="0" dirty="0">
                <a:ln>
                  <a:noFill/>
                </a:ln>
                <a:effectLst/>
                <a:latin typeface="+mn-lt"/>
              </a:rPr>
              <a:t>	</a:t>
            </a:r>
            <a:r>
              <a:rPr kumimoji="0" lang="en-US" altLang="en-US" sz="3200" i="0" strike="noStrike" cap="none" normalizeH="0" baseline="0" dirty="0">
                <a:ln>
                  <a:noFill/>
                </a:ln>
                <a:effectLst/>
                <a:latin typeface="+mn-lt"/>
              </a:rPr>
              <a:t>Base: </a:t>
            </a:r>
            <a:r>
              <a:rPr kumimoji="0" lang="en-US" altLang="en-US" sz="3200" i="0" strike="noStrike" cap="none" normalizeH="0" baseline="0" dirty="0" err="1">
                <a:ln>
                  <a:noFill/>
                </a:ln>
                <a:effectLst/>
                <a:latin typeface="+mn-lt"/>
              </a:rPr>
              <a:t>DistilRoBERTa</a:t>
            </a:r>
            <a:r>
              <a:rPr kumimoji="0" lang="en-US" altLang="en-US" sz="3200" i="0" strike="noStrike" cap="none" normalizeH="0" baseline="0" dirty="0">
                <a:ln>
                  <a:noFill/>
                </a:ln>
                <a:effectLst/>
                <a:latin typeface="+mn-lt"/>
              </a:rPr>
              <a:t> (</a:t>
            </a:r>
            <a:r>
              <a:rPr kumimoji="0" lang="en-US" altLang="en-US" sz="3200" i="0" strike="noStrike" cap="none" normalizeH="0" baseline="0" dirty="0" err="1">
                <a:ln>
                  <a:noFill/>
                </a:ln>
                <a:effectLst/>
                <a:latin typeface="+mn-lt"/>
              </a:rPr>
              <a:t>phiên</a:t>
            </a:r>
            <a:r>
              <a:rPr kumimoji="0" lang="en-US" altLang="en-US" sz="3200" i="0" strike="noStrike" cap="none" normalizeH="0" baseline="0" dirty="0">
                <a:ln>
                  <a:noFill/>
                </a:ln>
                <a:effectLst/>
                <a:latin typeface="+mn-lt"/>
              </a:rPr>
              <a:t> </a:t>
            </a:r>
            <a:r>
              <a:rPr kumimoji="0" lang="en-US" altLang="en-US" sz="3200" i="0" strike="noStrike" cap="none" normalizeH="0" baseline="0" dirty="0" err="1">
                <a:ln>
                  <a:noFill/>
                </a:ln>
                <a:effectLst/>
                <a:latin typeface="+mn-lt"/>
              </a:rPr>
              <a:t>bản</a:t>
            </a:r>
            <a:r>
              <a:rPr kumimoji="0" lang="en-US" altLang="en-US" sz="3200" i="0" strike="noStrike" cap="none" normalizeH="0" baseline="0" dirty="0">
                <a:ln>
                  <a:noFill/>
                </a:ln>
                <a:effectLst/>
                <a:latin typeface="+mn-lt"/>
              </a:rPr>
              <a:t> </a:t>
            </a:r>
            <a:r>
              <a:rPr kumimoji="0" lang="en-US" altLang="en-US" sz="3200" i="0" strike="noStrike" cap="none" normalizeH="0" baseline="0" dirty="0" err="1">
                <a:ln>
                  <a:noFill/>
                </a:ln>
                <a:effectLst/>
                <a:latin typeface="+mn-lt"/>
              </a:rPr>
              <a:t>nhẹ</a:t>
            </a:r>
            <a:r>
              <a:rPr kumimoji="0" lang="en-US" altLang="en-US" sz="3200" i="0" strike="noStrike" cap="none" normalizeH="0" baseline="0" dirty="0">
                <a:ln>
                  <a:noFill/>
                </a:ln>
                <a:effectLst/>
                <a:latin typeface="+mn-lt"/>
              </a:rPr>
              <a:t> </a:t>
            </a:r>
            <a:r>
              <a:rPr kumimoji="0" lang="en-US" altLang="en-US" sz="3200" i="0" strike="noStrike" cap="none" normalizeH="0" baseline="0" dirty="0" err="1">
                <a:ln>
                  <a:noFill/>
                </a:ln>
                <a:effectLst/>
                <a:latin typeface="+mn-lt"/>
              </a:rPr>
              <a:t>của</a:t>
            </a:r>
            <a:r>
              <a:rPr kumimoji="0" lang="en-US" altLang="en-US" sz="3200" i="0" strike="noStrike" cap="none" normalizeH="0" baseline="0" dirty="0">
                <a:ln>
                  <a:noFill/>
                </a:ln>
                <a:effectLst/>
                <a:latin typeface="+mn-lt"/>
              </a:rPr>
              <a:t> </a:t>
            </a:r>
            <a:r>
              <a:rPr kumimoji="0" lang="en-US" altLang="en-US" sz="3200" i="0" strike="noStrike" cap="none" normalizeH="0" baseline="0" dirty="0" err="1">
                <a:ln>
                  <a:noFill/>
                </a:ln>
                <a:effectLst/>
                <a:latin typeface="+mn-lt"/>
              </a:rPr>
              <a:t>RoBERTa</a:t>
            </a:r>
            <a:r>
              <a:rPr kumimoji="0" lang="en-US" altLang="en-US" sz="3200" i="0" strike="noStrike" cap="none" normalizeH="0" baseline="0" dirty="0">
                <a:ln>
                  <a:noFill/>
                </a:ln>
                <a:effectLst/>
                <a:latin typeface="+mn-lt"/>
              </a:rPr>
              <a:t>)</a:t>
            </a:r>
            <a:endParaRPr lang="vi-VN" altLang="en-US" sz="3200" dirty="0">
              <a:latin typeface="+mn-lt"/>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3200" i="0" strike="noStrike" cap="none" normalizeH="0" baseline="0" dirty="0">
                <a:ln>
                  <a:noFill/>
                </a:ln>
                <a:effectLst/>
                <a:latin typeface="+mn-lt"/>
              </a:rPr>
              <a:t> </a:t>
            </a:r>
            <a:r>
              <a:rPr kumimoji="0" lang="en-US" altLang="en-US" sz="3200" i="0" strike="noStrike" cap="none" normalizeH="0" baseline="0" dirty="0" err="1">
                <a:ln>
                  <a:noFill/>
                </a:ln>
                <a:effectLst/>
                <a:latin typeface="+mn-lt"/>
              </a:rPr>
              <a:t>Chức</a:t>
            </a:r>
            <a:r>
              <a:rPr kumimoji="0" lang="en-US" altLang="en-US" sz="3200" i="0" strike="noStrike" cap="none" normalizeH="0" baseline="0" dirty="0">
                <a:ln>
                  <a:noFill/>
                </a:ln>
                <a:effectLst/>
                <a:latin typeface="+mn-lt"/>
              </a:rPr>
              <a:t> </a:t>
            </a:r>
            <a:r>
              <a:rPr kumimoji="0" lang="en-US" altLang="en-US" sz="3200" i="0" strike="noStrike" cap="none" normalizeH="0" baseline="0" dirty="0" err="1">
                <a:ln>
                  <a:noFill/>
                </a:ln>
                <a:effectLst/>
                <a:latin typeface="+mn-lt"/>
              </a:rPr>
              <a:t>năng</a:t>
            </a:r>
            <a:r>
              <a:rPr kumimoji="0" lang="en-US" altLang="en-US" sz="3200" i="0" strike="noStrike" cap="none" normalizeH="0" baseline="0" dirty="0">
                <a:ln>
                  <a:noFill/>
                </a:ln>
                <a:effectLst/>
                <a:latin typeface="+mn-lt"/>
              </a:rPr>
              <a:t>:</a:t>
            </a:r>
          </a:p>
          <a:p>
            <a:pPr marL="0" marR="0" lvl="0" indent="0" algn="just" defTabSz="914400" rtl="0" eaLnBrk="0" fontAlgn="base" latinLnBrk="0" hangingPunct="0">
              <a:lnSpc>
                <a:spcPct val="100000"/>
              </a:lnSpc>
              <a:spcBef>
                <a:spcPct val="0"/>
              </a:spcBef>
              <a:spcAft>
                <a:spcPct val="0"/>
              </a:spcAft>
              <a:buClrTx/>
              <a:buSzTx/>
              <a:tabLst/>
            </a:pPr>
            <a:r>
              <a:rPr kumimoji="0" lang="vi-VN" altLang="en-US" sz="3200" i="0" strike="noStrike" cap="none" normalizeH="0" baseline="0" dirty="0">
                <a:ln>
                  <a:noFill/>
                </a:ln>
                <a:effectLst/>
                <a:latin typeface="+mn-lt"/>
              </a:rPr>
              <a:t>	</a:t>
            </a:r>
            <a:r>
              <a:rPr kumimoji="0" lang="en-US" altLang="en-US" sz="3200" i="0" strike="noStrike" cap="none" normalizeH="0" baseline="0" dirty="0" err="1">
                <a:ln>
                  <a:noFill/>
                </a:ln>
                <a:effectLst/>
                <a:latin typeface="+mn-lt"/>
              </a:rPr>
              <a:t>Phân</a:t>
            </a:r>
            <a:r>
              <a:rPr kumimoji="0" lang="en-US" altLang="en-US" sz="3200" i="0" strike="noStrike" cap="none" normalizeH="0" baseline="0" dirty="0">
                <a:ln>
                  <a:noFill/>
                </a:ln>
                <a:effectLst/>
                <a:latin typeface="+mn-lt"/>
              </a:rPr>
              <a:t> </a:t>
            </a:r>
            <a:r>
              <a:rPr kumimoji="0" lang="en-US" altLang="en-US" sz="3200" i="0" strike="noStrike" cap="none" normalizeH="0" baseline="0" dirty="0" err="1">
                <a:ln>
                  <a:noFill/>
                </a:ln>
                <a:effectLst/>
                <a:latin typeface="+mn-lt"/>
              </a:rPr>
              <a:t>tích</a:t>
            </a:r>
            <a:r>
              <a:rPr kumimoji="0" lang="en-US" altLang="en-US" sz="3200" i="0" strike="noStrike" cap="none" normalizeH="0" baseline="0" dirty="0">
                <a:ln>
                  <a:noFill/>
                </a:ln>
                <a:effectLst/>
                <a:latin typeface="+mn-lt"/>
              </a:rPr>
              <a:t> 7 </a:t>
            </a:r>
            <a:r>
              <a:rPr kumimoji="0" lang="en-US" altLang="en-US" sz="3200" i="0" strike="noStrike" cap="none" normalizeH="0" baseline="0" dirty="0" err="1">
                <a:ln>
                  <a:noFill/>
                </a:ln>
                <a:effectLst/>
                <a:latin typeface="+mn-lt"/>
              </a:rPr>
              <a:t>cảm</a:t>
            </a:r>
            <a:r>
              <a:rPr kumimoji="0" lang="en-US" altLang="en-US" sz="3200" i="0" strike="noStrike" cap="none" normalizeH="0" baseline="0" dirty="0">
                <a:ln>
                  <a:noFill/>
                </a:ln>
                <a:effectLst/>
                <a:latin typeface="+mn-lt"/>
              </a:rPr>
              <a:t> </a:t>
            </a:r>
            <a:r>
              <a:rPr kumimoji="0" lang="en-US" altLang="en-US" sz="3200" i="0" strike="noStrike" cap="none" normalizeH="0" baseline="0" dirty="0" err="1">
                <a:ln>
                  <a:noFill/>
                </a:ln>
                <a:effectLst/>
                <a:latin typeface="+mn-lt"/>
              </a:rPr>
              <a:t>xúc</a:t>
            </a:r>
            <a:r>
              <a:rPr kumimoji="0" lang="en-US" altLang="en-US" sz="3200" i="0" strike="noStrike" cap="none" normalizeH="0" baseline="0" dirty="0">
                <a:ln>
                  <a:noFill/>
                </a:ln>
                <a:effectLst/>
                <a:latin typeface="+mn-lt"/>
              </a:rPr>
              <a:t> </a:t>
            </a:r>
            <a:r>
              <a:rPr kumimoji="0" lang="en-US" altLang="en-US" sz="3200" i="0" strike="noStrike" cap="none" normalizeH="0" baseline="0" dirty="0" err="1">
                <a:ln>
                  <a:noFill/>
                </a:ln>
                <a:effectLst/>
                <a:latin typeface="+mn-lt"/>
              </a:rPr>
              <a:t>cơ</a:t>
            </a:r>
            <a:r>
              <a:rPr kumimoji="0" lang="en-US" altLang="en-US" sz="3200" i="0" strike="noStrike" cap="none" normalizeH="0" baseline="0" dirty="0">
                <a:ln>
                  <a:noFill/>
                </a:ln>
                <a:effectLst/>
                <a:latin typeface="+mn-lt"/>
              </a:rPr>
              <a:t> </a:t>
            </a:r>
            <a:r>
              <a:rPr kumimoji="0" lang="en-US" altLang="en-US" sz="3200" i="0" strike="noStrike" cap="none" normalizeH="0" baseline="0" dirty="0" err="1">
                <a:ln>
                  <a:noFill/>
                </a:ln>
                <a:effectLst/>
                <a:latin typeface="+mn-lt"/>
              </a:rPr>
              <a:t>bản</a:t>
            </a:r>
            <a:r>
              <a:rPr kumimoji="0" lang="en-US" altLang="en-US" sz="3200" i="0" strike="noStrike" cap="none" normalizeH="0" baseline="0" dirty="0">
                <a:ln>
                  <a:noFill/>
                </a:ln>
                <a:effectLst/>
                <a:latin typeface="+mn-lt"/>
              </a:rPr>
              <a:t>:</a:t>
            </a:r>
          </a:p>
          <a:p>
            <a:pPr marL="914400" marR="0" lvl="1"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3200" i="0" strike="noStrike" cap="none" normalizeH="0" baseline="0" dirty="0">
                <a:ln>
                  <a:noFill/>
                </a:ln>
                <a:effectLst/>
                <a:latin typeface="+mn-lt"/>
              </a:rPr>
              <a:t>anger (</a:t>
            </a:r>
            <a:r>
              <a:rPr kumimoji="0" lang="en-US" altLang="en-US" sz="3200" i="0" strike="noStrike" cap="none" normalizeH="0" baseline="0" dirty="0" err="1">
                <a:ln>
                  <a:noFill/>
                </a:ln>
                <a:effectLst/>
                <a:latin typeface="+mn-lt"/>
              </a:rPr>
              <a:t>giận</a:t>
            </a:r>
            <a:r>
              <a:rPr kumimoji="0" lang="en-US" altLang="en-US" sz="3200" i="0" strike="noStrike" cap="none" normalizeH="0" baseline="0" dirty="0">
                <a:ln>
                  <a:noFill/>
                </a:ln>
                <a:effectLst/>
                <a:latin typeface="+mn-lt"/>
              </a:rPr>
              <a:t> </a:t>
            </a:r>
            <a:r>
              <a:rPr kumimoji="0" lang="en-US" altLang="en-US" sz="3200" i="0" strike="noStrike" cap="none" normalizeH="0" baseline="0" dirty="0" err="1">
                <a:ln>
                  <a:noFill/>
                </a:ln>
                <a:effectLst/>
                <a:latin typeface="+mn-lt"/>
              </a:rPr>
              <a:t>dữ</a:t>
            </a:r>
            <a:r>
              <a:rPr kumimoji="0" lang="en-US" altLang="en-US" sz="3200" i="0" strike="noStrike" cap="none" normalizeH="0" baseline="0" dirty="0">
                <a:ln>
                  <a:noFill/>
                </a:ln>
                <a:effectLst/>
                <a:latin typeface="+mn-lt"/>
              </a:rPr>
              <a:t>)</a:t>
            </a:r>
          </a:p>
          <a:p>
            <a:pPr marL="914400" marR="0" lvl="1"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3200" i="0" strike="noStrike" cap="none" normalizeH="0" baseline="0" dirty="0">
                <a:ln>
                  <a:noFill/>
                </a:ln>
                <a:effectLst/>
                <a:latin typeface="+mn-lt"/>
              </a:rPr>
              <a:t>disgust (</a:t>
            </a:r>
            <a:r>
              <a:rPr kumimoji="0" lang="en-US" altLang="en-US" sz="3200" i="0" strike="noStrike" cap="none" normalizeH="0" baseline="0" dirty="0" err="1">
                <a:ln>
                  <a:noFill/>
                </a:ln>
                <a:effectLst/>
                <a:latin typeface="+mn-lt"/>
              </a:rPr>
              <a:t>ghê</a:t>
            </a:r>
            <a:r>
              <a:rPr kumimoji="0" lang="en-US" altLang="en-US" sz="3200" i="0" strike="noStrike" cap="none" normalizeH="0" baseline="0" dirty="0">
                <a:ln>
                  <a:noFill/>
                </a:ln>
                <a:effectLst/>
                <a:latin typeface="+mn-lt"/>
              </a:rPr>
              <a:t> </a:t>
            </a:r>
            <a:r>
              <a:rPr kumimoji="0" lang="en-US" altLang="en-US" sz="3200" i="0" strike="noStrike" cap="none" normalizeH="0" baseline="0" dirty="0" err="1">
                <a:ln>
                  <a:noFill/>
                </a:ln>
                <a:effectLst/>
                <a:latin typeface="+mn-lt"/>
              </a:rPr>
              <a:t>tởm</a:t>
            </a:r>
            <a:r>
              <a:rPr kumimoji="0" lang="en-US" altLang="en-US" sz="3200" i="0" strike="noStrike" cap="none" normalizeH="0" baseline="0" dirty="0">
                <a:ln>
                  <a:noFill/>
                </a:ln>
                <a:effectLst/>
                <a:latin typeface="+mn-lt"/>
              </a:rPr>
              <a:t>)</a:t>
            </a:r>
          </a:p>
          <a:p>
            <a:pPr marL="914400" marR="0" lvl="1"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vi-VN" altLang="en-US" sz="3200" i="0" strike="noStrike" cap="none" normalizeH="0" baseline="0" dirty="0">
                <a:ln>
                  <a:noFill/>
                </a:ln>
                <a:effectLst/>
                <a:latin typeface="Calibri" panose="020F0502020204030204" pitchFamily="34" charset="0"/>
                <a:ea typeface="Calibri" panose="020F0502020204030204" pitchFamily="34" charset="0"/>
                <a:cs typeface="Calibri" panose="020F0502020204030204" pitchFamily="34" charset="0"/>
              </a:rPr>
              <a:t>fear</a:t>
            </a:r>
            <a:r>
              <a:rPr kumimoji="0" lang="en-US" altLang="en-US" sz="3200" i="0" strike="noStrike" cap="none" normalizeH="0" baseline="0" dirty="0">
                <a:ln>
                  <a:noFill/>
                </a:ln>
                <a:effectLst/>
                <a:latin typeface="+mn-lt"/>
              </a:rPr>
              <a:t> (</a:t>
            </a:r>
            <a:r>
              <a:rPr kumimoji="0" lang="en-US" altLang="en-US" sz="3200" i="0" strike="noStrike" cap="none" normalizeH="0" baseline="0" dirty="0" err="1">
                <a:ln>
                  <a:noFill/>
                </a:ln>
                <a:effectLst/>
                <a:latin typeface="+mn-lt"/>
              </a:rPr>
              <a:t>sợ</a:t>
            </a:r>
            <a:r>
              <a:rPr kumimoji="0" lang="en-US" altLang="en-US" sz="3200" i="0" strike="noStrike" cap="none" normalizeH="0" baseline="0" dirty="0">
                <a:ln>
                  <a:noFill/>
                </a:ln>
                <a:effectLst/>
                <a:latin typeface="+mn-lt"/>
              </a:rPr>
              <a:t> </a:t>
            </a:r>
            <a:r>
              <a:rPr kumimoji="0" lang="en-US" altLang="en-US" sz="3200" i="0" strike="noStrike" cap="none" normalizeH="0" baseline="0" dirty="0" err="1">
                <a:ln>
                  <a:noFill/>
                </a:ln>
                <a:effectLst/>
                <a:latin typeface="+mn-lt"/>
              </a:rPr>
              <a:t>hãi</a:t>
            </a:r>
            <a:r>
              <a:rPr kumimoji="0" lang="en-US" altLang="en-US" sz="3200" i="0" strike="noStrike" cap="none" normalizeH="0" baseline="0" dirty="0">
                <a:ln>
                  <a:noFill/>
                </a:ln>
                <a:effectLst/>
                <a:latin typeface="+mn-lt"/>
              </a:rPr>
              <a:t>)</a:t>
            </a:r>
          </a:p>
          <a:p>
            <a:pPr marL="914400" marR="0" lvl="1"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3200" i="0" strike="noStrike" cap="none" normalizeH="0" baseline="0" dirty="0">
                <a:ln>
                  <a:noFill/>
                </a:ln>
                <a:effectLst/>
                <a:latin typeface="+mn-lt"/>
              </a:rPr>
              <a:t>joy (</a:t>
            </a:r>
            <a:r>
              <a:rPr kumimoji="0" lang="en-US" altLang="en-US" sz="3200" i="0" strike="noStrike" cap="none" normalizeH="0" baseline="0" dirty="0" err="1">
                <a:ln>
                  <a:noFill/>
                </a:ln>
                <a:effectLst/>
                <a:latin typeface="+mn-lt"/>
              </a:rPr>
              <a:t>vui</a:t>
            </a:r>
            <a:r>
              <a:rPr kumimoji="0" lang="en-US" altLang="en-US" sz="3200" i="0" strike="noStrike" cap="none" normalizeH="0" baseline="0" dirty="0">
                <a:ln>
                  <a:noFill/>
                </a:ln>
                <a:effectLst/>
                <a:latin typeface="+mn-lt"/>
              </a:rPr>
              <a:t> </a:t>
            </a:r>
            <a:r>
              <a:rPr kumimoji="0" lang="en-US" altLang="en-US" sz="3200" i="0" strike="noStrike" cap="none" normalizeH="0" baseline="0" dirty="0" err="1">
                <a:ln>
                  <a:noFill/>
                </a:ln>
                <a:effectLst/>
                <a:latin typeface="+mn-lt"/>
              </a:rPr>
              <a:t>vẻ</a:t>
            </a:r>
            <a:r>
              <a:rPr kumimoji="0" lang="en-US" altLang="en-US" sz="3200" i="0" strike="noStrike" cap="none" normalizeH="0" baseline="0" dirty="0">
                <a:ln>
                  <a:noFill/>
                </a:ln>
                <a:effectLst/>
                <a:latin typeface="+mn-lt"/>
              </a:rPr>
              <a:t>)</a:t>
            </a:r>
          </a:p>
          <a:p>
            <a:pPr marL="914400" marR="0" lvl="1"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vi-VN" altLang="en-US" sz="3200" i="0" strike="noStrike" cap="none" normalizeH="0" baseline="0" dirty="0">
                <a:ln>
                  <a:noFill/>
                </a:ln>
                <a:effectLst/>
                <a:latin typeface="Calibri" panose="020F0502020204030204" pitchFamily="34" charset="0"/>
                <a:ea typeface="Calibri" panose="020F0502020204030204" pitchFamily="34" charset="0"/>
                <a:cs typeface="Calibri" panose="020F0502020204030204" pitchFamily="34" charset="0"/>
              </a:rPr>
              <a:t>neutral</a:t>
            </a:r>
            <a:r>
              <a:rPr kumimoji="0" lang="en-US" altLang="en-US" sz="3200" i="0" strike="noStrike" cap="none" normalizeH="0" baseline="0" dirty="0">
                <a:ln>
                  <a:noFill/>
                </a:ln>
                <a:effectLst/>
                <a:latin typeface="+mn-lt"/>
              </a:rPr>
              <a:t> (</a:t>
            </a:r>
            <a:r>
              <a:rPr kumimoji="0" lang="en-US" altLang="en-US" sz="3200" i="0" strike="noStrike" cap="none" normalizeH="0" baseline="0" dirty="0" err="1">
                <a:ln>
                  <a:noFill/>
                </a:ln>
                <a:effectLst/>
                <a:latin typeface="+mn-lt"/>
              </a:rPr>
              <a:t>trung</a:t>
            </a:r>
            <a:r>
              <a:rPr kumimoji="0" lang="en-US" altLang="en-US" sz="3200" i="0" strike="noStrike" cap="none" normalizeH="0" baseline="0" dirty="0">
                <a:ln>
                  <a:noFill/>
                </a:ln>
                <a:effectLst/>
                <a:latin typeface="+mn-lt"/>
              </a:rPr>
              <a:t> </a:t>
            </a:r>
            <a:r>
              <a:rPr kumimoji="0" lang="en-US" altLang="en-US" sz="3200" i="0" strike="noStrike" cap="none" normalizeH="0" baseline="0" dirty="0" err="1">
                <a:ln>
                  <a:noFill/>
                </a:ln>
                <a:effectLst/>
                <a:latin typeface="+mn-lt"/>
              </a:rPr>
              <a:t>tính</a:t>
            </a:r>
            <a:r>
              <a:rPr kumimoji="0" lang="en-US" altLang="en-US" sz="3200" i="0" strike="noStrike" cap="none" normalizeH="0" baseline="0" dirty="0">
                <a:ln>
                  <a:noFill/>
                </a:ln>
                <a:effectLst/>
                <a:latin typeface="+mn-lt"/>
              </a:rPr>
              <a:t>)</a:t>
            </a:r>
          </a:p>
          <a:p>
            <a:pPr marL="914400" marR="0" lvl="1"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3200" i="0" strike="noStrike" cap="none" normalizeH="0" baseline="0" dirty="0">
                <a:ln>
                  <a:noFill/>
                </a:ln>
                <a:effectLst/>
                <a:latin typeface="+mn-lt"/>
              </a:rPr>
              <a:t>sadness (</a:t>
            </a:r>
            <a:r>
              <a:rPr kumimoji="0" lang="en-US" altLang="en-US" sz="3200" i="0" strike="noStrike" cap="none" normalizeH="0" baseline="0" dirty="0" err="1">
                <a:ln>
                  <a:noFill/>
                </a:ln>
                <a:effectLst/>
                <a:latin typeface="+mn-lt"/>
              </a:rPr>
              <a:t>buồn</a:t>
            </a:r>
            <a:r>
              <a:rPr kumimoji="0" lang="en-US" altLang="en-US" sz="3200" i="0" strike="noStrike" cap="none" normalizeH="0" baseline="0" dirty="0">
                <a:ln>
                  <a:noFill/>
                </a:ln>
                <a:effectLst/>
                <a:latin typeface="+mn-lt"/>
              </a:rPr>
              <a:t> </a:t>
            </a:r>
            <a:r>
              <a:rPr kumimoji="0" lang="en-US" altLang="en-US" sz="3200" i="0" strike="noStrike" cap="none" normalizeH="0" baseline="0" dirty="0" err="1">
                <a:ln>
                  <a:noFill/>
                </a:ln>
                <a:effectLst/>
                <a:latin typeface="+mn-lt"/>
              </a:rPr>
              <a:t>bã</a:t>
            </a:r>
            <a:r>
              <a:rPr kumimoji="0" lang="en-US" altLang="en-US" sz="3200" i="0" strike="noStrike" cap="none" normalizeH="0" baseline="0" dirty="0">
                <a:ln>
                  <a:noFill/>
                </a:ln>
                <a:effectLst/>
                <a:latin typeface="+mn-lt"/>
              </a:rPr>
              <a:t>)</a:t>
            </a:r>
          </a:p>
          <a:p>
            <a:pPr marL="914400" marR="0" lvl="1"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3200" dirty="0">
                <a:latin typeface="+mn-lt"/>
              </a:rPr>
              <a:t>surprise</a:t>
            </a:r>
            <a:r>
              <a:rPr kumimoji="0" lang="en-US" altLang="en-US" sz="3200" i="0" strike="noStrike" cap="none" normalizeH="0" baseline="0" dirty="0">
                <a:ln>
                  <a:noFill/>
                </a:ln>
                <a:effectLst/>
                <a:latin typeface="+mn-lt"/>
              </a:rPr>
              <a:t> (</a:t>
            </a:r>
            <a:r>
              <a:rPr kumimoji="0" lang="en-US" altLang="en-US" sz="3200" i="0" strike="noStrike" cap="none" normalizeH="0" baseline="0" dirty="0" err="1">
                <a:ln>
                  <a:noFill/>
                </a:ln>
                <a:effectLst/>
                <a:latin typeface="+mn-lt"/>
              </a:rPr>
              <a:t>ngạc</a:t>
            </a:r>
            <a:r>
              <a:rPr kumimoji="0" lang="en-US" altLang="en-US" sz="3200" i="0" strike="noStrike" cap="none" normalizeH="0" baseline="0" dirty="0">
                <a:ln>
                  <a:noFill/>
                </a:ln>
                <a:effectLst/>
                <a:latin typeface="+mn-lt"/>
              </a:rPr>
              <a:t> </a:t>
            </a:r>
            <a:r>
              <a:rPr kumimoji="0" lang="en-US" altLang="en-US" sz="3200" i="0" strike="noStrike" cap="none" normalizeH="0" baseline="0" dirty="0" err="1">
                <a:ln>
                  <a:noFill/>
                </a:ln>
                <a:effectLst/>
                <a:latin typeface="+mn-lt"/>
              </a:rPr>
              <a:t>nhiên</a:t>
            </a:r>
            <a:r>
              <a:rPr kumimoji="0" lang="en-US" altLang="en-US" sz="3200" i="0" strike="noStrike" cap="none" normalizeH="0" baseline="0" dirty="0">
                <a:ln>
                  <a:noFill/>
                </a:ln>
                <a:effectLst/>
                <a:latin typeface="+mn-lt"/>
              </a:rPr>
              <a:t>)</a:t>
            </a:r>
          </a:p>
          <a:p>
            <a:pPr marR="0" lvl="0" algn="just" defTabSz="914400" rtl="0" eaLnBrk="0" fontAlgn="base" latinLnBrk="0" hangingPunct="0">
              <a:lnSpc>
                <a:spcPct val="100000"/>
              </a:lnSpc>
              <a:spcBef>
                <a:spcPct val="0"/>
              </a:spcBef>
              <a:spcAft>
                <a:spcPct val="0"/>
              </a:spcAft>
              <a:buClrTx/>
              <a:buSzTx/>
              <a:tabLst/>
            </a:pPr>
            <a:endParaRPr kumimoji="0" lang="en-US" altLang="en-US" sz="3200" i="0" strike="noStrike" cap="none" normalizeH="0" baseline="0" dirty="0">
              <a:ln>
                <a:noFill/>
              </a:ln>
              <a:effectLst/>
              <a:latin typeface="+mn-lt"/>
            </a:endParaRPr>
          </a:p>
        </p:txBody>
      </p:sp>
    </p:spTree>
    <p:extLst>
      <p:ext uri="{BB962C8B-B14F-4D97-AF65-F5344CB8AC3E}">
        <p14:creationId xmlns:p14="http://schemas.microsoft.com/office/powerpoint/2010/main" val="36829220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DF9"/>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2095500"/>
            <a:chOff x="0" y="0"/>
            <a:chExt cx="4816593" cy="812800"/>
          </a:xfrm>
        </p:grpSpPr>
        <p:sp>
          <p:nvSpPr>
            <p:cNvPr id="3" name="Freeform 3"/>
            <p:cNvSpPr/>
            <p:nvPr/>
          </p:nvSpPr>
          <p:spPr>
            <a:xfrm>
              <a:off x="0" y="0"/>
              <a:ext cx="4816592" cy="812800"/>
            </a:xfrm>
            <a:custGeom>
              <a:avLst/>
              <a:gdLst/>
              <a:ahLst/>
              <a:cxnLst/>
              <a:rect l="l" t="t" r="r" b="b"/>
              <a:pathLst>
                <a:path w="4816592" h="812800">
                  <a:moveTo>
                    <a:pt x="0" y="0"/>
                  </a:moveTo>
                  <a:lnTo>
                    <a:pt x="4816592" y="0"/>
                  </a:lnTo>
                  <a:lnTo>
                    <a:pt x="4816592" y="812800"/>
                  </a:lnTo>
                  <a:lnTo>
                    <a:pt x="0" y="812800"/>
                  </a:lnTo>
                  <a:close/>
                </a:path>
              </a:pathLst>
            </a:custGeom>
            <a:solidFill>
              <a:srgbClr val="593EA1"/>
            </a:solidFill>
          </p:spPr>
          <p:txBody>
            <a:bodyPr/>
            <a:lstStyle/>
            <a:p>
              <a:endParaRPr lang="en-US" dirty="0"/>
            </a:p>
          </p:txBody>
        </p:sp>
        <p:sp>
          <p:nvSpPr>
            <p:cNvPr id="4" name="TextBox 4"/>
            <p:cNvSpPr txBox="1"/>
            <p:nvPr/>
          </p:nvSpPr>
          <p:spPr>
            <a:xfrm>
              <a:off x="0" y="-38100"/>
              <a:ext cx="4816593" cy="850900"/>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6">
            <a:extLst>
              <a:ext uri="{FF2B5EF4-FFF2-40B4-BE49-F238E27FC236}">
                <a16:creationId xmlns:a16="http://schemas.microsoft.com/office/drawing/2014/main" id="{1E41CD49-8389-476F-B243-C41A2C90314E}"/>
              </a:ext>
            </a:extLst>
          </p:cNvPr>
          <p:cNvSpPr txBox="1"/>
          <p:nvPr/>
        </p:nvSpPr>
        <p:spPr>
          <a:xfrm>
            <a:off x="6172198" y="632252"/>
            <a:ext cx="5943600" cy="830997"/>
          </a:xfrm>
          <a:prstGeom prst="rect">
            <a:avLst/>
          </a:prstGeom>
          <a:effectLst>
            <a:glow rad="63500">
              <a:schemeClr val="accent1">
                <a:satMod val="175000"/>
                <a:alpha val="40000"/>
              </a:schemeClr>
            </a:glow>
            <a:innerShdw blurRad="63500" dist="50800" dir="16200000">
              <a:prstClr val="black">
                <a:alpha val="50000"/>
              </a:prstClr>
            </a:innerShdw>
          </a:effectLst>
        </p:spPr>
        <p:txBody>
          <a:bodyPr wrap="square" lIns="0" tIns="0" rIns="0" bIns="0" rtlCol="0" anchor="t">
            <a:spAutoFit/>
          </a:bodyPr>
          <a:lstStyle/>
          <a:p>
            <a:pPr algn="ctr"/>
            <a:r>
              <a:rPr lang="vi-VN" sz="5400" b="1" dirty="0">
                <a:solidFill>
                  <a:srgbClr val="A2DFD9"/>
                </a:solidFill>
                <a:latin typeface="Bahnschrift SemiBold" panose="020B0502040204020203" pitchFamily="34" charset="0"/>
                <a:ea typeface="Bubblebody Neue Bold"/>
                <a:cs typeface="Bubblebody Neue Bold"/>
                <a:sym typeface="Bubblebody Neue Bold"/>
              </a:rPr>
              <a:t>HUGGINGFACE</a:t>
            </a:r>
            <a:endParaRPr lang="en-US" sz="5400" b="1" dirty="0">
              <a:solidFill>
                <a:srgbClr val="A2DFD9"/>
              </a:solidFill>
              <a:latin typeface="Bahnschrift SemiBold" panose="020B0502040204020203" pitchFamily="34" charset="0"/>
              <a:ea typeface="Bubblebody Neue Bold"/>
              <a:cs typeface="Bubblebody Neue Bold"/>
              <a:sym typeface="Bubblebody Neue Bold"/>
            </a:endParaRPr>
          </a:p>
        </p:txBody>
      </p:sp>
      <p:pic>
        <p:nvPicPr>
          <p:cNvPr id="10242" name="Picture 1">
            <a:extLst>
              <a:ext uri="{FF2B5EF4-FFF2-40B4-BE49-F238E27FC236}">
                <a16:creationId xmlns:a16="http://schemas.microsoft.com/office/drawing/2014/main" id="{26794B83-5BD3-455C-9CED-5B76E5703E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60" y="2717122"/>
            <a:ext cx="17978480" cy="6937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729961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DF9"/>
        </a:solidFill>
        <a:effectLst/>
      </p:bgPr>
    </p:bg>
    <p:spTree>
      <p:nvGrpSpPr>
        <p:cNvPr id="1" name=""/>
        <p:cNvGrpSpPr/>
        <p:nvPr/>
      </p:nvGrpSpPr>
      <p:grpSpPr>
        <a:xfrm>
          <a:off x="0" y="0"/>
          <a:ext cx="0" cy="0"/>
          <a:chOff x="0" y="0"/>
          <a:chExt cx="0" cy="0"/>
        </a:xfrm>
      </p:grpSpPr>
      <p:sp>
        <p:nvSpPr>
          <p:cNvPr id="4" name="Freeform 4"/>
          <p:cNvSpPr/>
          <p:nvPr/>
        </p:nvSpPr>
        <p:spPr>
          <a:xfrm>
            <a:off x="7543800" y="6456511"/>
            <a:ext cx="3539193" cy="199127"/>
          </a:xfrm>
          <a:custGeom>
            <a:avLst/>
            <a:gdLst/>
            <a:ahLst/>
            <a:cxnLst/>
            <a:rect l="l" t="t" r="r" b="b"/>
            <a:pathLst>
              <a:path w="3539193" h="199127">
                <a:moveTo>
                  <a:pt x="0" y="0"/>
                </a:moveTo>
                <a:lnTo>
                  <a:pt x="3539192" y="0"/>
                </a:lnTo>
                <a:lnTo>
                  <a:pt x="3539192" y="199127"/>
                </a:lnTo>
                <a:lnTo>
                  <a:pt x="0" y="1991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7374403" y="4555295"/>
            <a:ext cx="3539193" cy="199127"/>
          </a:xfrm>
          <a:custGeom>
            <a:avLst/>
            <a:gdLst/>
            <a:ahLst/>
            <a:cxnLst/>
            <a:rect l="l" t="t" r="r" b="b"/>
            <a:pathLst>
              <a:path w="3539193" h="199127">
                <a:moveTo>
                  <a:pt x="0" y="0"/>
                </a:moveTo>
                <a:lnTo>
                  <a:pt x="3539192" y="0"/>
                </a:lnTo>
                <a:lnTo>
                  <a:pt x="3539192" y="199127"/>
                </a:lnTo>
                <a:lnTo>
                  <a:pt x="0" y="1991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1300606" y="327725"/>
            <a:ext cx="5472439" cy="3066788"/>
          </a:xfrm>
          <a:custGeom>
            <a:avLst/>
            <a:gdLst/>
            <a:ahLst/>
            <a:cxnLst/>
            <a:rect l="l" t="t" r="r" b="b"/>
            <a:pathLst>
              <a:path w="5472439" h="3066788">
                <a:moveTo>
                  <a:pt x="0" y="0"/>
                </a:moveTo>
                <a:lnTo>
                  <a:pt x="5472439" y="0"/>
                </a:lnTo>
                <a:lnTo>
                  <a:pt x="5472439" y="3066787"/>
                </a:lnTo>
                <a:lnTo>
                  <a:pt x="0" y="306678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TextBox 9"/>
          <p:cNvSpPr txBox="1"/>
          <p:nvPr/>
        </p:nvSpPr>
        <p:spPr>
          <a:xfrm>
            <a:off x="5196713" y="5992316"/>
            <a:ext cx="7894574" cy="563759"/>
          </a:xfrm>
          <a:prstGeom prst="rect">
            <a:avLst/>
          </a:prstGeom>
        </p:spPr>
        <p:txBody>
          <a:bodyPr lIns="0" tIns="0" rIns="0" bIns="0" rtlCol="0" anchor="t">
            <a:spAutoFit/>
          </a:bodyPr>
          <a:lstStyle/>
          <a:p>
            <a:pPr algn="ctr">
              <a:lnSpc>
                <a:spcPts val="4626"/>
              </a:lnSpc>
            </a:pPr>
            <a:r>
              <a:rPr lang="en-US" sz="3304" b="1" dirty="0">
                <a:solidFill>
                  <a:srgbClr val="FFFDF9"/>
                </a:solidFill>
                <a:latin typeface="Canva Sans Bold"/>
                <a:ea typeface="Canva Sans Bold"/>
                <a:cs typeface="Canva Sans Bold"/>
                <a:sym typeface="Canva Sans Bold"/>
              </a:rPr>
              <a:t>Presented by Samira Hadid</a:t>
            </a:r>
          </a:p>
        </p:txBody>
      </p:sp>
      <p:sp>
        <p:nvSpPr>
          <p:cNvPr id="10" name="Freeform 10"/>
          <p:cNvSpPr/>
          <p:nvPr/>
        </p:nvSpPr>
        <p:spPr>
          <a:xfrm>
            <a:off x="14523081" y="6556075"/>
            <a:ext cx="5472439" cy="3066788"/>
          </a:xfrm>
          <a:custGeom>
            <a:avLst/>
            <a:gdLst/>
            <a:ahLst/>
            <a:cxnLst/>
            <a:rect l="l" t="t" r="r" b="b"/>
            <a:pathLst>
              <a:path w="5472439" h="3066788">
                <a:moveTo>
                  <a:pt x="0" y="0"/>
                </a:moveTo>
                <a:lnTo>
                  <a:pt x="5472438" y="0"/>
                </a:lnTo>
                <a:lnTo>
                  <a:pt x="5472438" y="3066788"/>
                </a:lnTo>
                <a:lnTo>
                  <a:pt x="0" y="306678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TextBox 5">
            <a:extLst>
              <a:ext uri="{FF2B5EF4-FFF2-40B4-BE49-F238E27FC236}">
                <a16:creationId xmlns:a16="http://schemas.microsoft.com/office/drawing/2014/main" id="{58EC4899-98F4-4A35-9962-DED866E498AE}"/>
              </a:ext>
            </a:extLst>
          </p:cNvPr>
          <p:cNvSpPr txBox="1"/>
          <p:nvPr/>
        </p:nvSpPr>
        <p:spPr>
          <a:xfrm>
            <a:off x="3599720" y="4956013"/>
            <a:ext cx="11427351" cy="2636363"/>
          </a:xfrm>
          <a:prstGeom prst="rect">
            <a:avLst/>
          </a:prstGeom>
        </p:spPr>
        <p:txBody>
          <a:bodyPr wrap="square" lIns="0" tIns="0" rIns="0" bIns="0" rtlCol="0" anchor="t">
            <a:spAutoFit/>
          </a:bodyPr>
          <a:lstStyle/>
          <a:p>
            <a:pPr algn="ctr">
              <a:lnSpc>
                <a:spcPts val="10877"/>
              </a:lnSpc>
            </a:pPr>
            <a:r>
              <a:rPr lang="vi-VN" sz="7200" b="1" dirty="0">
                <a:solidFill>
                  <a:srgbClr val="593EA1"/>
                </a:solidFill>
                <a:latin typeface="Bahnschrift SemiBold" panose="020B0502040204020203" pitchFamily="34" charset="0"/>
                <a:ea typeface="Calibri" panose="020F0502020204030204" pitchFamily="34" charset="0"/>
                <a:cs typeface="Calibri" panose="020F0502020204030204" pitchFamily="34" charset="0"/>
                <a:sym typeface="Bubblebody Neue Bold"/>
              </a:rPr>
              <a:t>Thực hiện hóa nghiên cứu</a:t>
            </a:r>
          </a:p>
          <a:p>
            <a:pPr algn="ctr">
              <a:lnSpc>
                <a:spcPts val="10877"/>
              </a:lnSpc>
            </a:pPr>
            <a:endParaRPr lang="en-US" sz="7200" b="1" dirty="0">
              <a:solidFill>
                <a:srgbClr val="593EA1"/>
              </a:solidFill>
              <a:latin typeface="Bahnschrift SemiBold" panose="020B0502040204020203" pitchFamily="34" charset="0"/>
              <a:ea typeface="Calibri" panose="020F0502020204030204" pitchFamily="34" charset="0"/>
              <a:cs typeface="Calibri" panose="020F0502020204030204" pitchFamily="34" charset="0"/>
              <a:sym typeface="Bubblebody Neue Bold"/>
            </a:endParaRPr>
          </a:p>
        </p:txBody>
      </p:sp>
    </p:spTree>
    <p:extLst>
      <p:ext uri="{BB962C8B-B14F-4D97-AF65-F5344CB8AC3E}">
        <p14:creationId xmlns:p14="http://schemas.microsoft.com/office/powerpoint/2010/main" val="18896225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DF9"/>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2095500"/>
            <a:chOff x="0" y="0"/>
            <a:chExt cx="4816593" cy="812800"/>
          </a:xfrm>
        </p:grpSpPr>
        <p:sp>
          <p:nvSpPr>
            <p:cNvPr id="3" name="Freeform 3"/>
            <p:cNvSpPr/>
            <p:nvPr/>
          </p:nvSpPr>
          <p:spPr>
            <a:xfrm>
              <a:off x="0" y="0"/>
              <a:ext cx="4816592" cy="812800"/>
            </a:xfrm>
            <a:custGeom>
              <a:avLst/>
              <a:gdLst/>
              <a:ahLst/>
              <a:cxnLst/>
              <a:rect l="l" t="t" r="r" b="b"/>
              <a:pathLst>
                <a:path w="4816592" h="812800">
                  <a:moveTo>
                    <a:pt x="0" y="0"/>
                  </a:moveTo>
                  <a:lnTo>
                    <a:pt x="4816592" y="0"/>
                  </a:lnTo>
                  <a:lnTo>
                    <a:pt x="4816592" y="812800"/>
                  </a:lnTo>
                  <a:lnTo>
                    <a:pt x="0" y="812800"/>
                  </a:lnTo>
                  <a:close/>
                </a:path>
              </a:pathLst>
            </a:custGeom>
            <a:solidFill>
              <a:srgbClr val="593EA1"/>
            </a:solidFill>
          </p:spPr>
          <p:txBody>
            <a:bodyPr/>
            <a:lstStyle/>
            <a:p>
              <a:endParaRPr lang="en-US" dirty="0"/>
            </a:p>
          </p:txBody>
        </p:sp>
        <p:sp>
          <p:nvSpPr>
            <p:cNvPr id="4" name="TextBox 4"/>
            <p:cNvSpPr txBox="1"/>
            <p:nvPr/>
          </p:nvSpPr>
          <p:spPr>
            <a:xfrm>
              <a:off x="0" y="-38100"/>
              <a:ext cx="4816593" cy="850900"/>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6">
            <a:extLst>
              <a:ext uri="{FF2B5EF4-FFF2-40B4-BE49-F238E27FC236}">
                <a16:creationId xmlns:a16="http://schemas.microsoft.com/office/drawing/2014/main" id="{1E41CD49-8389-476F-B243-C41A2C90314E}"/>
              </a:ext>
            </a:extLst>
          </p:cNvPr>
          <p:cNvSpPr txBox="1"/>
          <p:nvPr/>
        </p:nvSpPr>
        <p:spPr>
          <a:xfrm>
            <a:off x="6172198" y="632252"/>
            <a:ext cx="7467602" cy="830997"/>
          </a:xfrm>
          <a:prstGeom prst="rect">
            <a:avLst/>
          </a:prstGeom>
          <a:effectLst>
            <a:glow rad="63500">
              <a:schemeClr val="accent1">
                <a:satMod val="175000"/>
                <a:alpha val="40000"/>
              </a:schemeClr>
            </a:glow>
            <a:innerShdw blurRad="63500" dist="50800" dir="16200000">
              <a:prstClr val="black">
                <a:alpha val="50000"/>
              </a:prstClr>
            </a:innerShdw>
          </a:effectLst>
        </p:spPr>
        <p:txBody>
          <a:bodyPr wrap="square" lIns="0" tIns="0" rIns="0" bIns="0" rtlCol="0" anchor="t">
            <a:spAutoFit/>
          </a:bodyPr>
          <a:lstStyle/>
          <a:p>
            <a:pPr algn="ctr"/>
            <a:r>
              <a:rPr lang="vi-VN" sz="5400" b="1">
                <a:solidFill>
                  <a:srgbClr val="A2DFD9"/>
                </a:solidFill>
                <a:latin typeface="Bahnschrift SemiBold" panose="020B0502040204020203" pitchFamily="34" charset="0"/>
                <a:ea typeface="Bubblebody Neue Bold"/>
                <a:cs typeface="Bubblebody Neue Bold"/>
                <a:sym typeface="Bubblebody Neue Bold"/>
              </a:rPr>
              <a:t>KIẾN TRÚC HỆ THỐNG</a:t>
            </a:r>
            <a:endParaRPr lang="en-US" sz="5400" b="1" dirty="0">
              <a:solidFill>
                <a:srgbClr val="A2DFD9"/>
              </a:solidFill>
              <a:latin typeface="Bahnschrift SemiBold" panose="020B0502040204020203" pitchFamily="34" charset="0"/>
              <a:ea typeface="Bubblebody Neue Bold"/>
              <a:cs typeface="Bubblebody Neue Bold"/>
              <a:sym typeface="Bubblebody Neue Bold"/>
            </a:endParaRPr>
          </a:p>
        </p:txBody>
      </p:sp>
      <p:pic>
        <p:nvPicPr>
          <p:cNvPr id="5" name="Picture 4">
            <a:extLst>
              <a:ext uri="{FF2B5EF4-FFF2-40B4-BE49-F238E27FC236}">
                <a16:creationId xmlns:a16="http://schemas.microsoft.com/office/drawing/2014/main" id="{2F3903BC-4B98-4A70-942B-A2FAF5347DEF}"/>
              </a:ext>
            </a:extLst>
          </p:cNvPr>
          <p:cNvPicPr>
            <a:picLocks noChangeAspect="1"/>
          </p:cNvPicPr>
          <p:nvPr/>
        </p:nvPicPr>
        <p:blipFill>
          <a:blip r:embed="rId3"/>
          <a:stretch>
            <a:fillRect/>
          </a:stretch>
        </p:blipFill>
        <p:spPr>
          <a:xfrm>
            <a:off x="1723975" y="2098889"/>
            <a:ext cx="14840045" cy="8188111"/>
          </a:xfrm>
          <a:prstGeom prst="rect">
            <a:avLst/>
          </a:prstGeom>
        </p:spPr>
      </p:pic>
      <p:cxnSp>
        <p:nvCxnSpPr>
          <p:cNvPr id="8" name="Straight Arrow Connector 7">
            <a:extLst>
              <a:ext uri="{FF2B5EF4-FFF2-40B4-BE49-F238E27FC236}">
                <a16:creationId xmlns:a16="http://schemas.microsoft.com/office/drawing/2014/main" id="{26EC2128-963F-4AFB-984D-556200BE58ED}"/>
              </a:ext>
            </a:extLst>
          </p:cNvPr>
          <p:cNvCxnSpPr/>
          <p:nvPr/>
        </p:nvCxnSpPr>
        <p:spPr>
          <a:xfrm>
            <a:off x="6172198" y="3924300"/>
            <a:ext cx="1676402" cy="0"/>
          </a:xfrm>
          <a:prstGeom prst="straightConnector1">
            <a:avLst/>
          </a:prstGeom>
          <a:ln w="57150">
            <a:headEnd type="triangle"/>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id="{3A72E4D6-2992-4CE7-9613-B64687D5BEE7}"/>
              </a:ext>
            </a:extLst>
          </p:cNvPr>
          <p:cNvCxnSpPr>
            <a:cxnSpLocks/>
          </p:cNvCxnSpPr>
          <p:nvPr/>
        </p:nvCxnSpPr>
        <p:spPr>
          <a:xfrm>
            <a:off x="12725400" y="5524500"/>
            <a:ext cx="762000" cy="0"/>
          </a:xfrm>
          <a:prstGeom prst="straightConnector1">
            <a:avLst/>
          </a:prstGeom>
          <a:ln w="57150">
            <a:headEnd type="triangle"/>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908FA250-F5A9-41CE-8EBE-BA1BB0C67A60}"/>
              </a:ext>
            </a:extLst>
          </p:cNvPr>
          <p:cNvCxnSpPr>
            <a:cxnSpLocks/>
          </p:cNvCxnSpPr>
          <p:nvPr/>
        </p:nvCxnSpPr>
        <p:spPr>
          <a:xfrm>
            <a:off x="10287000" y="4686300"/>
            <a:ext cx="0" cy="838200"/>
          </a:xfrm>
          <a:prstGeom prst="straightConnector1">
            <a:avLst/>
          </a:prstGeom>
          <a:ln w="57150">
            <a:headEnd type="triangle"/>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C969F723-E2A0-4FA0-8234-D94D5A61AD37}"/>
              </a:ext>
            </a:extLst>
          </p:cNvPr>
          <p:cNvCxnSpPr/>
          <p:nvPr/>
        </p:nvCxnSpPr>
        <p:spPr>
          <a:xfrm>
            <a:off x="10287000" y="7505700"/>
            <a:ext cx="0" cy="838200"/>
          </a:xfrm>
          <a:prstGeom prst="straightConnector1">
            <a:avLst/>
          </a:prstGeom>
          <a:ln w="57150">
            <a:headEnd type="triangle"/>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1873321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DF9"/>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2095500"/>
            <a:chOff x="0" y="0"/>
            <a:chExt cx="4816593" cy="812800"/>
          </a:xfrm>
        </p:grpSpPr>
        <p:sp>
          <p:nvSpPr>
            <p:cNvPr id="3" name="Freeform 3"/>
            <p:cNvSpPr/>
            <p:nvPr/>
          </p:nvSpPr>
          <p:spPr>
            <a:xfrm>
              <a:off x="0" y="0"/>
              <a:ext cx="4816592" cy="812800"/>
            </a:xfrm>
            <a:custGeom>
              <a:avLst/>
              <a:gdLst/>
              <a:ahLst/>
              <a:cxnLst/>
              <a:rect l="l" t="t" r="r" b="b"/>
              <a:pathLst>
                <a:path w="4816592" h="812800">
                  <a:moveTo>
                    <a:pt x="0" y="0"/>
                  </a:moveTo>
                  <a:lnTo>
                    <a:pt x="4816592" y="0"/>
                  </a:lnTo>
                  <a:lnTo>
                    <a:pt x="4816592" y="812800"/>
                  </a:lnTo>
                  <a:lnTo>
                    <a:pt x="0" y="812800"/>
                  </a:lnTo>
                  <a:close/>
                </a:path>
              </a:pathLst>
            </a:custGeom>
            <a:solidFill>
              <a:srgbClr val="593EA1"/>
            </a:solidFill>
          </p:spPr>
          <p:txBody>
            <a:bodyPr/>
            <a:lstStyle/>
            <a:p>
              <a:endParaRPr lang="en-US" dirty="0"/>
            </a:p>
          </p:txBody>
        </p:sp>
        <p:sp>
          <p:nvSpPr>
            <p:cNvPr id="4" name="TextBox 4"/>
            <p:cNvSpPr txBox="1"/>
            <p:nvPr/>
          </p:nvSpPr>
          <p:spPr>
            <a:xfrm>
              <a:off x="0" y="-38100"/>
              <a:ext cx="4816593" cy="850900"/>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6">
            <a:extLst>
              <a:ext uri="{FF2B5EF4-FFF2-40B4-BE49-F238E27FC236}">
                <a16:creationId xmlns:a16="http://schemas.microsoft.com/office/drawing/2014/main" id="{1E41CD49-8389-476F-B243-C41A2C90314E}"/>
              </a:ext>
            </a:extLst>
          </p:cNvPr>
          <p:cNvSpPr txBox="1"/>
          <p:nvPr/>
        </p:nvSpPr>
        <p:spPr>
          <a:xfrm>
            <a:off x="6172198" y="632252"/>
            <a:ext cx="5943600" cy="830997"/>
          </a:xfrm>
          <a:prstGeom prst="rect">
            <a:avLst/>
          </a:prstGeom>
          <a:effectLst>
            <a:glow rad="63500">
              <a:schemeClr val="accent1">
                <a:satMod val="175000"/>
                <a:alpha val="40000"/>
              </a:schemeClr>
            </a:glow>
            <a:innerShdw blurRad="63500" dist="50800" dir="16200000">
              <a:prstClr val="black">
                <a:alpha val="50000"/>
              </a:prstClr>
            </a:innerShdw>
          </a:effectLst>
        </p:spPr>
        <p:txBody>
          <a:bodyPr wrap="square" lIns="0" tIns="0" rIns="0" bIns="0" rtlCol="0" anchor="t">
            <a:spAutoFit/>
          </a:bodyPr>
          <a:lstStyle/>
          <a:p>
            <a:pPr algn="ctr"/>
            <a:r>
              <a:rPr lang="vi-VN" sz="5400" b="1" dirty="0">
                <a:solidFill>
                  <a:srgbClr val="A2DFD9"/>
                </a:solidFill>
                <a:latin typeface="Bahnschrift SemiBold" panose="020B0502040204020203" pitchFamily="34" charset="0"/>
                <a:ea typeface="Bubblebody Neue Bold"/>
                <a:cs typeface="Bubblebody Neue Bold"/>
                <a:sym typeface="Bubblebody Neue Bold"/>
              </a:rPr>
              <a:t>Mô hình ERD</a:t>
            </a:r>
            <a:endParaRPr lang="en-US" sz="5400" b="1" dirty="0">
              <a:solidFill>
                <a:srgbClr val="A2DFD9"/>
              </a:solidFill>
              <a:latin typeface="Bahnschrift SemiBold" panose="020B0502040204020203" pitchFamily="34" charset="0"/>
              <a:ea typeface="Bubblebody Neue Bold"/>
              <a:cs typeface="Bubblebody Neue Bold"/>
              <a:sym typeface="Bubblebody Neue Bold"/>
            </a:endParaRPr>
          </a:p>
        </p:txBody>
      </p:sp>
      <p:pic>
        <p:nvPicPr>
          <p:cNvPr id="7" name="Picture 6">
            <a:extLst>
              <a:ext uri="{FF2B5EF4-FFF2-40B4-BE49-F238E27FC236}">
                <a16:creationId xmlns:a16="http://schemas.microsoft.com/office/drawing/2014/main" id="{5BC7265F-51E9-4BE4-88F0-9F9F120897EE}"/>
              </a:ext>
            </a:extLst>
          </p:cNvPr>
          <p:cNvPicPr>
            <a:picLocks noChangeAspect="1"/>
          </p:cNvPicPr>
          <p:nvPr/>
        </p:nvPicPr>
        <p:blipFill>
          <a:blip r:embed="rId3"/>
          <a:stretch>
            <a:fillRect/>
          </a:stretch>
        </p:blipFill>
        <p:spPr>
          <a:xfrm>
            <a:off x="2667000" y="2095500"/>
            <a:ext cx="12573000" cy="8191500"/>
          </a:xfrm>
          <a:prstGeom prst="rect">
            <a:avLst/>
          </a:prstGeom>
        </p:spPr>
      </p:pic>
    </p:spTree>
    <p:extLst>
      <p:ext uri="{BB962C8B-B14F-4D97-AF65-F5344CB8AC3E}">
        <p14:creationId xmlns:p14="http://schemas.microsoft.com/office/powerpoint/2010/main" val="11263113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DF9"/>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2095500"/>
            <a:chOff x="0" y="0"/>
            <a:chExt cx="4816593" cy="812800"/>
          </a:xfrm>
        </p:grpSpPr>
        <p:sp>
          <p:nvSpPr>
            <p:cNvPr id="3" name="Freeform 3"/>
            <p:cNvSpPr/>
            <p:nvPr/>
          </p:nvSpPr>
          <p:spPr>
            <a:xfrm>
              <a:off x="0" y="0"/>
              <a:ext cx="4816592" cy="812800"/>
            </a:xfrm>
            <a:custGeom>
              <a:avLst/>
              <a:gdLst/>
              <a:ahLst/>
              <a:cxnLst/>
              <a:rect l="l" t="t" r="r" b="b"/>
              <a:pathLst>
                <a:path w="4816592" h="812800">
                  <a:moveTo>
                    <a:pt x="0" y="0"/>
                  </a:moveTo>
                  <a:lnTo>
                    <a:pt x="4816592" y="0"/>
                  </a:lnTo>
                  <a:lnTo>
                    <a:pt x="4816592" y="812800"/>
                  </a:lnTo>
                  <a:lnTo>
                    <a:pt x="0" y="812800"/>
                  </a:lnTo>
                  <a:close/>
                </a:path>
              </a:pathLst>
            </a:custGeom>
            <a:solidFill>
              <a:srgbClr val="593EA1"/>
            </a:solidFill>
          </p:spPr>
          <p:txBody>
            <a:bodyPr/>
            <a:lstStyle/>
            <a:p>
              <a:endParaRPr lang="en-US" dirty="0"/>
            </a:p>
          </p:txBody>
        </p:sp>
        <p:sp>
          <p:nvSpPr>
            <p:cNvPr id="4" name="TextBox 4"/>
            <p:cNvSpPr txBox="1"/>
            <p:nvPr/>
          </p:nvSpPr>
          <p:spPr>
            <a:xfrm>
              <a:off x="0" y="-38100"/>
              <a:ext cx="4816593" cy="850900"/>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6">
            <a:extLst>
              <a:ext uri="{FF2B5EF4-FFF2-40B4-BE49-F238E27FC236}">
                <a16:creationId xmlns:a16="http://schemas.microsoft.com/office/drawing/2014/main" id="{1E41CD49-8389-476F-B243-C41A2C90314E}"/>
              </a:ext>
            </a:extLst>
          </p:cNvPr>
          <p:cNvSpPr txBox="1"/>
          <p:nvPr/>
        </p:nvSpPr>
        <p:spPr>
          <a:xfrm>
            <a:off x="4267197" y="632251"/>
            <a:ext cx="9753602" cy="830997"/>
          </a:xfrm>
          <a:prstGeom prst="rect">
            <a:avLst/>
          </a:prstGeom>
          <a:effectLst>
            <a:glow rad="63500">
              <a:schemeClr val="accent1">
                <a:satMod val="175000"/>
                <a:alpha val="40000"/>
              </a:schemeClr>
            </a:glow>
            <a:innerShdw blurRad="63500" dist="50800" dir="16200000">
              <a:prstClr val="black">
                <a:alpha val="50000"/>
              </a:prstClr>
            </a:innerShdw>
          </a:effectLst>
        </p:spPr>
        <p:txBody>
          <a:bodyPr wrap="square" lIns="0" tIns="0" rIns="0" bIns="0" rtlCol="0" anchor="t">
            <a:spAutoFit/>
          </a:bodyPr>
          <a:lstStyle/>
          <a:p>
            <a:pPr algn="ctr"/>
            <a:r>
              <a:rPr lang="vi-VN" sz="5400" b="1" dirty="0">
                <a:solidFill>
                  <a:srgbClr val="A2DFD9"/>
                </a:solidFill>
                <a:latin typeface="Bahnschrift SemiBold" panose="020B0502040204020203" pitchFamily="34" charset="0"/>
                <a:ea typeface="Bubblebody Neue Bold"/>
                <a:cs typeface="Bubblebody Neue Bold"/>
                <a:sym typeface="Bubblebody Neue Bold"/>
              </a:rPr>
              <a:t>Mô hình phân cấp chức năng</a:t>
            </a:r>
            <a:endParaRPr lang="en-US" sz="5400" b="1" dirty="0">
              <a:solidFill>
                <a:srgbClr val="A2DFD9"/>
              </a:solidFill>
              <a:latin typeface="Bahnschrift SemiBold" panose="020B0502040204020203" pitchFamily="34" charset="0"/>
              <a:ea typeface="Bubblebody Neue Bold"/>
              <a:cs typeface="Bubblebody Neue Bold"/>
              <a:sym typeface="Bubblebody Neue Bold"/>
            </a:endParaRPr>
          </a:p>
        </p:txBody>
      </p:sp>
      <p:sp>
        <p:nvSpPr>
          <p:cNvPr id="5" name="Rectangle 2">
            <a:extLst>
              <a:ext uri="{FF2B5EF4-FFF2-40B4-BE49-F238E27FC236}">
                <a16:creationId xmlns:a16="http://schemas.microsoft.com/office/drawing/2014/main" id="{87D60FE9-B363-4E33-83A1-54CD01404A2A}"/>
              </a:ext>
            </a:extLst>
          </p:cNvPr>
          <p:cNvSpPr>
            <a:spLocks noChangeArrowheads="1"/>
          </p:cNvSpPr>
          <p:nvPr/>
        </p:nvSpPr>
        <p:spPr bwMode="auto">
          <a:xfrm rot="16200000">
            <a:off x="-3059041" y="5169977"/>
            <a:ext cx="2803510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pic>
        <p:nvPicPr>
          <p:cNvPr id="4097" name="Picture 1">
            <a:extLst>
              <a:ext uri="{FF2B5EF4-FFF2-40B4-BE49-F238E27FC236}">
                <a16:creationId xmlns:a16="http://schemas.microsoft.com/office/drawing/2014/main" id="{973AC580-C8A4-44F0-AD22-68EA7908F5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200000">
            <a:off x="5054329" y="-2958827"/>
            <a:ext cx="8179340" cy="182879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53462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DF9"/>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2095500"/>
            <a:chOff x="0" y="0"/>
            <a:chExt cx="4816593" cy="812800"/>
          </a:xfrm>
        </p:grpSpPr>
        <p:sp>
          <p:nvSpPr>
            <p:cNvPr id="3" name="Freeform 3"/>
            <p:cNvSpPr/>
            <p:nvPr/>
          </p:nvSpPr>
          <p:spPr>
            <a:xfrm>
              <a:off x="0" y="0"/>
              <a:ext cx="4816592" cy="812800"/>
            </a:xfrm>
            <a:custGeom>
              <a:avLst/>
              <a:gdLst/>
              <a:ahLst/>
              <a:cxnLst/>
              <a:rect l="l" t="t" r="r" b="b"/>
              <a:pathLst>
                <a:path w="4816592" h="812800">
                  <a:moveTo>
                    <a:pt x="0" y="0"/>
                  </a:moveTo>
                  <a:lnTo>
                    <a:pt x="4816592" y="0"/>
                  </a:lnTo>
                  <a:lnTo>
                    <a:pt x="4816592" y="812800"/>
                  </a:lnTo>
                  <a:lnTo>
                    <a:pt x="0" y="812800"/>
                  </a:lnTo>
                  <a:close/>
                </a:path>
              </a:pathLst>
            </a:custGeom>
            <a:solidFill>
              <a:srgbClr val="593EA1"/>
            </a:solidFill>
          </p:spPr>
          <p:txBody>
            <a:bodyPr/>
            <a:lstStyle/>
            <a:p>
              <a:endParaRPr lang="en-US" dirty="0"/>
            </a:p>
          </p:txBody>
        </p:sp>
        <p:sp>
          <p:nvSpPr>
            <p:cNvPr id="4" name="TextBox 4"/>
            <p:cNvSpPr txBox="1"/>
            <p:nvPr/>
          </p:nvSpPr>
          <p:spPr>
            <a:xfrm>
              <a:off x="0" y="-38100"/>
              <a:ext cx="4816593" cy="850900"/>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6">
            <a:extLst>
              <a:ext uri="{FF2B5EF4-FFF2-40B4-BE49-F238E27FC236}">
                <a16:creationId xmlns:a16="http://schemas.microsoft.com/office/drawing/2014/main" id="{1E41CD49-8389-476F-B243-C41A2C90314E}"/>
              </a:ext>
            </a:extLst>
          </p:cNvPr>
          <p:cNvSpPr txBox="1"/>
          <p:nvPr/>
        </p:nvSpPr>
        <p:spPr>
          <a:xfrm>
            <a:off x="4267197" y="632251"/>
            <a:ext cx="9753602" cy="830997"/>
          </a:xfrm>
          <a:prstGeom prst="rect">
            <a:avLst/>
          </a:prstGeom>
          <a:effectLst>
            <a:glow rad="63500">
              <a:schemeClr val="accent1">
                <a:satMod val="175000"/>
                <a:alpha val="40000"/>
              </a:schemeClr>
            </a:glow>
            <a:innerShdw blurRad="63500" dist="50800" dir="16200000">
              <a:prstClr val="black">
                <a:alpha val="50000"/>
              </a:prstClr>
            </a:innerShdw>
          </a:effectLst>
        </p:spPr>
        <p:txBody>
          <a:bodyPr wrap="square" lIns="0" tIns="0" rIns="0" bIns="0" rtlCol="0" anchor="t">
            <a:spAutoFit/>
          </a:bodyPr>
          <a:lstStyle/>
          <a:p>
            <a:pPr algn="ctr"/>
            <a:r>
              <a:rPr lang="vi-VN" sz="5400" b="1" dirty="0">
                <a:solidFill>
                  <a:srgbClr val="A2DFD9"/>
                </a:solidFill>
                <a:latin typeface="Bahnschrift SemiBold" panose="020B0502040204020203" pitchFamily="34" charset="0"/>
                <a:ea typeface="Bubblebody Neue Bold"/>
                <a:cs typeface="Bubblebody Neue Bold"/>
                <a:sym typeface="Bubblebody Neue Bold"/>
              </a:rPr>
              <a:t>Cài đặt Dialogflow</a:t>
            </a:r>
            <a:endParaRPr lang="en-US" sz="5400" b="1" dirty="0">
              <a:solidFill>
                <a:srgbClr val="A2DFD9"/>
              </a:solidFill>
              <a:latin typeface="Bahnschrift SemiBold" panose="020B0502040204020203" pitchFamily="34" charset="0"/>
              <a:ea typeface="Bubblebody Neue Bold"/>
              <a:cs typeface="Bubblebody Neue Bold"/>
              <a:sym typeface="Bubblebody Neue Bold"/>
            </a:endParaRPr>
          </a:p>
        </p:txBody>
      </p:sp>
      <p:sp>
        <p:nvSpPr>
          <p:cNvPr id="5" name="Rectangle 2">
            <a:extLst>
              <a:ext uri="{FF2B5EF4-FFF2-40B4-BE49-F238E27FC236}">
                <a16:creationId xmlns:a16="http://schemas.microsoft.com/office/drawing/2014/main" id="{87D60FE9-B363-4E33-83A1-54CD01404A2A}"/>
              </a:ext>
            </a:extLst>
          </p:cNvPr>
          <p:cNvSpPr>
            <a:spLocks noChangeArrowheads="1"/>
          </p:cNvSpPr>
          <p:nvPr/>
        </p:nvSpPr>
        <p:spPr bwMode="auto">
          <a:xfrm rot="16200000">
            <a:off x="-3059041" y="5169977"/>
            <a:ext cx="2803510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pic>
        <p:nvPicPr>
          <p:cNvPr id="5122" name="Picture 1">
            <a:extLst>
              <a:ext uri="{FF2B5EF4-FFF2-40B4-BE49-F238E27FC236}">
                <a16:creationId xmlns:a16="http://schemas.microsoft.com/office/drawing/2014/main" id="{41D29302-659E-495A-A286-06BEA8A570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172054"/>
            <a:ext cx="11887200" cy="5950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84FD07A7-CC8E-4186-A1E3-56B7D490A35C}"/>
              </a:ext>
            </a:extLst>
          </p:cNvPr>
          <p:cNvSpPr/>
          <p:nvPr/>
        </p:nvSpPr>
        <p:spPr>
          <a:xfrm>
            <a:off x="12591500" y="3641487"/>
            <a:ext cx="5058326" cy="5011500"/>
          </a:xfrm>
          <a:prstGeom prst="rect">
            <a:avLst/>
          </a:prstGeom>
        </p:spPr>
        <p:txBody>
          <a:bodyPr wrap="square">
            <a:spAutoFit/>
          </a:bodyPr>
          <a:lstStyle/>
          <a:p>
            <a:pPr indent="457200" algn="just">
              <a:lnSpc>
                <a:spcPct val="150000"/>
              </a:lnSpc>
              <a:spcBef>
                <a:spcPts val="600"/>
              </a:spcBef>
              <a:spcAft>
                <a:spcPts val="600"/>
              </a:spcAft>
            </a:pPr>
            <a:r>
              <a:rPr lang="vi-VN" sz="2800" dirty="0">
                <a:latin typeface="Calibri" panose="020F0502020204030204" pitchFamily="34" charset="0"/>
                <a:ea typeface="Calibri" panose="020F0502020204030204" pitchFamily="34" charset="0"/>
                <a:cs typeface="Calibri" panose="020F0502020204030204" pitchFamily="34" charset="0"/>
              </a:rPr>
              <a:t>Bước 1: Khởi tạo Agent</a:t>
            </a:r>
          </a:p>
          <a:p>
            <a:pPr indent="457200" algn="just">
              <a:lnSpc>
                <a:spcPct val="150000"/>
              </a:lnSpc>
              <a:spcBef>
                <a:spcPts val="600"/>
              </a:spcBef>
              <a:spcAft>
                <a:spcPts val="600"/>
              </a:spcAft>
            </a:pPr>
            <a:r>
              <a:rPr lang="vi-VN" sz="2800" dirty="0">
                <a:latin typeface="Calibri" panose="020F0502020204030204" pitchFamily="34" charset="0"/>
                <a:ea typeface="Calibri" panose="020F0502020204030204" pitchFamily="34" charset="0"/>
                <a:cs typeface="Calibri" panose="020F0502020204030204" pitchFamily="34" charset="0"/>
              </a:rPr>
              <a:t>Bước 2: Khởi tạo Intent (ý định người dùng</a:t>
            </a:r>
          </a:p>
          <a:p>
            <a:pPr indent="457200" algn="just">
              <a:lnSpc>
                <a:spcPct val="150000"/>
              </a:lnSpc>
              <a:spcBef>
                <a:spcPts val="600"/>
              </a:spcBef>
              <a:spcAft>
                <a:spcPts val="600"/>
              </a:spcAft>
            </a:pPr>
            <a:r>
              <a:rPr lang="vi-VN" sz="2800" dirty="0">
                <a:latin typeface="Calibri" panose="020F0502020204030204" pitchFamily="34" charset="0"/>
                <a:ea typeface="Calibri" panose="020F0502020204030204" pitchFamily="34" charset="0"/>
                <a:cs typeface="Calibri" panose="020F0502020204030204" pitchFamily="34" charset="0"/>
              </a:rPr>
              <a:t>Bước 3: Bật API và thông tin xác thực để tích hợp chatbot vào ứng dụng</a:t>
            </a:r>
            <a:endParaRPr lang="en-US" sz="2800" dirty="0">
              <a:latin typeface="Calibri" panose="020F0502020204030204" pitchFamily="34" charset="0"/>
              <a:ea typeface="Calibri" panose="020F0502020204030204" pitchFamily="34" charset="0"/>
              <a:cs typeface="Calibri" panose="020F0502020204030204" pitchFamily="34" charset="0"/>
            </a:endParaRPr>
          </a:p>
          <a:p>
            <a:pPr indent="457200" algn="just">
              <a:lnSpc>
                <a:spcPct val="150000"/>
              </a:lnSpc>
              <a:spcBef>
                <a:spcPts val="600"/>
              </a:spcBef>
              <a:spcAft>
                <a:spcPts val="600"/>
              </a:spcAft>
            </a:pPr>
            <a:endParaRPr lang="en-US" sz="2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503260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DF9"/>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2095500"/>
            <a:chOff x="0" y="0"/>
            <a:chExt cx="4816593" cy="812800"/>
          </a:xfrm>
        </p:grpSpPr>
        <p:sp>
          <p:nvSpPr>
            <p:cNvPr id="3" name="Freeform 3"/>
            <p:cNvSpPr/>
            <p:nvPr/>
          </p:nvSpPr>
          <p:spPr>
            <a:xfrm>
              <a:off x="0" y="0"/>
              <a:ext cx="4816592" cy="812800"/>
            </a:xfrm>
            <a:custGeom>
              <a:avLst/>
              <a:gdLst/>
              <a:ahLst/>
              <a:cxnLst/>
              <a:rect l="l" t="t" r="r" b="b"/>
              <a:pathLst>
                <a:path w="4816592" h="812800">
                  <a:moveTo>
                    <a:pt x="0" y="0"/>
                  </a:moveTo>
                  <a:lnTo>
                    <a:pt x="4816592" y="0"/>
                  </a:lnTo>
                  <a:lnTo>
                    <a:pt x="4816592" y="812800"/>
                  </a:lnTo>
                  <a:lnTo>
                    <a:pt x="0" y="812800"/>
                  </a:lnTo>
                  <a:close/>
                </a:path>
              </a:pathLst>
            </a:custGeom>
            <a:solidFill>
              <a:srgbClr val="593EA1"/>
            </a:solidFill>
          </p:spPr>
          <p:txBody>
            <a:bodyPr/>
            <a:lstStyle/>
            <a:p>
              <a:endParaRPr lang="en-US" dirty="0"/>
            </a:p>
          </p:txBody>
        </p:sp>
        <p:sp>
          <p:nvSpPr>
            <p:cNvPr id="4" name="TextBox 4"/>
            <p:cNvSpPr txBox="1"/>
            <p:nvPr/>
          </p:nvSpPr>
          <p:spPr>
            <a:xfrm>
              <a:off x="0" y="-38100"/>
              <a:ext cx="4816593" cy="850900"/>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6">
            <a:extLst>
              <a:ext uri="{FF2B5EF4-FFF2-40B4-BE49-F238E27FC236}">
                <a16:creationId xmlns:a16="http://schemas.microsoft.com/office/drawing/2014/main" id="{1E41CD49-8389-476F-B243-C41A2C90314E}"/>
              </a:ext>
            </a:extLst>
          </p:cNvPr>
          <p:cNvSpPr txBox="1"/>
          <p:nvPr/>
        </p:nvSpPr>
        <p:spPr>
          <a:xfrm>
            <a:off x="4267197" y="632251"/>
            <a:ext cx="9753602" cy="830997"/>
          </a:xfrm>
          <a:prstGeom prst="rect">
            <a:avLst/>
          </a:prstGeom>
          <a:effectLst>
            <a:glow rad="63500">
              <a:schemeClr val="accent1">
                <a:satMod val="175000"/>
                <a:alpha val="40000"/>
              </a:schemeClr>
            </a:glow>
            <a:innerShdw blurRad="63500" dist="50800" dir="16200000">
              <a:prstClr val="black">
                <a:alpha val="50000"/>
              </a:prstClr>
            </a:innerShdw>
          </a:effectLst>
        </p:spPr>
        <p:txBody>
          <a:bodyPr wrap="square" lIns="0" tIns="0" rIns="0" bIns="0" rtlCol="0" anchor="t">
            <a:spAutoFit/>
          </a:bodyPr>
          <a:lstStyle/>
          <a:p>
            <a:pPr algn="ctr"/>
            <a:r>
              <a:rPr lang="vi-VN" sz="5400" b="1" dirty="0">
                <a:solidFill>
                  <a:srgbClr val="A2DFD9"/>
                </a:solidFill>
                <a:latin typeface="Bahnschrift SemiBold" panose="020B0502040204020203" pitchFamily="34" charset="0"/>
                <a:ea typeface="Bubblebody Neue Bold"/>
                <a:cs typeface="Bubblebody Neue Bold"/>
                <a:sym typeface="Bubblebody Neue Bold"/>
              </a:rPr>
              <a:t>Tích hợp mô hình </a:t>
            </a:r>
            <a:endParaRPr lang="en-US" sz="5400" b="1" dirty="0">
              <a:solidFill>
                <a:srgbClr val="A2DFD9"/>
              </a:solidFill>
              <a:latin typeface="Bahnschrift SemiBold" panose="020B0502040204020203" pitchFamily="34" charset="0"/>
              <a:ea typeface="Bubblebody Neue Bold"/>
              <a:cs typeface="Bubblebody Neue Bold"/>
              <a:sym typeface="Bubblebody Neue Bold"/>
            </a:endParaRPr>
          </a:p>
        </p:txBody>
      </p:sp>
      <p:sp>
        <p:nvSpPr>
          <p:cNvPr id="5" name="Rectangle 2">
            <a:extLst>
              <a:ext uri="{FF2B5EF4-FFF2-40B4-BE49-F238E27FC236}">
                <a16:creationId xmlns:a16="http://schemas.microsoft.com/office/drawing/2014/main" id="{87D60FE9-B363-4E33-83A1-54CD01404A2A}"/>
              </a:ext>
            </a:extLst>
          </p:cNvPr>
          <p:cNvSpPr>
            <a:spLocks noChangeArrowheads="1"/>
          </p:cNvSpPr>
          <p:nvPr/>
        </p:nvSpPr>
        <p:spPr bwMode="auto">
          <a:xfrm rot="16200000">
            <a:off x="-3059041" y="5169977"/>
            <a:ext cx="2803510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pic>
        <p:nvPicPr>
          <p:cNvPr id="5122" name="Picture 1">
            <a:extLst>
              <a:ext uri="{FF2B5EF4-FFF2-40B4-BE49-F238E27FC236}">
                <a16:creationId xmlns:a16="http://schemas.microsoft.com/office/drawing/2014/main" id="{41D29302-659E-495A-A286-06BEA8A570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172054"/>
            <a:ext cx="10515593" cy="5950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84FD07A7-CC8E-4186-A1E3-56B7D490A35C}"/>
              </a:ext>
            </a:extLst>
          </p:cNvPr>
          <p:cNvSpPr/>
          <p:nvPr/>
        </p:nvSpPr>
        <p:spPr>
          <a:xfrm>
            <a:off x="10820403" y="3641487"/>
            <a:ext cx="7467592" cy="3334118"/>
          </a:xfrm>
          <a:prstGeom prst="rect">
            <a:avLst/>
          </a:prstGeom>
        </p:spPr>
        <p:txBody>
          <a:bodyPr wrap="square">
            <a:spAutoFit/>
          </a:bodyPr>
          <a:lstStyle/>
          <a:p>
            <a:r>
              <a:rPr lang="vi-VN" sz="2800" dirty="0">
                <a:latin typeface="Calibri" panose="020F0502020204030204" pitchFamily="34" charset="0"/>
                <a:ea typeface="Calibri" panose="020F0502020204030204" pitchFamily="34" charset="0"/>
                <a:cs typeface="Calibri" panose="020F0502020204030204" pitchFamily="34" charset="0"/>
              </a:rPr>
              <a:t>Bước 1: Chạy lệnh trong terminal</a:t>
            </a:r>
          </a:p>
          <a:p>
            <a:endParaRPr lang="vi-VN" sz="2800" dirty="0">
              <a:latin typeface="Calibri" panose="020F0502020204030204" pitchFamily="34" charset="0"/>
              <a:ea typeface="Calibri" panose="020F0502020204030204" pitchFamily="34" charset="0"/>
              <a:cs typeface="Calibri" panose="020F0502020204030204" pitchFamily="34" charset="0"/>
            </a:endParaRPr>
          </a:p>
          <a:p>
            <a:r>
              <a:rPr lang="vi-VN" sz="2800" i="1" dirty="0">
                <a:latin typeface="Calibri" panose="020F0502020204030204" pitchFamily="34" charset="0"/>
                <a:ea typeface="Calibri" panose="020F0502020204030204" pitchFamily="34" charset="0"/>
                <a:cs typeface="Calibri" panose="020F0502020204030204" pitchFamily="34" charset="0"/>
              </a:rPr>
              <a:t>pip install flask transformers torch deep-translator</a:t>
            </a:r>
          </a:p>
          <a:p>
            <a:endParaRPr lang="en-US" sz="2800" dirty="0">
              <a:latin typeface="Calibri" panose="020F0502020204030204" pitchFamily="34" charset="0"/>
              <a:ea typeface="Calibri" panose="020F0502020204030204" pitchFamily="34" charset="0"/>
              <a:cs typeface="Calibri" panose="020F0502020204030204" pitchFamily="34" charset="0"/>
            </a:endParaRPr>
          </a:p>
          <a:p>
            <a:r>
              <a:rPr lang="en-US" sz="2800" dirty="0" err="1">
                <a:latin typeface="Calibri" panose="020F0502020204030204" pitchFamily="34" charset="0"/>
                <a:ea typeface="Calibri" panose="020F0502020204030204" pitchFamily="34" charset="0"/>
                <a:cs typeface="Calibri" panose="020F0502020204030204" pitchFamily="34" charset="0"/>
              </a:rPr>
              <a:t>Bước</a:t>
            </a:r>
            <a:r>
              <a:rPr lang="en-US" sz="2800" dirty="0">
                <a:latin typeface="Calibri" panose="020F0502020204030204" pitchFamily="34" charset="0"/>
                <a:ea typeface="Calibri" panose="020F0502020204030204" pitchFamily="34" charset="0"/>
                <a:cs typeface="Calibri" panose="020F0502020204030204" pitchFamily="34" charset="0"/>
              </a:rPr>
              <a:t> 2: </a:t>
            </a:r>
            <a:r>
              <a:rPr lang="en-US" sz="2800" dirty="0" err="1">
                <a:latin typeface="Calibri" panose="020F0502020204030204" pitchFamily="34" charset="0"/>
                <a:ea typeface="Calibri" panose="020F0502020204030204" pitchFamily="34" charset="0"/>
                <a:cs typeface="Calibri" panose="020F0502020204030204" pitchFamily="34" charset="0"/>
              </a:rPr>
              <a:t>Tạo</a:t>
            </a:r>
            <a:r>
              <a:rPr lang="en-US" sz="2800" dirty="0">
                <a:latin typeface="Calibri" panose="020F0502020204030204" pitchFamily="34" charset="0"/>
                <a:ea typeface="Calibri" panose="020F0502020204030204" pitchFamily="34" charset="0"/>
                <a:cs typeface="Calibri" panose="020F0502020204030204" pitchFamily="34" charset="0"/>
              </a:rPr>
              <a:t> file app.py</a:t>
            </a:r>
          </a:p>
          <a:p>
            <a:r>
              <a:rPr lang="en-US" sz="2800" dirty="0" err="1">
                <a:latin typeface="Calibri" panose="020F0502020204030204" pitchFamily="34" charset="0"/>
                <a:ea typeface="Calibri" panose="020F0502020204030204" pitchFamily="34" charset="0"/>
                <a:cs typeface="Calibri" panose="020F0502020204030204" pitchFamily="34" charset="0"/>
              </a:rPr>
              <a:t>Bước</a:t>
            </a:r>
            <a:r>
              <a:rPr lang="en-US" sz="2800" dirty="0">
                <a:latin typeface="Calibri" panose="020F0502020204030204" pitchFamily="34" charset="0"/>
                <a:ea typeface="Calibri" panose="020F0502020204030204" pitchFamily="34" charset="0"/>
                <a:cs typeface="Calibri" panose="020F0502020204030204" pitchFamily="34" charset="0"/>
              </a:rPr>
              <a:t> 3: </a:t>
            </a:r>
            <a:r>
              <a:rPr lang="en-US" sz="2800" dirty="0" err="1">
                <a:latin typeface="Calibri" panose="020F0502020204030204" pitchFamily="34" charset="0"/>
                <a:ea typeface="Calibri" panose="020F0502020204030204" pitchFamily="34" charset="0"/>
                <a:cs typeface="Calibri" panose="020F0502020204030204" pitchFamily="34" charset="0"/>
              </a:rPr>
              <a:t>Chạy</a:t>
            </a:r>
            <a:r>
              <a:rPr lang="en-US" sz="2800" dirty="0">
                <a:latin typeface="Calibri" panose="020F0502020204030204" pitchFamily="34" charset="0"/>
                <a:ea typeface="Calibri" panose="020F0502020204030204" pitchFamily="34" charset="0"/>
                <a:cs typeface="Calibri" panose="020F0502020204030204" pitchFamily="34" charset="0"/>
              </a:rPr>
              <a:t> file </a:t>
            </a:r>
            <a:r>
              <a:rPr lang="en-US" sz="2800" dirty="0" err="1">
                <a:latin typeface="Calibri" panose="020F0502020204030204" pitchFamily="34" charset="0"/>
                <a:ea typeface="Calibri" panose="020F0502020204030204" pitchFamily="34" charset="0"/>
                <a:cs typeface="Calibri" panose="020F0502020204030204" pitchFamily="34" charset="0"/>
              </a:rPr>
              <a:t>để</a:t>
            </a:r>
            <a:r>
              <a:rPr lang="en-US" sz="2800" dirty="0">
                <a:latin typeface="Calibri" panose="020F0502020204030204" pitchFamily="34" charset="0"/>
                <a:ea typeface="Calibri" panose="020F0502020204030204" pitchFamily="34" charset="0"/>
                <a:cs typeface="Calibri" panose="020F0502020204030204" pitchFamily="34" charset="0"/>
              </a:rPr>
              <a:t> </a:t>
            </a:r>
            <a:r>
              <a:rPr lang="en-US" sz="2800" dirty="0" err="1">
                <a:latin typeface="Calibri" panose="020F0502020204030204" pitchFamily="34" charset="0"/>
                <a:ea typeface="Calibri" panose="020F0502020204030204" pitchFamily="34" charset="0"/>
                <a:cs typeface="Calibri" panose="020F0502020204030204" pitchFamily="34" charset="0"/>
              </a:rPr>
              <a:t>tiến</a:t>
            </a:r>
            <a:r>
              <a:rPr lang="en-US" sz="2800" dirty="0">
                <a:latin typeface="Calibri" panose="020F0502020204030204" pitchFamily="34" charset="0"/>
                <a:ea typeface="Calibri" panose="020F0502020204030204" pitchFamily="34" charset="0"/>
                <a:cs typeface="Calibri" panose="020F0502020204030204" pitchFamily="34" charset="0"/>
              </a:rPr>
              <a:t> </a:t>
            </a:r>
            <a:r>
              <a:rPr lang="en-US" sz="2800" dirty="0" err="1">
                <a:latin typeface="Calibri" panose="020F0502020204030204" pitchFamily="34" charset="0"/>
                <a:ea typeface="Calibri" panose="020F0502020204030204" pitchFamily="34" charset="0"/>
                <a:cs typeface="Calibri" panose="020F0502020204030204" pitchFamily="34" charset="0"/>
              </a:rPr>
              <a:t>hành</a:t>
            </a:r>
            <a:r>
              <a:rPr lang="en-US" sz="2800" dirty="0">
                <a:latin typeface="Calibri" panose="020F0502020204030204" pitchFamily="34" charset="0"/>
                <a:ea typeface="Calibri" panose="020F0502020204030204" pitchFamily="34" charset="0"/>
                <a:cs typeface="Calibri" panose="020F0502020204030204" pitchFamily="34" charset="0"/>
              </a:rPr>
              <a:t> </a:t>
            </a:r>
            <a:r>
              <a:rPr lang="en-US" sz="2800" dirty="0" err="1">
                <a:latin typeface="Calibri" panose="020F0502020204030204" pitchFamily="34" charset="0"/>
                <a:ea typeface="Calibri" panose="020F0502020204030204" pitchFamily="34" charset="0"/>
                <a:cs typeface="Calibri" panose="020F0502020204030204" pitchFamily="34" charset="0"/>
              </a:rPr>
              <a:t>phân</a:t>
            </a:r>
            <a:r>
              <a:rPr lang="en-US" sz="2800" dirty="0">
                <a:latin typeface="Calibri" panose="020F0502020204030204" pitchFamily="34" charset="0"/>
                <a:ea typeface="Calibri" panose="020F0502020204030204" pitchFamily="34" charset="0"/>
                <a:cs typeface="Calibri" panose="020F0502020204030204" pitchFamily="34" charset="0"/>
              </a:rPr>
              <a:t> </a:t>
            </a:r>
            <a:r>
              <a:rPr lang="en-US" sz="2800" dirty="0" err="1">
                <a:latin typeface="Calibri" panose="020F0502020204030204" pitchFamily="34" charset="0"/>
                <a:ea typeface="Calibri" panose="020F0502020204030204" pitchFamily="34" charset="0"/>
                <a:cs typeface="Calibri" panose="020F0502020204030204" pitchFamily="34" charset="0"/>
              </a:rPr>
              <a:t>tích</a:t>
            </a:r>
            <a:endParaRPr lang="en-US" sz="2800" dirty="0">
              <a:latin typeface="Calibri" panose="020F0502020204030204" pitchFamily="34" charset="0"/>
              <a:ea typeface="Calibri" panose="020F0502020204030204" pitchFamily="34" charset="0"/>
              <a:cs typeface="Calibri" panose="020F0502020204030204" pitchFamily="34" charset="0"/>
            </a:endParaRPr>
          </a:p>
          <a:p>
            <a:pPr indent="457200" algn="just">
              <a:lnSpc>
                <a:spcPct val="150000"/>
              </a:lnSpc>
              <a:spcBef>
                <a:spcPts val="600"/>
              </a:spcBef>
              <a:spcAft>
                <a:spcPts val="600"/>
              </a:spcAft>
            </a:pPr>
            <a:endParaRPr lang="en-US" sz="2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3621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DF9"/>
        </a:solidFill>
        <a:effectLst/>
      </p:bgPr>
    </p:bg>
    <p:spTree>
      <p:nvGrpSpPr>
        <p:cNvPr id="1" name=""/>
        <p:cNvGrpSpPr/>
        <p:nvPr/>
      </p:nvGrpSpPr>
      <p:grpSpPr>
        <a:xfrm>
          <a:off x="0" y="0"/>
          <a:ext cx="0" cy="0"/>
          <a:chOff x="0" y="0"/>
          <a:chExt cx="0" cy="0"/>
        </a:xfrm>
      </p:grpSpPr>
      <p:sp>
        <p:nvSpPr>
          <p:cNvPr id="4" name="Freeform 4"/>
          <p:cNvSpPr/>
          <p:nvPr/>
        </p:nvSpPr>
        <p:spPr>
          <a:xfrm>
            <a:off x="7543800" y="6456511"/>
            <a:ext cx="3539193" cy="199127"/>
          </a:xfrm>
          <a:custGeom>
            <a:avLst/>
            <a:gdLst/>
            <a:ahLst/>
            <a:cxnLst/>
            <a:rect l="l" t="t" r="r" b="b"/>
            <a:pathLst>
              <a:path w="3539193" h="199127">
                <a:moveTo>
                  <a:pt x="0" y="0"/>
                </a:moveTo>
                <a:lnTo>
                  <a:pt x="3539192" y="0"/>
                </a:lnTo>
                <a:lnTo>
                  <a:pt x="3539192" y="199127"/>
                </a:lnTo>
                <a:lnTo>
                  <a:pt x="0" y="1991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7374403" y="4555295"/>
            <a:ext cx="3539193" cy="199127"/>
          </a:xfrm>
          <a:custGeom>
            <a:avLst/>
            <a:gdLst/>
            <a:ahLst/>
            <a:cxnLst/>
            <a:rect l="l" t="t" r="r" b="b"/>
            <a:pathLst>
              <a:path w="3539193" h="199127">
                <a:moveTo>
                  <a:pt x="0" y="0"/>
                </a:moveTo>
                <a:lnTo>
                  <a:pt x="3539192" y="0"/>
                </a:lnTo>
                <a:lnTo>
                  <a:pt x="3539192" y="199127"/>
                </a:lnTo>
                <a:lnTo>
                  <a:pt x="0" y="1991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1300606" y="327725"/>
            <a:ext cx="5472439" cy="3066788"/>
          </a:xfrm>
          <a:custGeom>
            <a:avLst/>
            <a:gdLst/>
            <a:ahLst/>
            <a:cxnLst/>
            <a:rect l="l" t="t" r="r" b="b"/>
            <a:pathLst>
              <a:path w="5472439" h="3066788">
                <a:moveTo>
                  <a:pt x="0" y="0"/>
                </a:moveTo>
                <a:lnTo>
                  <a:pt x="5472439" y="0"/>
                </a:lnTo>
                <a:lnTo>
                  <a:pt x="5472439" y="3066787"/>
                </a:lnTo>
                <a:lnTo>
                  <a:pt x="0" y="306678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TextBox 9"/>
          <p:cNvSpPr txBox="1"/>
          <p:nvPr/>
        </p:nvSpPr>
        <p:spPr>
          <a:xfrm>
            <a:off x="5196713" y="5992316"/>
            <a:ext cx="7894574" cy="563759"/>
          </a:xfrm>
          <a:prstGeom prst="rect">
            <a:avLst/>
          </a:prstGeom>
        </p:spPr>
        <p:txBody>
          <a:bodyPr lIns="0" tIns="0" rIns="0" bIns="0" rtlCol="0" anchor="t">
            <a:spAutoFit/>
          </a:bodyPr>
          <a:lstStyle/>
          <a:p>
            <a:pPr algn="ctr">
              <a:lnSpc>
                <a:spcPts val="4626"/>
              </a:lnSpc>
            </a:pPr>
            <a:r>
              <a:rPr lang="en-US" sz="3304" b="1" dirty="0">
                <a:solidFill>
                  <a:srgbClr val="FFFDF9"/>
                </a:solidFill>
                <a:latin typeface="Canva Sans Bold"/>
                <a:ea typeface="Canva Sans Bold"/>
                <a:cs typeface="Canva Sans Bold"/>
                <a:sym typeface="Canva Sans Bold"/>
              </a:rPr>
              <a:t>Presented by Samira Hadid</a:t>
            </a:r>
          </a:p>
        </p:txBody>
      </p:sp>
      <p:sp>
        <p:nvSpPr>
          <p:cNvPr id="10" name="Freeform 10"/>
          <p:cNvSpPr/>
          <p:nvPr/>
        </p:nvSpPr>
        <p:spPr>
          <a:xfrm>
            <a:off x="14523081" y="6556075"/>
            <a:ext cx="5472439" cy="3066788"/>
          </a:xfrm>
          <a:custGeom>
            <a:avLst/>
            <a:gdLst/>
            <a:ahLst/>
            <a:cxnLst/>
            <a:rect l="l" t="t" r="r" b="b"/>
            <a:pathLst>
              <a:path w="5472439" h="3066788">
                <a:moveTo>
                  <a:pt x="0" y="0"/>
                </a:moveTo>
                <a:lnTo>
                  <a:pt x="5472438" y="0"/>
                </a:lnTo>
                <a:lnTo>
                  <a:pt x="5472438" y="3066788"/>
                </a:lnTo>
                <a:lnTo>
                  <a:pt x="0" y="306678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TextBox 5">
            <a:extLst>
              <a:ext uri="{FF2B5EF4-FFF2-40B4-BE49-F238E27FC236}">
                <a16:creationId xmlns:a16="http://schemas.microsoft.com/office/drawing/2014/main" id="{58EC4899-98F4-4A35-9962-DED866E498AE}"/>
              </a:ext>
            </a:extLst>
          </p:cNvPr>
          <p:cNvSpPr txBox="1"/>
          <p:nvPr/>
        </p:nvSpPr>
        <p:spPr>
          <a:xfrm>
            <a:off x="3095259" y="4956013"/>
            <a:ext cx="12097480" cy="2636363"/>
          </a:xfrm>
          <a:prstGeom prst="rect">
            <a:avLst/>
          </a:prstGeom>
        </p:spPr>
        <p:txBody>
          <a:bodyPr wrap="square" lIns="0" tIns="0" rIns="0" bIns="0" rtlCol="0" anchor="t">
            <a:spAutoFit/>
          </a:bodyPr>
          <a:lstStyle/>
          <a:p>
            <a:pPr algn="ctr">
              <a:lnSpc>
                <a:spcPts val="10877"/>
              </a:lnSpc>
            </a:pPr>
            <a:r>
              <a:rPr lang="vi-VN" sz="7200" b="1">
                <a:solidFill>
                  <a:srgbClr val="593EA1"/>
                </a:solidFill>
                <a:latin typeface="Bahnschrift SemiBold" panose="020B0502040204020203" pitchFamily="34" charset="0"/>
                <a:ea typeface="Calibri" panose="020F0502020204030204" pitchFamily="34" charset="0"/>
                <a:cs typeface="Calibri" panose="020F0502020204030204" pitchFamily="34" charset="0"/>
                <a:sym typeface="Bubblebody Neue Bold"/>
              </a:rPr>
              <a:t>Kết luận và hướng phát triển</a:t>
            </a:r>
            <a:endParaRPr lang="vi-VN" sz="7200" b="1" dirty="0">
              <a:solidFill>
                <a:srgbClr val="593EA1"/>
              </a:solidFill>
              <a:latin typeface="Bahnschrift SemiBold" panose="020B0502040204020203" pitchFamily="34" charset="0"/>
              <a:ea typeface="Calibri" panose="020F0502020204030204" pitchFamily="34" charset="0"/>
              <a:cs typeface="Calibri" panose="020F0502020204030204" pitchFamily="34" charset="0"/>
              <a:sym typeface="Bubblebody Neue Bold"/>
            </a:endParaRPr>
          </a:p>
          <a:p>
            <a:pPr algn="ctr">
              <a:lnSpc>
                <a:spcPts val="10877"/>
              </a:lnSpc>
            </a:pPr>
            <a:endParaRPr lang="en-US" sz="7200" b="1" dirty="0">
              <a:solidFill>
                <a:srgbClr val="593EA1"/>
              </a:solidFill>
              <a:latin typeface="Bahnschrift SemiBold" panose="020B0502040204020203" pitchFamily="34" charset="0"/>
              <a:ea typeface="Calibri" panose="020F0502020204030204" pitchFamily="34" charset="0"/>
              <a:cs typeface="Calibri" panose="020F0502020204030204" pitchFamily="34" charset="0"/>
              <a:sym typeface="Bubblebody Neue Bold"/>
            </a:endParaRPr>
          </a:p>
        </p:txBody>
      </p:sp>
    </p:spTree>
    <p:extLst>
      <p:ext uri="{BB962C8B-B14F-4D97-AF65-F5344CB8AC3E}">
        <p14:creationId xmlns:p14="http://schemas.microsoft.com/office/powerpoint/2010/main" val="26289912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DF9"/>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2095500"/>
            <a:chOff x="0" y="0"/>
            <a:chExt cx="4816593" cy="812800"/>
          </a:xfrm>
        </p:grpSpPr>
        <p:sp>
          <p:nvSpPr>
            <p:cNvPr id="3" name="Freeform 3"/>
            <p:cNvSpPr/>
            <p:nvPr/>
          </p:nvSpPr>
          <p:spPr>
            <a:xfrm>
              <a:off x="0" y="0"/>
              <a:ext cx="4816592" cy="812800"/>
            </a:xfrm>
            <a:custGeom>
              <a:avLst/>
              <a:gdLst/>
              <a:ahLst/>
              <a:cxnLst/>
              <a:rect l="l" t="t" r="r" b="b"/>
              <a:pathLst>
                <a:path w="4816592" h="812800">
                  <a:moveTo>
                    <a:pt x="0" y="0"/>
                  </a:moveTo>
                  <a:lnTo>
                    <a:pt x="4816592" y="0"/>
                  </a:lnTo>
                  <a:lnTo>
                    <a:pt x="4816592" y="812800"/>
                  </a:lnTo>
                  <a:lnTo>
                    <a:pt x="0" y="812800"/>
                  </a:lnTo>
                  <a:close/>
                </a:path>
              </a:pathLst>
            </a:custGeom>
            <a:solidFill>
              <a:srgbClr val="593EA1"/>
            </a:solidFill>
          </p:spPr>
          <p:txBody>
            <a:bodyPr/>
            <a:lstStyle/>
            <a:p>
              <a:endParaRPr lang="en-US" dirty="0"/>
            </a:p>
          </p:txBody>
        </p:sp>
        <p:sp>
          <p:nvSpPr>
            <p:cNvPr id="4" name="TextBox 4"/>
            <p:cNvSpPr txBox="1"/>
            <p:nvPr/>
          </p:nvSpPr>
          <p:spPr>
            <a:xfrm>
              <a:off x="0" y="-38100"/>
              <a:ext cx="4816593" cy="850900"/>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6">
            <a:extLst>
              <a:ext uri="{FF2B5EF4-FFF2-40B4-BE49-F238E27FC236}">
                <a16:creationId xmlns:a16="http://schemas.microsoft.com/office/drawing/2014/main" id="{1E41CD49-8389-476F-B243-C41A2C90314E}"/>
              </a:ext>
            </a:extLst>
          </p:cNvPr>
          <p:cNvSpPr txBox="1"/>
          <p:nvPr/>
        </p:nvSpPr>
        <p:spPr>
          <a:xfrm>
            <a:off x="4267197" y="632251"/>
            <a:ext cx="9753602" cy="830997"/>
          </a:xfrm>
          <a:prstGeom prst="rect">
            <a:avLst/>
          </a:prstGeom>
          <a:effectLst>
            <a:glow rad="63500">
              <a:schemeClr val="accent1">
                <a:satMod val="175000"/>
                <a:alpha val="40000"/>
              </a:schemeClr>
            </a:glow>
            <a:innerShdw blurRad="63500" dist="50800" dir="16200000">
              <a:prstClr val="black">
                <a:alpha val="50000"/>
              </a:prstClr>
            </a:innerShdw>
          </a:effectLst>
        </p:spPr>
        <p:txBody>
          <a:bodyPr wrap="square" lIns="0" tIns="0" rIns="0" bIns="0" rtlCol="0" anchor="t">
            <a:spAutoFit/>
          </a:bodyPr>
          <a:lstStyle/>
          <a:p>
            <a:pPr algn="ctr"/>
            <a:r>
              <a:rPr lang="vi-VN" sz="5400" b="1" dirty="0">
                <a:solidFill>
                  <a:srgbClr val="A2DFD9"/>
                </a:solidFill>
                <a:latin typeface="Bahnschrift SemiBold" panose="020B0502040204020203" pitchFamily="34" charset="0"/>
                <a:ea typeface="Bubblebody Neue Bold"/>
                <a:cs typeface="Bubblebody Neue Bold"/>
                <a:sym typeface="Bubblebody Neue Bold"/>
              </a:rPr>
              <a:t>Kết quả đạt được </a:t>
            </a:r>
            <a:endParaRPr lang="en-US" sz="5400" b="1" dirty="0">
              <a:solidFill>
                <a:srgbClr val="A2DFD9"/>
              </a:solidFill>
              <a:latin typeface="Bahnschrift SemiBold" panose="020B0502040204020203" pitchFamily="34" charset="0"/>
              <a:ea typeface="Bubblebody Neue Bold"/>
              <a:cs typeface="Bubblebody Neue Bold"/>
              <a:sym typeface="Bubblebody Neue Bold"/>
            </a:endParaRPr>
          </a:p>
        </p:txBody>
      </p:sp>
      <p:sp>
        <p:nvSpPr>
          <p:cNvPr id="5" name="Rectangle 2">
            <a:extLst>
              <a:ext uri="{FF2B5EF4-FFF2-40B4-BE49-F238E27FC236}">
                <a16:creationId xmlns:a16="http://schemas.microsoft.com/office/drawing/2014/main" id="{87D60FE9-B363-4E33-83A1-54CD01404A2A}"/>
              </a:ext>
            </a:extLst>
          </p:cNvPr>
          <p:cNvSpPr>
            <a:spLocks noChangeArrowheads="1"/>
          </p:cNvSpPr>
          <p:nvPr/>
        </p:nvSpPr>
        <p:spPr bwMode="auto">
          <a:xfrm rot="16200000">
            <a:off x="-3059041" y="5169977"/>
            <a:ext cx="2803510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8" name="Rectangle 1">
            <a:extLst>
              <a:ext uri="{FF2B5EF4-FFF2-40B4-BE49-F238E27FC236}">
                <a16:creationId xmlns:a16="http://schemas.microsoft.com/office/drawing/2014/main" id="{0F73C0A0-4B09-4059-BE7D-2D321603E8D3}"/>
              </a:ext>
            </a:extLst>
          </p:cNvPr>
          <p:cNvSpPr>
            <a:spLocks noChangeArrowheads="1"/>
          </p:cNvSpPr>
          <p:nvPr/>
        </p:nvSpPr>
        <p:spPr bwMode="auto">
          <a:xfrm>
            <a:off x="8610600" y="2563059"/>
            <a:ext cx="9067800" cy="6649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tabLst/>
            </a:pPr>
            <a:r>
              <a:rPr kumimoji="0" lang="en-US" altLang="en-US" sz="3200" b="1" i="0" u="none" strike="noStrike" cap="none" normalizeH="0" baseline="0" dirty="0" err="1">
                <a:ln>
                  <a:noFill/>
                </a:ln>
                <a:solidFill>
                  <a:schemeClr val="tx1"/>
                </a:solidFill>
                <a:effectLst/>
                <a:latin typeface="Arial" panose="020B0604020202020204" pitchFamily="34" charset="0"/>
              </a:rPr>
              <a:t>Tương</a:t>
            </a:r>
            <a:r>
              <a:rPr kumimoji="0" lang="en-US" altLang="en-US" sz="3200" b="1" i="0" u="none" strike="noStrike" cap="none" normalizeH="0" baseline="0" dirty="0">
                <a:ln>
                  <a:noFill/>
                </a:ln>
                <a:solidFill>
                  <a:schemeClr val="tx1"/>
                </a:solidFill>
                <a:effectLst/>
                <a:latin typeface="Arial" panose="020B0604020202020204" pitchFamily="34" charset="0"/>
              </a:rPr>
              <a:t> </a:t>
            </a:r>
            <a:r>
              <a:rPr kumimoji="0" lang="en-US" altLang="en-US" sz="3200" b="1" i="0" u="none" strike="noStrike" cap="none" normalizeH="0" baseline="0" dirty="0" err="1">
                <a:ln>
                  <a:noFill/>
                </a:ln>
                <a:solidFill>
                  <a:schemeClr val="tx1"/>
                </a:solidFill>
                <a:effectLst/>
                <a:latin typeface="Arial" panose="020B0604020202020204" pitchFamily="34" charset="0"/>
              </a:rPr>
              <a:t>tác</a:t>
            </a:r>
            <a:r>
              <a:rPr kumimoji="0" lang="en-US" altLang="en-US" sz="3200" b="1" i="0" u="none" strike="noStrike" cap="none" normalizeH="0" baseline="0" dirty="0">
                <a:ln>
                  <a:noFill/>
                </a:ln>
                <a:solidFill>
                  <a:schemeClr val="tx1"/>
                </a:solidFill>
                <a:effectLst/>
                <a:latin typeface="Arial" panose="020B0604020202020204" pitchFamily="34" charset="0"/>
              </a:rPr>
              <a:t> AI </a:t>
            </a:r>
            <a:r>
              <a:rPr kumimoji="0" lang="en-US" altLang="en-US" sz="3200" b="1" i="0" u="none" strike="noStrike" cap="none" normalizeH="0" baseline="0" dirty="0" err="1">
                <a:ln>
                  <a:noFill/>
                </a:ln>
                <a:solidFill>
                  <a:schemeClr val="tx1"/>
                </a:solidFill>
                <a:effectLst/>
                <a:latin typeface="Arial" panose="020B0604020202020204" pitchFamily="34" charset="0"/>
              </a:rPr>
              <a:t>thông</a:t>
            </a:r>
            <a:r>
              <a:rPr kumimoji="0" lang="en-US" altLang="en-US" sz="3200" b="1" i="0" u="none" strike="noStrike" cap="none" normalizeH="0" baseline="0" dirty="0">
                <a:ln>
                  <a:noFill/>
                </a:ln>
                <a:solidFill>
                  <a:schemeClr val="tx1"/>
                </a:solidFill>
                <a:effectLst/>
                <a:latin typeface="Arial" panose="020B0604020202020204" pitchFamily="34" charset="0"/>
              </a:rPr>
              <a:t> </a:t>
            </a:r>
            <a:r>
              <a:rPr kumimoji="0" lang="en-US" altLang="en-US" sz="3200" b="1" i="0" u="none" strike="noStrike" cap="none" normalizeH="0" baseline="0" dirty="0" err="1">
                <a:ln>
                  <a:noFill/>
                </a:ln>
                <a:solidFill>
                  <a:schemeClr val="tx1"/>
                </a:solidFill>
                <a:effectLst/>
                <a:latin typeface="Arial" panose="020B0604020202020204" pitchFamily="34" charset="0"/>
              </a:rPr>
              <a:t>minh</a:t>
            </a:r>
            <a:r>
              <a:rPr kumimoji="0" lang="en-US" altLang="en-US" sz="3200" b="1" i="0" u="none" strike="noStrike" cap="none" normalizeH="0" baseline="0" dirty="0">
                <a:ln>
                  <a:noFill/>
                </a:ln>
                <a:solidFill>
                  <a:schemeClr val="tx1"/>
                </a:solidFill>
                <a:effectLst/>
                <a:latin typeface="Arial" panose="020B0604020202020204" pitchFamily="34" charset="0"/>
              </a:rPr>
              <a:t>:</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err="1">
                <a:ln>
                  <a:noFill/>
                </a:ln>
                <a:solidFill>
                  <a:schemeClr val="tx1"/>
                </a:solidFill>
                <a:effectLst/>
                <a:latin typeface="Arial" panose="020B0604020202020204" pitchFamily="34" charset="0"/>
              </a:rPr>
              <a:t>Trò</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err="1">
                <a:ln>
                  <a:noFill/>
                </a:ln>
                <a:solidFill>
                  <a:schemeClr val="tx1"/>
                </a:solidFill>
                <a:effectLst/>
                <a:latin typeface="Arial" panose="020B0604020202020204" pitchFamily="34" charset="0"/>
              </a:rPr>
              <a:t>chuyện</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err="1">
                <a:ln>
                  <a:noFill/>
                </a:ln>
                <a:solidFill>
                  <a:schemeClr val="tx1"/>
                </a:solidFill>
                <a:effectLst/>
                <a:latin typeface="Arial" panose="020B0604020202020204" pitchFamily="34" charset="0"/>
              </a:rPr>
              <a:t>trực</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err="1">
                <a:ln>
                  <a:noFill/>
                </a:ln>
                <a:solidFill>
                  <a:schemeClr val="tx1"/>
                </a:solidFill>
                <a:effectLst/>
                <a:latin typeface="Arial" panose="020B0604020202020204" pitchFamily="34" charset="0"/>
              </a:rPr>
              <a:t>tiếp</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err="1">
                <a:ln>
                  <a:noFill/>
                </a:ln>
                <a:solidFill>
                  <a:schemeClr val="tx1"/>
                </a:solidFill>
                <a:effectLst/>
                <a:latin typeface="Arial" panose="020B0604020202020204" pitchFamily="34" charset="0"/>
              </a:rPr>
              <a:t>tự</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err="1">
                <a:ln>
                  <a:noFill/>
                </a:ln>
                <a:solidFill>
                  <a:schemeClr val="tx1"/>
                </a:solidFill>
                <a:effectLst/>
                <a:latin typeface="Arial" panose="020B0604020202020204" pitchFamily="34" charset="0"/>
              </a:rPr>
              <a:t>động</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err="1">
                <a:ln>
                  <a:noFill/>
                </a:ln>
                <a:solidFill>
                  <a:schemeClr val="tx1"/>
                </a:solidFill>
                <a:effectLst/>
                <a:latin typeface="Arial" panose="020B0604020202020204" pitchFamily="34" charset="0"/>
              </a:rPr>
              <a:t>phân</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err="1">
                <a:ln>
                  <a:noFill/>
                </a:ln>
                <a:solidFill>
                  <a:schemeClr val="tx1"/>
                </a:solidFill>
                <a:effectLst/>
                <a:latin typeface="Arial" panose="020B0604020202020204" pitchFamily="34" charset="0"/>
              </a:rPr>
              <a:t>tích</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err="1">
                <a:ln>
                  <a:noFill/>
                </a:ln>
                <a:solidFill>
                  <a:schemeClr val="tx1"/>
                </a:solidFill>
                <a:effectLst/>
                <a:latin typeface="Arial" panose="020B0604020202020204" pitchFamily="34" charset="0"/>
              </a:rPr>
              <a:t>cảm</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err="1">
                <a:ln>
                  <a:noFill/>
                </a:ln>
                <a:solidFill>
                  <a:schemeClr val="tx1"/>
                </a:solidFill>
                <a:effectLst/>
                <a:latin typeface="Arial" panose="020B0604020202020204" pitchFamily="34" charset="0"/>
              </a:rPr>
              <a:t>xúc</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err="1">
                <a:ln>
                  <a:noFill/>
                </a:ln>
                <a:solidFill>
                  <a:schemeClr val="tx1"/>
                </a:solidFill>
                <a:effectLst/>
                <a:latin typeface="Arial" panose="020B0604020202020204" pitchFamily="34" charset="0"/>
              </a:rPr>
              <a:t>với</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err="1">
                <a:ln>
                  <a:noFill/>
                </a:ln>
                <a:solidFill>
                  <a:schemeClr val="tx1"/>
                </a:solidFill>
                <a:effectLst/>
                <a:latin typeface="Arial" panose="020B0604020202020204" pitchFamily="34" charset="0"/>
              </a:rPr>
              <a:t>độ</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err="1">
                <a:ln>
                  <a:noFill/>
                </a:ln>
                <a:solidFill>
                  <a:schemeClr val="tx1"/>
                </a:solidFill>
                <a:effectLst/>
                <a:latin typeface="Arial" panose="020B0604020202020204" pitchFamily="34" charset="0"/>
              </a:rPr>
              <a:t>chính</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err="1">
                <a:ln>
                  <a:noFill/>
                </a:ln>
                <a:solidFill>
                  <a:schemeClr val="tx1"/>
                </a:solidFill>
                <a:effectLst/>
                <a:latin typeface="Arial" panose="020B0604020202020204" pitchFamily="34" charset="0"/>
              </a:rPr>
              <a:t>xác</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err="1">
                <a:ln>
                  <a:noFill/>
                </a:ln>
                <a:solidFill>
                  <a:schemeClr val="tx1"/>
                </a:solidFill>
                <a:effectLst/>
                <a:latin typeface="Arial" panose="020B0604020202020204" pitchFamily="34" charset="0"/>
              </a:rPr>
              <a:t>cao</a:t>
            </a:r>
            <a:r>
              <a:rPr kumimoji="0" lang="en-US" altLang="en-US" sz="32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50000"/>
              </a:lnSpc>
              <a:spcBef>
                <a:spcPct val="0"/>
              </a:spcBef>
              <a:spcAft>
                <a:spcPct val="0"/>
              </a:spcAft>
              <a:buClrTx/>
              <a:buSzTx/>
              <a:tabLst/>
            </a:pPr>
            <a:r>
              <a:rPr kumimoji="0" lang="en-US" altLang="en-US" sz="3200" b="1" i="0" u="none" strike="noStrike" cap="none" normalizeH="0" baseline="0" dirty="0">
                <a:ln>
                  <a:noFill/>
                </a:ln>
                <a:solidFill>
                  <a:schemeClr val="tx1"/>
                </a:solidFill>
                <a:effectLst/>
                <a:latin typeface="Arial" panose="020B0604020202020204" pitchFamily="34" charset="0"/>
              </a:rPr>
              <a:t>Theo </a:t>
            </a:r>
            <a:r>
              <a:rPr kumimoji="0" lang="en-US" altLang="en-US" sz="3200" b="1" i="0" u="none" strike="noStrike" cap="none" normalizeH="0" baseline="0" dirty="0" err="1">
                <a:ln>
                  <a:noFill/>
                </a:ln>
                <a:solidFill>
                  <a:schemeClr val="tx1"/>
                </a:solidFill>
                <a:effectLst/>
                <a:latin typeface="Arial" panose="020B0604020202020204" pitchFamily="34" charset="0"/>
              </a:rPr>
              <a:t>dõi</a:t>
            </a:r>
            <a:r>
              <a:rPr kumimoji="0" lang="en-US" altLang="en-US" sz="3200" b="1" i="0" u="none" strike="noStrike" cap="none" normalizeH="0" baseline="0" dirty="0">
                <a:ln>
                  <a:noFill/>
                </a:ln>
                <a:solidFill>
                  <a:schemeClr val="tx1"/>
                </a:solidFill>
                <a:effectLst/>
                <a:latin typeface="Arial" panose="020B0604020202020204" pitchFamily="34" charset="0"/>
              </a:rPr>
              <a:t> &amp; </a:t>
            </a:r>
            <a:r>
              <a:rPr kumimoji="0" lang="en-US" altLang="en-US" sz="3200" b="1" i="0" u="none" strike="noStrike" cap="none" normalizeH="0" baseline="0" dirty="0" err="1">
                <a:ln>
                  <a:noFill/>
                </a:ln>
                <a:solidFill>
                  <a:schemeClr val="tx1"/>
                </a:solidFill>
                <a:effectLst/>
                <a:latin typeface="Arial" panose="020B0604020202020204" pitchFamily="34" charset="0"/>
              </a:rPr>
              <a:t>Thống</a:t>
            </a:r>
            <a:r>
              <a:rPr kumimoji="0" lang="en-US" altLang="en-US" sz="3200" b="1" i="0" u="none" strike="noStrike" cap="none" normalizeH="0" baseline="0" dirty="0">
                <a:ln>
                  <a:noFill/>
                </a:ln>
                <a:solidFill>
                  <a:schemeClr val="tx1"/>
                </a:solidFill>
                <a:effectLst/>
                <a:latin typeface="Arial" panose="020B0604020202020204" pitchFamily="34" charset="0"/>
              </a:rPr>
              <a:t> </a:t>
            </a:r>
            <a:r>
              <a:rPr kumimoji="0" lang="en-US" altLang="en-US" sz="3200" b="1" i="0" u="none" strike="noStrike" cap="none" normalizeH="0" baseline="0" dirty="0" err="1">
                <a:ln>
                  <a:noFill/>
                </a:ln>
                <a:solidFill>
                  <a:schemeClr val="tx1"/>
                </a:solidFill>
                <a:effectLst/>
                <a:latin typeface="Arial" panose="020B0604020202020204" pitchFamily="34" charset="0"/>
              </a:rPr>
              <a:t>kê</a:t>
            </a:r>
            <a:r>
              <a:rPr kumimoji="0" lang="en-US" altLang="en-US" sz="3200" b="1" i="0" u="none" strike="noStrike" cap="none" normalizeH="0" baseline="0" dirty="0">
                <a:ln>
                  <a:noFill/>
                </a:ln>
                <a:solidFill>
                  <a:schemeClr val="tx1"/>
                </a:solidFill>
                <a:effectLst/>
                <a:latin typeface="Arial" panose="020B0604020202020204" pitchFamily="34" charset="0"/>
              </a:rPr>
              <a:t>:</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err="1">
                <a:ln>
                  <a:noFill/>
                </a:ln>
                <a:solidFill>
                  <a:schemeClr val="tx1"/>
                </a:solidFill>
                <a:effectLst/>
                <a:latin typeface="Arial" panose="020B0604020202020204" pitchFamily="34" charset="0"/>
              </a:rPr>
              <a:t>Ghi</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err="1">
                <a:ln>
                  <a:noFill/>
                </a:ln>
                <a:solidFill>
                  <a:schemeClr val="tx1"/>
                </a:solidFill>
                <a:effectLst/>
                <a:latin typeface="Arial" panose="020B0604020202020204" pitchFamily="34" charset="0"/>
              </a:rPr>
              <a:t>nhật</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err="1">
                <a:ln>
                  <a:noFill/>
                </a:ln>
                <a:solidFill>
                  <a:schemeClr val="tx1"/>
                </a:solidFill>
                <a:effectLst/>
                <a:latin typeface="Arial" panose="020B0604020202020204" pitchFamily="34" charset="0"/>
              </a:rPr>
              <a:t>ký</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err="1">
                <a:ln>
                  <a:noFill/>
                </a:ln>
                <a:solidFill>
                  <a:schemeClr val="tx1"/>
                </a:solidFill>
                <a:effectLst/>
                <a:latin typeface="Arial" panose="020B0604020202020204" pitchFamily="34" charset="0"/>
              </a:rPr>
              <a:t>cảm</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err="1">
                <a:ln>
                  <a:noFill/>
                </a:ln>
                <a:solidFill>
                  <a:schemeClr val="tx1"/>
                </a:solidFill>
                <a:effectLst/>
                <a:latin typeface="Arial" panose="020B0604020202020204" pitchFamily="34" charset="0"/>
              </a:rPr>
              <a:t>xúc</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err="1">
                <a:ln>
                  <a:noFill/>
                </a:ln>
                <a:solidFill>
                  <a:schemeClr val="tx1"/>
                </a:solidFill>
                <a:effectLst/>
                <a:latin typeface="Arial" panose="020B0604020202020204" pitchFamily="34" charset="0"/>
              </a:rPr>
              <a:t>trực</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err="1">
                <a:ln>
                  <a:noFill/>
                </a:ln>
                <a:solidFill>
                  <a:schemeClr val="tx1"/>
                </a:solidFill>
                <a:effectLst/>
                <a:latin typeface="Arial" panose="020B0604020202020204" pitchFamily="34" charset="0"/>
              </a:rPr>
              <a:t>quan</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err="1">
                <a:ln>
                  <a:noFill/>
                </a:ln>
                <a:solidFill>
                  <a:schemeClr val="tx1"/>
                </a:solidFill>
                <a:effectLst/>
                <a:latin typeface="Arial" panose="020B0604020202020204" pitchFamily="34" charset="0"/>
              </a:rPr>
              <a:t>hóa</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err="1">
                <a:ln>
                  <a:noFill/>
                </a:ln>
                <a:solidFill>
                  <a:schemeClr val="tx1"/>
                </a:solidFill>
                <a:effectLst/>
                <a:latin typeface="Arial" panose="020B0604020202020204" pitchFamily="34" charset="0"/>
              </a:rPr>
              <a:t>xu</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err="1">
                <a:ln>
                  <a:noFill/>
                </a:ln>
                <a:solidFill>
                  <a:schemeClr val="tx1"/>
                </a:solidFill>
                <a:effectLst/>
                <a:latin typeface="Arial" panose="020B0604020202020204" pitchFamily="34" charset="0"/>
              </a:rPr>
              <a:t>hướng</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err="1">
                <a:ln>
                  <a:noFill/>
                </a:ln>
                <a:solidFill>
                  <a:schemeClr val="tx1"/>
                </a:solidFill>
                <a:effectLst/>
                <a:latin typeface="Arial" panose="020B0604020202020204" pitchFamily="34" charset="0"/>
              </a:rPr>
              <a:t>tâm</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err="1">
                <a:ln>
                  <a:noFill/>
                </a:ln>
                <a:solidFill>
                  <a:schemeClr val="tx1"/>
                </a:solidFill>
                <a:effectLst/>
                <a:latin typeface="Arial" panose="020B0604020202020204" pitchFamily="34" charset="0"/>
              </a:rPr>
              <a:t>trạng</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err="1">
                <a:ln>
                  <a:noFill/>
                </a:ln>
                <a:solidFill>
                  <a:schemeClr val="tx1"/>
                </a:solidFill>
                <a:effectLst/>
                <a:latin typeface="Arial" panose="020B0604020202020204" pitchFamily="34" charset="0"/>
              </a:rPr>
              <a:t>theo</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err="1">
                <a:ln>
                  <a:noFill/>
                </a:ln>
                <a:solidFill>
                  <a:schemeClr val="tx1"/>
                </a:solidFill>
                <a:effectLst/>
                <a:latin typeface="Arial" panose="020B0604020202020204" pitchFamily="34" charset="0"/>
              </a:rPr>
              <a:t>thời</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err="1">
                <a:ln>
                  <a:noFill/>
                </a:ln>
                <a:solidFill>
                  <a:schemeClr val="tx1"/>
                </a:solidFill>
                <a:effectLst/>
                <a:latin typeface="Arial" panose="020B0604020202020204" pitchFamily="34" charset="0"/>
              </a:rPr>
              <a:t>gian</a:t>
            </a:r>
            <a:r>
              <a:rPr kumimoji="0" lang="en-US" altLang="en-US" sz="32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50000"/>
              </a:lnSpc>
              <a:spcBef>
                <a:spcPct val="0"/>
              </a:spcBef>
              <a:spcAft>
                <a:spcPct val="0"/>
              </a:spcAft>
              <a:buClrTx/>
              <a:buSzTx/>
              <a:tabLst/>
            </a:pPr>
            <a:r>
              <a:rPr kumimoji="0" lang="en-US" altLang="en-US" sz="3200" b="1" i="0" u="none" strike="noStrike" cap="none" normalizeH="0" baseline="0" dirty="0" err="1">
                <a:ln>
                  <a:noFill/>
                </a:ln>
                <a:solidFill>
                  <a:schemeClr val="tx1"/>
                </a:solidFill>
                <a:effectLst/>
                <a:latin typeface="Arial" panose="020B0604020202020204" pitchFamily="34" charset="0"/>
              </a:rPr>
              <a:t>Hỗ</a:t>
            </a:r>
            <a:r>
              <a:rPr kumimoji="0" lang="en-US" altLang="en-US" sz="3200" b="1" i="0" u="none" strike="noStrike" cap="none" normalizeH="0" baseline="0" dirty="0">
                <a:ln>
                  <a:noFill/>
                </a:ln>
                <a:solidFill>
                  <a:schemeClr val="tx1"/>
                </a:solidFill>
                <a:effectLst/>
                <a:latin typeface="Arial" panose="020B0604020202020204" pitchFamily="34" charset="0"/>
              </a:rPr>
              <a:t> </a:t>
            </a:r>
            <a:r>
              <a:rPr kumimoji="0" lang="en-US" altLang="en-US" sz="3200" b="1" i="0" u="none" strike="noStrike" cap="none" normalizeH="0" baseline="0" dirty="0" err="1">
                <a:ln>
                  <a:noFill/>
                </a:ln>
                <a:solidFill>
                  <a:schemeClr val="tx1"/>
                </a:solidFill>
                <a:effectLst/>
                <a:latin typeface="Arial" panose="020B0604020202020204" pitchFamily="34" charset="0"/>
              </a:rPr>
              <a:t>trợ</a:t>
            </a:r>
            <a:r>
              <a:rPr kumimoji="0" lang="en-US" altLang="en-US" sz="3200" b="1" i="0" u="none" strike="noStrike" cap="none" normalizeH="0" baseline="0" dirty="0">
                <a:ln>
                  <a:noFill/>
                </a:ln>
                <a:solidFill>
                  <a:schemeClr val="tx1"/>
                </a:solidFill>
                <a:effectLst/>
                <a:latin typeface="Arial" panose="020B0604020202020204" pitchFamily="34" charset="0"/>
              </a:rPr>
              <a:t> </a:t>
            </a:r>
            <a:r>
              <a:rPr kumimoji="0" lang="en-US" altLang="en-US" sz="3200" b="1" i="0" u="none" strike="noStrike" cap="none" normalizeH="0" baseline="0" dirty="0" err="1">
                <a:ln>
                  <a:noFill/>
                </a:ln>
                <a:solidFill>
                  <a:schemeClr val="tx1"/>
                </a:solidFill>
                <a:effectLst/>
                <a:latin typeface="Arial" panose="020B0604020202020204" pitchFamily="34" charset="0"/>
              </a:rPr>
              <a:t>cá</a:t>
            </a:r>
            <a:r>
              <a:rPr kumimoji="0" lang="en-US" altLang="en-US" sz="3200" b="1" i="0" u="none" strike="noStrike" cap="none" normalizeH="0" baseline="0" dirty="0">
                <a:ln>
                  <a:noFill/>
                </a:ln>
                <a:solidFill>
                  <a:schemeClr val="tx1"/>
                </a:solidFill>
                <a:effectLst/>
                <a:latin typeface="Arial" panose="020B0604020202020204" pitchFamily="34" charset="0"/>
              </a:rPr>
              <a:t> </a:t>
            </a:r>
            <a:r>
              <a:rPr kumimoji="0" lang="en-US" altLang="en-US" sz="3200" b="1" i="0" u="none" strike="noStrike" cap="none" normalizeH="0" baseline="0" dirty="0" err="1">
                <a:ln>
                  <a:noFill/>
                </a:ln>
                <a:solidFill>
                  <a:schemeClr val="tx1"/>
                </a:solidFill>
                <a:effectLst/>
                <a:latin typeface="Arial" panose="020B0604020202020204" pitchFamily="34" charset="0"/>
              </a:rPr>
              <a:t>nhân</a:t>
            </a:r>
            <a:r>
              <a:rPr kumimoji="0" lang="en-US" altLang="en-US" sz="3200" b="1" i="0" u="none" strike="noStrike" cap="none" normalizeH="0" baseline="0" dirty="0">
                <a:ln>
                  <a:noFill/>
                </a:ln>
                <a:solidFill>
                  <a:schemeClr val="tx1"/>
                </a:solidFill>
                <a:effectLst/>
                <a:latin typeface="Arial" panose="020B0604020202020204" pitchFamily="34" charset="0"/>
              </a:rPr>
              <a:t> </a:t>
            </a:r>
            <a:r>
              <a:rPr kumimoji="0" lang="en-US" altLang="en-US" sz="3200" b="1" i="0" u="none" strike="noStrike" cap="none" normalizeH="0" baseline="0" dirty="0" err="1">
                <a:ln>
                  <a:noFill/>
                </a:ln>
                <a:solidFill>
                  <a:schemeClr val="tx1"/>
                </a:solidFill>
                <a:effectLst/>
                <a:latin typeface="Arial" panose="020B0604020202020204" pitchFamily="34" charset="0"/>
              </a:rPr>
              <a:t>hóa</a:t>
            </a:r>
            <a:r>
              <a:rPr kumimoji="0" lang="en-US" altLang="en-US" sz="3200" b="1" i="0" u="none" strike="noStrike" cap="none" normalizeH="0" baseline="0" dirty="0">
                <a:ln>
                  <a:noFill/>
                </a:ln>
                <a:solidFill>
                  <a:schemeClr val="tx1"/>
                </a:solidFill>
                <a:effectLst/>
                <a:latin typeface="Arial" panose="020B0604020202020204" pitchFamily="34" charset="0"/>
              </a:rPr>
              <a:t>:</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err="1">
                <a:ln>
                  <a:noFill/>
                </a:ln>
                <a:solidFill>
                  <a:schemeClr val="tx1"/>
                </a:solidFill>
                <a:effectLst/>
                <a:latin typeface="Arial" panose="020B0604020202020204" pitchFamily="34" charset="0"/>
              </a:rPr>
              <a:t>Đề</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err="1">
                <a:ln>
                  <a:noFill/>
                </a:ln>
                <a:solidFill>
                  <a:schemeClr val="tx1"/>
                </a:solidFill>
                <a:effectLst/>
                <a:latin typeface="Arial" panose="020B0604020202020204" pitchFamily="34" charset="0"/>
              </a:rPr>
              <a:t>xuất</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err="1">
                <a:ln>
                  <a:noFill/>
                </a:ln>
                <a:solidFill>
                  <a:schemeClr val="tx1"/>
                </a:solidFill>
                <a:effectLst/>
                <a:latin typeface="Arial" panose="020B0604020202020204" pitchFamily="34" charset="0"/>
              </a:rPr>
              <a:t>bài</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err="1">
                <a:ln>
                  <a:noFill/>
                </a:ln>
                <a:solidFill>
                  <a:schemeClr val="tx1"/>
                </a:solidFill>
                <a:effectLst/>
                <a:latin typeface="Arial" panose="020B0604020202020204" pitchFamily="34" charset="0"/>
              </a:rPr>
              <a:t>tập</a:t>
            </a:r>
            <a:r>
              <a:rPr kumimoji="0" lang="en-US" altLang="en-US" sz="3200" b="0" i="0" u="none" strike="noStrike" cap="none" normalizeH="0" baseline="0" dirty="0">
                <a:ln>
                  <a:noFill/>
                </a:ln>
                <a:solidFill>
                  <a:schemeClr val="tx1"/>
                </a:solidFill>
                <a:effectLst/>
                <a:latin typeface="Arial" panose="020B0604020202020204" pitchFamily="34" charset="0"/>
              </a:rPr>
              <a:t>/</a:t>
            </a:r>
            <a:r>
              <a:rPr kumimoji="0" lang="en-US" altLang="en-US" sz="3200" b="0" i="0" u="none" strike="noStrike" cap="none" normalizeH="0" baseline="0" dirty="0" err="1">
                <a:ln>
                  <a:noFill/>
                </a:ln>
                <a:solidFill>
                  <a:schemeClr val="tx1"/>
                </a:solidFill>
                <a:effectLst/>
                <a:latin typeface="Arial" panose="020B0604020202020204" pitchFamily="34" charset="0"/>
              </a:rPr>
              <a:t>lời</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err="1">
                <a:ln>
                  <a:noFill/>
                </a:ln>
                <a:solidFill>
                  <a:schemeClr val="tx1"/>
                </a:solidFill>
                <a:effectLst/>
                <a:latin typeface="Arial" panose="020B0604020202020204" pitchFamily="34" charset="0"/>
              </a:rPr>
              <a:t>khuyên</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err="1">
                <a:ln>
                  <a:noFill/>
                </a:ln>
                <a:solidFill>
                  <a:schemeClr val="tx1"/>
                </a:solidFill>
                <a:effectLst/>
                <a:latin typeface="Arial" panose="020B0604020202020204" pitchFamily="34" charset="0"/>
              </a:rPr>
              <a:t>dựa</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err="1">
                <a:ln>
                  <a:noFill/>
                </a:ln>
                <a:solidFill>
                  <a:schemeClr val="tx1"/>
                </a:solidFill>
                <a:effectLst/>
                <a:latin typeface="Arial" panose="020B0604020202020204" pitchFamily="34" charset="0"/>
              </a:rPr>
              <a:t>trên</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err="1">
                <a:ln>
                  <a:noFill/>
                </a:ln>
                <a:solidFill>
                  <a:schemeClr val="tx1"/>
                </a:solidFill>
                <a:effectLst/>
                <a:latin typeface="Arial" panose="020B0604020202020204" pitchFamily="34" charset="0"/>
              </a:rPr>
              <a:t>cảm</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err="1">
                <a:ln>
                  <a:noFill/>
                </a:ln>
                <a:solidFill>
                  <a:schemeClr val="tx1"/>
                </a:solidFill>
                <a:effectLst/>
                <a:latin typeface="Arial" panose="020B0604020202020204" pitchFamily="34" charset="0"/>
              </a:rPr>
              <a:t>xúc</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err="1">
                <a:ln>
                  <a:noFill/>
                </a:ln>
                <a:solidFill>
                  <a:schemeClr val="tx1"/>
                </a:solidFill>
                <a:effectLst/>
                <a:latin typeface="Arial" panose="020B0604020202020204" pitchFamily="34" charset="0"/>
              </a:rPr>
              <a:t>và</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err="1">
                <a:ln>
                  <a:noFill/>
                </a:ln>
                <a:solidFill>
                  <a:schemeClr val="tx1"/>
                </a:solidFill>
                <a:effectLst/>
                <a:latin typeface="Arial" panose="020B0604020202020204" pitchFamily="34" charset="0"/>
              </a:rPr>
              <a:t>quản</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err="1">
                <a:ln>
                  <a:noFill/>
                </a:ln>
                <a:solidFill>
                  <a:schemeClr val="tx1"/>
                </a:solidFill>
                <a:effectLst/>
                <a:latin typeface="Arial" panose="020B0604020202020204" pitchFamily="34" charset="0"/>
              </a:rPr>
              <a:t>lý</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err="1">
                <a:ln>
                  <a:noFill/>
                </a:ln>
                <a:solidFill>
                  <a:schemeClr val="tx1"/>
                </a:solidFill>
                <a:effectLst/>
                <a:latin typeface="Arial" panose="020B0604020202020204" pitchFamily="34" charset="0"/>
              </a:rPr>
              <a:t>tiến</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err="1">
                <a:ln>
                  <a:noFill/>
                </a:ln>
                <a:solidFill>
                  <a:schemeClr val="tx1"/>
                </a:solidFill>
                <a:effectLst/>
                <a:latin typeface="Arial" panose="020B0604020202020204" pitchFamily="34" charset="0"/>
              </a:rPr>
              <a:t>độ</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err="1">
                <a:ln>
                  <a:noFill/>
                </a:ln>
                <a:solidFill>
                  <a:schemeClr val="tx1"/>
                </a:solidFill>
                <a:effectLst/>
                <a:latin typeface="Arial" panose="020B0604020202020204" pitchFamily="34" charset="0"/>
              </a:rPr>
              <a:t>thực</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err="1">
                <a:ln>
                  <a:noFill/>
                </a:ln>
                <a:solidFill>
                  <a:schemeClr val="tx1"/>
                </a:solidFill>
                <a:effectLst/>
                <a:latin typeface="Arial" panose="020B0604020202020204" pitchFamily="34" charset="0"/>
              </a:rPr>
              <a:t>hiện</a:t>
            </a:r>
            <a:r>
              <a:rPr kumimoji="0" lang="en-US" altLang="en-US" sz="32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50000"/>
              </a:lnSpc>
              <a:spcBef>
                <a:spcPct val="0"/>
              </a:spcBef>
              <a:spcAft>
                <a:spcPct val="0"/>
              </a:spcAft>
              <a:buClrTx/>
              <a:buSzTx/>
              <a:tabLst/>
            </a:pPr>
            <a:r>
              <a:rPr kumimoji="0" lang="en-US" altLang="en-US" sz="3200" b="1" i="0" u="none" strike="noStrike" cap="none" normalizeH="0" baseline="0" dirty="0" err="1">
                <a:ln>
                  <a:noFill/>
                </a:ln>
                <a:solidFill>
                  <a:schemeClr val="tx1"/>
                </a:solidFill>
                <a:effectLst/>
                <a:latin typeface="Arial" panose="020B0604020202020204" pitchFamily="34" charset="0"/>
              </a:rPr>
              <a:t>Kết</a:t>
            </a:r>
            <a:r>
              <a:rPr kumimoji="0" lang="en-US" altLang="en-US" sz="3200" b="1" i="0" u="none" strike="noStrike" cap="none" normalizeH="0" baseline="0" dirty="0">
                <a:ln>
                  <a:noFill/>
                </a:ln>
                <a:solidFill>
                  <a:schemeClr val="tx1"/>
                </a:solidFill>
                <a:effectLst/>
                <a:latin typeface="Arial" panose="020B0604020202020204" pitchFamily="34" charset="0"/>
              </a:rPr>
              <a:t> </a:t>
            </a:r>
            <a:r>
              <a:rPr kumimoji="0" lang="en-US" altLang="en-US" sz="3200" b="1" i="0" u="none" strike="noStrike" cap="none" normalizeH="0" baseline="0" dirty="0" err="1">
                <a:ln>
                  <a:noFill/>
                </a:ln>
                <a:solidFill>
                  <a:schemeClr val="tx1"/>
                </a:solidFill>
                <a:effectLst/>
                <a:latin typeface="Arial" panose="020B0604020202020204" pitchFamily="34" charset="0"/>
              </a:rPr>
              <a:t>nối</a:t>
            </a:r>
            <a:r>
              <a:rPr kumimoji="0" lang="en-US" altLang="en-US" sz="3200" b="1" i="0" u="none" strike="noStrike" cap="none" normalizeH="0" baseline="0" dirty="0">
                <a:ln>
                  <a:noFill/>
                </a:ln>
                <a:solidFill>
                  <a:schemeClr val="tx1"/>
                </a:solidFill>
                <a:effectLst/>
                <a:latin typeface="Arial" panose="020B0604020202020204" pitchFamily="34" charset="0"/>
              </a:rPr>
              <a:t> </a:t>
            </a:r>
            <a:r>
              <a:rPr kumimoji="0" lang="en-US" altLang="en-US" sz="3200" b="1" i="0" u="none" strike="noStrike" cap="none" normalizeH="0" baseline="0" dirty="0" err="1">
                <a:ln>
                  <a:noFill/>
                </a:ln>
                <a:solidFill>
                  <a:schemeClr val="tx1"/>
                </a:solidFill>
                <a:effectLst/>
                <a:latin typeface="Arial" panose="020B0604020202020204" pitchFamily="34" charset="0"/>
              </a:rPr>
              <a:t>chuyên</a:t>
            </a:r>
            <a:r>
              <a:rPr kumimoji="0" lang="en-US" altLang="en-US" sz="3200" b="1" i="0" u="none" strike="noStrike" cap="none" normalizeH="0" baseline="0" dirty="0">
                <a:ln>
                  <a:noFill/>
                </a:ln>
                <a:solidFill>
                  <a:schemeClr val="tx1"/>
                </a:solidFill>
                <a:effectLst/>
                <a:latin typeface="Arial" panose="020B0604020202020204" pitchFamily="34" charset="0"/>
              </a:rPr>
              <a:t> </a:t>
            </a:r>
            <a:r>
              <a:rPr kumimoji="0" lang="en-US" altLang="en-US" sz="3200" b="1" i="0" u="none" strike="noStrike" cap="none" normalizeH="0" baseline="0" dirty="0" err="1">
                <a:ln>
                  <a:noFill/>
                </a:ln>
                <a:solidFill>
                  <a:schemeClr val="tx1"/>
                </a:solidFill>
                <a:effectLst/>
                <a:latin typeface="Arial" panose="020B0604020202020204" pitchFamily="34" charset="0"/>
              </a:rPr>
              <a:t>gia</a:t>
            </a:r>
            <a:r>
              <a:rPr kumimoji="0" lang="en-US" altLang="en-US" sz="3200" b="1" i="0" u="none" strike="noStrike" cap="none" normalizeH="0" baseline="0" dirty="0">
                <a:ln>
                  <a:noFill/>
                </a:ln>
                <a:solidFill>
                  <a:schemeClr val="tx1"/>
                </a:solidFill>
                <a:effectLst/>
                <a:latin typeface="Arial" panose="020B0604020202020204" pitchFamily="34" charset="0"/>
              </a:rPr>
              <a:t>:</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err="1">
                <a:ln>
                  <a:noFill/>
                </a:ln>
                <a:solidFill>
                  <a:schemeClr val="tx1"/>
                </a:solidFill>
                <a:effectLst/>
                <a:latin typeface="Arial" panose="020B0604020202020204" pitchFamily="34" charset="0"/>
              </a:rPr>
              <a:t>Hỗ</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err="1">
                <a:ln>
                  <a:noFill/>
                </a:ln>
                <a:solidFill>
                  <a:schemeClr val="tx1"/>
                </a:solidFill>
                <a:effectLst/>
                <a:latin typeface="Arial" panose="020B0604020202020204" pitchFamily="34" charset="0"/>
              </a:rPr>
              <a:t>trợ</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err="1">
                <a:ln>
                  <a:noFill/>
                </a:ln>
                <a:solidFill>
                  <a:schemeClr val="tx1"/>
                </a:solidFill>
                <a:effectLst/>
                <a:latin typeface="Arial" panose="020B0604020202020204" pitchFamily="34" charset="0"/>
              </a:rPr>
              <a:t>đặt</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err="1">
                <a:ln>
                  <a:noFill/>
                </a:ln>
                <a:solidFill>
                  <a:schemeClr val="tx1"/>
                </a:solidFill>
                <a:effectLst/>
                <a:latin typeface="Arial" panose="020B0604020202020204" pitchFamily="34" charset="0"/>
              </a:rPr>
              <a:t>lịch</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err="1">
                <a:ln>
                  <a:noFill/>
                </a:ln>
                <a:solidFill>
                  <a:schemeClr val="tx1"/>
                </a:solidFill>
                <a:effectLst/>
                <a:latin typeface="Arial" panose="020B0604020202020204" pitchFamily="34" charset="0"/>
              </a:rPr>
              <a:t>và</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err="1">
                <a:ln>
                  <a:noFill/>
                </a:ln>
                <a:solidFill>
                  <a:schemeClr val="tx1"/>
                </a:solidFill>
                <a:effectLst/>
                <a:latin typeface="Arial" panose="020B0604020202020204" pitchFamily="34" charset="0"/>
              </a:rPr>
              <a:t>trò</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err="1">
                <a:ln>
                  <a:noFill/>
                </a:ln>
                <a:solidFill>
                  <a:schemeClr val="tx1"/>
                </a:solidFill>
                <a:effectLst/>
                <a:latin typeface="Arial" panose="020B0604020202020204" pitchFamily="34" charset="0"/>
              </a:rPr>
              <a:t>chuyện</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err="1">
                <a:ln>
                  <a:noFill/>
                </a:ln>
                <a:solidFill>
                  <a:schemeClr val="tx1"/>
                </a:solidFill>
                <a:effectLst/>
                <a:latin typeface="Arial" panose="020B0604020202020204" pitchFamily="34" charset="0"/>
              </a:rPr>
              <a:t>tư</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err="1">
                <a:ln>
                  <a:noFill/>
                </a:ln>
                <a:solidFill>
                  <a:schemeClr val="tx1"/>
                </a:solidFill>
                <a:effectLst/>
                <a:latin typeface="Arial" panose="020B0604020202020204" pitchFamily="34" charset="0"/>
              </a:rPr>
              <a:t>vấn</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err="1">
                <a:ln>
                  <a:noFill/>
                </a:ln>
                <a:solidFill>
                  <a:schemeClr val="tx1"/>
                </a:solidFill>
                <a:effectLst/>
                <a:latin typeface="Arial" panose="020B0604020202020204" pitchFamily="34" charset="0"/>
              </a:rPr>
              <a:t>chuyên</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err="1">
                <a:ln>
                  <a:noFill/>
                </a:ln>
                <a:solidFill>
                  <a:schemeClr val="tx1"/>
                </a:solidFill>
                <a:effectLst/>
                <a:latin typeface="Arial" panose="020B0604020202020204" pitchFamily="34" charset="0"/>
              </a:rPr>
              <a:t>sâu</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err="1">
                <a:ln>
                  <a:noFill/>
                </a:ln>
                <a:solidFill>
                  <a:schemeClr val="tx1"/>
                </a:solidFill>
                <a:effectLst/>
                <a:latin typeface="Arial" panose="020B0604020202020204" pitchFamily="34" charset="0"/>
              </a:rPr>
              <a:t>khi</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err="1">
                <a:ln>
                  <a:noFill/>
                </a:ln>
                <a:solidFill>
                  <a:schemeClr val="tx1"/>
                </a:solidFill>
                <a:effectLst/>
                <a:latin typeface="Arial" panose="020B0604020202020204" pitchFamily="34" charset="0"/>
              </a:rPr>
              <a:t>cần</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err="1">
                <a:ln>
                  <a:noFill/>
                </a:ln>
                <a:solidFill>
                  <a:schemeClr val="tx1"/>
                </a:solidFill>
                <a:effectLst/>
                <a:latin typeface="Arial" panose="020B0604020202020204" pitchFamily="34" charset="0"/>
              </a:rPr>
              <a:t>thiết</a:t>
            </a:r>
            <a:r>
              <a:rPr kumimoji="0" lang="en-US" altLang="en-US" sz="32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50000"/>
              </a:lnSpc>
              <a:spcBef>
                <a:spcPct val="0"/>
              </a:spcBef>
              <a:spcAft>
                <a:spcPct val="0"/>
              </a:spcAft>
              <a:buClrTx/>
              <a:buSzTx/>
              <a:tabLst/>
            </a:pPr>
            <a:r>
              <a:rPr kumimoji="0" lang="en-US" altLang="en-US" sz="3200" b="1" i="0" u="none" strike="noStrike" cap="none" normalizeH="0" baseline="0" dirty="0" err="1">
                <a:ln>
                  <a:noFill/>
                </a:ln>
                <a:solidFill>
                  <a:schemeClr val="tx1"/>
                </a:solidFill>
                <a:effectLst/>
                <a:latin typeface="Arial" panose="020B0604020202020204" pitchFamily="34" charset="0"/>
              </a:rPr>
              <a:t>Quản</a:t>
            </a:r>
            <a:r>
              <a:rPr kumimoji="0" lang="en-US" altLang="en-US" sz="3200" b="1" i="0" u="none" strike="noStrike" cap="none" normalizeH="0" baseline="0" dirty="0">
                <a:ln>
                  <a:noFill/>
                </a:ln>
                <a:solidFill>
                  <a:schemeClr val="tx1"/>
                </a:solidFill>
                <a:effectLst/>
                <a:latin typeface="Arial" panose="020B0604020202020204" pitchFamily="34" charset="0"/>
              </a:rPr>
              <a:t> </a:t>
            </a:r>
            <a:r>
              <a:rPr kumimoji="0" lang="en-US" altLang="en-US" sz="3200" b="1" i="0" u="none" strike="noStrike" cap="none" normalizeH="0" baseline="0" dirty="0" err="1">
                <a:ln>
                  <a:noFill/>
                </a:ln>
                <a:solidFill>
                  <a:schemeClr val="tx1"/>
                </a:solidFill>
                <a:effectLst/>
                <a:latin typeface="Arial" panose="020B0604020202020204" pitchFamily="34" charset="0"/>
              </a:rPr>
              <a:t>trị</a:t>
            </a:r>
            <a:r>
              <a:rPr kumimoji="0" lang="en-US" altLang="en-US" sz="3200" b="1"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err="1">
                <a:ln>
                  <a:noFill/>
                </a:ln>
                <a:solidFill>
                  <a:schemeClr val="tx1"/>
                </a:solidFill>
                <a:effectLst/>
                <a:latin typeface="Arial" panose="020B0604020202020204" pitchFamily="34" charset="0"/>
              </a:rPr>
              <a:t>Hệ</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err="1">
                <a:ln>
                  <a:noFill/>
                </a:ln>
                <a:solidFill>
                  <a:schemeClr val="tx1"/>
                </a:solidFill>
                <a:effectLst/>
                <a:latin typeface="Arial" panose="020B0604020202020204" pitchFamily="34" charset="0"/>
              </a:rPr>
              <a:t>thống</a:t>
            </a:r>
            <a:r>
              <a:rPr kumimoji="0" lang="en-US" altLang="en-US" sz="3200" b="0" i="0" u="none" strike="noStrike" cap="none" normalizeH="0" baseline="0">
                <a:ln>
                  <a:noFill/>
                </a:ln>
                <a:solidFill>
                  <a:schemeClr val="tx1"/>
                </a:solidFill>
                <a:effectLst/>
                <a:latin typeface="Arial" panose="020B0604020202020204" pitchFamily="34" charset="0"/>
              </a:rPr>
              <a:t> quản</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err="1">
                <a:ln>
                  <a:noFill/>
                </a:ln>
                <a:solidFill>
                  <a:schemeClr val="tx1"/>
                </a:solidFill>
                <a:effectLst/>
                <a:latin typeface="Arial" panose="020B0604020202020204" pitchFamily="34" charset="0"/>
              </a:rPr>
              <a:t>lý</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err="1">
                <a:ln>
                  <a:noFill/>
                </a:ln>
                <a:solidFill>
                  <a:schemeClr val="tx1"/>
                </a:solidFill>
                <a:effectLst/>
                <a:latin typeface="Arial" panose="020B0604020202020204" pitchFamily="34" charset="0"/>
              </a:rPr>
              <a:t>dữ</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err="1">
                <a:ln>
                  <a:noFill/>
                </a:ln>
                <a:solidFill>
                  <a:schemeClr val="tx1"/>
                </a:solidFill>
                <a:effectLst/>
                <a:latin typeface="Arial" panose="020B0604020202020204" pitchFamily="34" charset="0"/>
              </a:rPr>
              <a:t>liệu</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err="1">
                <a:ln>
                  <a:noFill/>
                </a:ln>
                <a:solidFill>
                  <a:schemeClr val="tx1"/>
                </a:solidFill>
                <a:effectLst/>
                <a:latin typeface="Arial" panose="020B0604020202020204" pitchFamily="34" charset="0"/>
              </a:rPr>
              <a:t>chặt</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err="1">
                <a:ln>
                  <a:noFill/>
                </a:ln>
                <a:solidFill>
                  <a:schemeClr val="tx1"/>
                </a:solidFill>
                <a:effectLst/>
                <a:latin typeface="Arial" panose="020B0604020202020204" pitchFamily="34" charset="0"/>
              </a:rPr>
              <a:t>chẽ</a:t>
            </a:r>
            <a:r>
              <a:rPr kumimoji="0" lang="en-US" altLang="en-US" sz="3200" b="0" i="0" u="none" strike="noStrike" cap="none" normalizeH="0" baseline="0" dirty="0">
                <a:ln>
                  <a:noFill/>
                </a:ln>
                <a:solidFill>
                  <a:schemeClr val="tx1"/>
                </a:solidFill>
                <a:effectLst/>
                <a:latin typeface="Arial" panose="020B0604020202020204" pitchFamily="34" charset="0"/>
              </a:rPr>
              <a:t>.</a:t>
            </a:r>
          </a:p>
        </p:txBody>
      </p:sp>
      <p:pic>
        <p:nvPicPr>
          <p:cNvPr id="8195" name="Picture 3" descr="COVID-19: 6 cách chăm sóc sức khỏe tinh thần cho bệnh nhân ung thư | Trung  tâm Ung thư Parkway Vietnam">
            <a:extLst>
              <a:ext uri="{FF2B5EF4-FFF2-40B4-BE49-F238E27FC236}">
                <a16:creationId xmlns:a16="http://schemas.microsoft.com/office/drawing/2014/main" id="{05E54F7F-3A76-4A7E-9412-632EDCE816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095499"/>
            <a:ext cx="8191501" cy="81915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1498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DF9"/>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2095500"/>
            <a:chOff x="0" y="0"/>
            <a:chExt cx="4816593" cy="812800"/>
          </a:xfrm>
        </p:grpSpPr>
        <p:sp>
          <p:nvSpPr>
            <p:cNvPr id="3" name="Freeform 3"/>
            <p:cNvSpPr/>
            <p:nvPr/>
          </p:nvSpPr>
          <p:spPr>
            <a:xfrm>
              <a:off x="0" y="0"/>
              <a:ext cx="4816592" cy="812800"/>
            </a:xfrm>
            <a:custGeom>
              <a:avLst/>
              <a:gdLst/>
              <a:ahLst/>
              <a:cxnLst/>
              <a:rect l="l" t="t" r="r" b="b"/>
              <a:pathLst>
                <a:path w="4816592" h="812800">
                  <a:moveTo>
                    <a:pt x="0" y="0"/>
                  </a:moveTo>
                  <a:lnTo>
                    <a:pt x="4816592" y="0"/>
                  </a:lnTo>
                  <a:lnTo>
                    <a:pt x="4816592" y="812800"/>
                  </a:lnTo>
                  <a:lnTo>
                    <a:pt x="0" y="812800"/>
                  </a:lnTo>
                  <a:close/>
                </a:path>
              </a:pathLst>
            </a:custGeom>
            <a:solidFill>
              <a:srgbClr val="593EA1"/>
            </a:solidFill>
          </p:spPr>
          <p:txBody>
            <a:bodyPr/>
            <a:lstStyle/>
            <a:p>
              <a:endParaRPr lang="en-US" dirty="0"/>
            </a:p>
          </p:txBody>
        </p:sp>
        <p:sp>
          <p:nvSpPr>
            <p:cNvPr id="4" name="TextBox 4"/>
            <p:cNvSpPr txBox="1"/>
            <p:nvPr/>
          </p:nvSpPr>
          <p:spPr>
            <a:xfrm>
              <a:off x="0" y="-38100"/>
              <a:ext cx="4816593" cy="850900"/>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6">
            <a:extLst>
              <a:ext uri="{FF2B5EF4-FFF2-40B4-BE49-F238E27FC236}">
                <a16:creationId xmlns:a16="http://schemas.microsoft.com/office/drawing/2014/main" id="{1E41CD49-8389-476F-B243-C41A2C90314E}"/>
              </a:ext>
            </a:extLst>
          </p:cNvPr>
          <p:cNvSpPr txBox="1"/>
          <p:nvPr/>
        </p:nvSpPr>
        <p:spPr>
          <a:xfrm>
            <a:off x="4267197" y="632251"/>
            <a:ext cx="9753602" cy="830997"/>
          </a:xfrm>
          <a:prstGeom prst="rect">
            <a:avLst/>
          </a:prstGeom>
          <a:effectLst>
            <a:glow rad="63500">
              <a:schemeClr val="accent1">
                <a:satMod val="175000"/>
                <a:alpha val="40000"/>
              </a:schemeClr>
            </a:glow>
            <a:innerShdw blurRad="63500" dist="50800" dir="16200000">
              <a:prstClr val="black">
                <a:alpha val="50000"/>
              </a:prstClr>
            </a:innerShdw>
          </a:effectLst>
        </p:spPr>
        <p:txBody>
          <a:bodyPr wrap="square" lIns="0" tIns="0" rIns="0" bIns="0" rtlCol="0" anchor="t">
            <a:spAutoFit/>
          </a:bodyPr>
          <a:lstStyle/>
          <a:p>
            <a:pPr algn="ctr"/>
            <a:r>
              <a:rPr lang="vi-VN" sz="5400" b="1" dirty="0">
                <a:solidFill>
                  <a:srgbClr val="A2DFD9"/>
                </a:solidFill>
                <a:latin typeface="Bahnschrift SemiBold" panose="020B0502040204020203" pitchFamily="34" charset="0"/>
                <a:ea typeface="Bubblebody Neue Bold"/>
                <a:cs typeface="Bubblebody Neue Bold"/>
                <a:sym typeface="Bubblebody Neue Bold"/>
              </a:rPr>
              <a:t>Hướng phát triển </a:t>
            </a:r>
            <a:endParaRPr lang="en-US" sz="5400" b="1" dirty="0">
              <a:solidFill>
                <a:srgbClr val="A2DFD9"/>
              </a:solidFill>
              <a:latin typeface="Bahnschrift SemiBold" panose="020B0502040204020203" pitchFamily="34" charset="0"/>
              <a:ea typeface="Bubblebody Neue Bold"/>
              <a:cs typeface="Bubblebody Neue Bold"/>
              <a:sym typeface="Bubblebody Neue Bold"/>
            </a:endParaRPr>
          </a:p>
        </p:txBody>
      </p:sp>
      <p:sp>
        <p:nvSpPr>
          <p:cNvPr id="5" name="Rectangle 2">
            <a:extLst>
              <a:ext uri="{FF2B5EF4-FFF2-40B4-BE49-F238E27FC236}">
                <a16:creationId xmlns:a16="http://schemas.microsoft.com/office/drawing/2014/main" id="{87D60FE9-B363-4E33-83A1-54CD01404A2A}"/>
              </a:ext>
            </a:extLst>
          </p:cNvPr>
          <p:cNvSpPr>
            <a:spLocks noChangeArrowheads="1"/>
          </p:cNvSpPr>
          <p:nvPr/>
        </p:nvSpPr>
        <p:spPr bwMode="auto">
          <a:xfrm rot="16200000">
            <a:off x="-3059041" y="5169977"/>
            <a:ext cx="2803510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6" name="Rectangle 5">
            <a:extLst>
              <a:ext uri="{FF2B5EF4-FFF2-40B4-BE49-F238E27FC236}">
                <a16:creationId xmlns:a16="http://schemas.microsoft.com/office/drawing/2014/main" id="{4BF50D23-2361-45C3-8D8A-C72BB1B5D871}"/>
              </a:ext>
            </a:extLst>
          </p:cNvPr>
          <p:cNvSpPr/>
          <p:nvPr/>
        </p:nvSpPr>
        <p:spPr>
          <a:xfrm>
            <a:off x="2476499" y="2727751"/>
            <a:ext cx="13334997" cy="6124754"/>
          </a:xfrm>
          <a:prstGeom prst="rect">
            <a:avLst/>
          </a:prstGeom>
        </p:spPr>
        <p:txBody>
          <a:bodyPr wrap="square">
            <a:spAutoFit/>
          </a:bodyPr>
          <a:lstStyle/>
          <a:p>
            <a:pPr indent="457200" algn="just">
              <a:spcBef>
                <a:spcPts val="600"/>
              </a:spcBef>
              <a:spcAft>
                <a:spcPts val="600"/>
              </a:spcAft>
            </a:pPr>
            <a:r>
              <a:rPr lang="en-US" sz="3200" dirty="0" err="1">
                <a:latin typeface="Arial" panose="020B0604020202020204" pitchFamily="34" charset="0"/>
                <a:ea typeface="Times New Roman" panose="02020603050405020304" pitchFamily="18" charset="0"/>
                <a:cs typeface="Arial" panose="020B0604020202020204" pitchFamily="34" charset="0"/>
              </a:rPr>
              <a:t>Trong</a:t>
            </a:r>
            <a:r>
              <a:rPr lang="en-US" sz="3200" dirty="0">
                <a:latin typeface="Arial" panose="020B0604020202020204" pitchFamily="34" charset="0"/>
                <a:ea typeface="Times New Roman" panose="02020603050405020304" pitchFamily="18" charset="0"/>
                <a:cs typeface="Arial" panose="020B0604020202020204" pitchFamily="34" charset="0"/>
              </a:rPr>
              <a:t> </a:t>
            </a:r>
            <a:r>
              <a:rPr lang="en-US" sz="3200" dirty="0" err="1">
                <a:latin typeface="Arial" panose="020B0604020202020204" pitchFamily="34" charset="0"/>
                <a:ea typeface="Times New Roman" panose="02020603050405020304" pitchFamily="18" charset="0"/>
                <a:cs typeface="Arial" panose="020B0604020202020204" pitchFamily="34" charset="0"/>
              </a:rPr>
              <a:t>thời</a:t>
            </a:r>
            <a:r>
              <a:rPr lang="en-US" sz="3200" dirty="0">
                <a:latin typeface="Arial" panose="020B0604020202020204" pitchFamily="34" charset="0"/>
                <a:ea typeface="Times New Roman" panose="02020603050405020304" pitchFamily="18" charset="0"/>
                <a:cs typeface="Arial" panose="020B0604020202020204" pitchFamily="34" charset="0"/>
              </a:rPr>
              <a:t> </a:t>
            </a:r>
            <a:r>
              <a:rPr lang="en-US" sz="3200" dirty="0" err="1">
                <a:latin typeface="Arial" panose="020B0604020202020204" pitchFamily="34" charset="0"/>
                <a:ea typeface="Times New Roman" panose="02020603050405020304" pitchFamily="18" charset="0"/>
                <a:cs typeface="Arial" panose="020B0604020202020204" pitchFamily="34" charset="0"/>
              </a:rPr>
              <a:t>gian</a:t>
            </a:r>
            <a:r>
              <a:rPr lang="en-US" sz="3200" dirty="0">
                <a:latin typeface="Arial" panose="020B0604020202020204" pitchFamily="34" charset="0"/>
                <a:ea typeface="Times New Roman" panose="02020603050405020304" pitchFamily="18" charset="0"/>
                <a:cs typeface="Arial" panose="020B0604020202020204" pitchFamily="34" charset="0"/>
              </a:rPr>
              <a:t> </a:t>
            </a:r>
            <a:r>
              <a:rPr lang="en-US" sz="3200" dirty="0" err="1">
                <a:latin typeface="Arial" panose="020B0604020202020204" pitchFamily="34" charset="0"/>
                <a:ea typeface="Times New Roman" panose="02020603050405020304" pitchFamily="18" charset="0"/>
                <a:cs typeface="Arial" panose="020B0604020202020204" pitchFamily="34" charset="0"/>
              </a:rPr>
              <a:t>tới</a:t>
            </a:r>
            <a:r>
              <a:rPr lang="en-US" sz="3200" dirty="0">
                <a:latin typeface="Arial" panose="020B0604020202020204" pitchFamily="34" charset="0"/>
                <a:ea typeface="Times New Roman" panose="02020603050405020304" pitchFamily="18" charset="0"/>
                <a:cs typeface="Arial" panose="020B0604020202020204" pitchFamily="34" charset="0"/>
              </a:rPr>
              <a:t>, </a:t>
            </a:r>
            <a:r>
              <a:rPr lang="en-US" sz="3200" dirty="0" err="1">
                <a:latin typeface="Arial" panose="020B0604020202020204" pitchFamily="34" charset="0"/>
                <a:ea typeface="Times New Roman" panose="02020603050405020304" pitchFamily="18" charset="0"/>
                <a:cs typeface="Arial" panose="020B0604020202020204" pitchFamily="34" charset="0"/>
              </a:rPr>
              <a:t>đề</a:t>
            </a:r>
            <a:r>
              <a:rPr lang="en-US" sz="3200" dirty="0">
                <a:latin typeface="Arial" panose="020B0604020202020204" pitchFamily="34" charset="0"/>
                <a:ea typeface="Times New Roman" panose="02020603050405020304" pitchFamily="18" charset="0"/>
                <a:cs typeface="Arial" panose="020B0604020202020204" pitchFamily="34" charset="0"/>
              </a:rPr>
              <a:t> </a:t>
            </a:r>
            <a:r>
              <a:rPr lang="en-US" sz="3200" dirty="0" err="1">
                <a:latin typeface="Arial" panose="020B0604020202020204" pitchFamily="34" charset="0"/>
                <a:ea typeface="Times New Roman" panose="02020603050405020304" pitchFamily="18" charset="0"/>
                <a:cs typeface="Arial" panose="020B0604020202020204" pitchFamily="34" charset="0"/>
              </a:rPr>
              <a:t>tài</a:t>
            </a:r>
            <a:r>
              <a:rPr lang="en-US" sz="3200" dirty="0">
                <a:latin typeface="Arial" panose="020B0604020202020204" pitchFamily="34" charset="0"/>
                <a:ea typeface="Times New Roman" panose="02020603050405020304" pitchFamily="18" charset="0"/>
                <a:cs typeface="Arial" panose="020B0604020202020204" pitchFamily="34" charset="0"/>
              </a:rPr>
              <a:t> </a:t>
            </a:r>
            <a:r>
              <a:rPr lang="en-US" sz="3200" dirty="0" err="1">
                <a:latin typeface="Arial" panose="020B0604020202020204" pitchFamily="34" charset="0"/>
                <a:ea typeface="Times New Roman" panose="02020603050405020304" pitchFamily="18" charset="0"/>
                <a:cs typeface="Arial" panose="020B0604020202020204" pitchFamily="34" charset="0"/>
              </a:rPr>
              <a:t>có</a:t>
            </a:r>
            <a:r>
              <a:rPr lang="en-US" sz="3200" dirty="0">
                <a:latin typeface="Arial" panose="020B0604020202020204" pitchFamily="34" charset="0"/>
                <a:ea typeface="Times New Roman" panose="02020603050405020304" pitchFamily="18" charset="0"/>
                <a:cs typeface="Arial" panose="020B0604020202020204" pitchFamily="34" charset="0"/>
              </a:rPr>
              <a:t> </a:t>
            </a:r>
            <a:r>
              <a:rPr lang="en-US" sz="3200" dirty="0" err="1">
                <a:latin typeface="Arial" panose="020B0604020202020204" pitchFamily="34" charset="0"/>
                <a:ea typeface="Times New Roman" panose="02020603050405020304" pitchFamily="18" charset="0"/>
                <a:cs typeface="Arial" panose="020B0604020202020204" pitchFamily="34" charset="0"/>
              </a:rPr>
              <a:t>thể</a:t>
            </a:r>
            <a:r>
              <a:rPr lang="en-US" sz="3200" dirty="0">
                <a:latin typeface="Arial" panose="020B0604020202020204" pitchFamily="34" charset="0"/>
                <a:ea typeface="Times New Roman" panose="02020603050405020304" pitchFamily="18" charset="0"/>
                <a:cs typeface="Arial" panose="020B0604020202020204" pitchFamily="34" charset="0"/>
              </a:rPr>
              <a:t> </a:t>
            </a:r>
            <a:r>
              <a:rPr lang="en-US" sz="3200" dirty="0" err="1">
                <a:latin typeface="Arial" panose="020B0604020202020204" pitchFamily="34" charset="0"/>
                <a:ea typeface="Times New Roman" panose="02020603050405020304" pitchFamily="18" charset="0"/>
                <a:cs typeface="Arial" panose="020B0604020202020204" pitchFamily="34" charset="0"/>
              </a:rPr>
              <a:t>được</a:t>
            </a:r>
            <a:r>
              <a:rPr lang="en-US" sz="3200" dirty="0">
                <a:latin typeface="Arial" panose="020B0604020202020204" pitchFamily="34" charset="0"/>
                <a:ea typeface="Times New Roman" panose="02020603050405020304" pitchFamily="18" charset="0"/>
                <a:cs typeface="Arial" panose="020B0604020202020204" pitchFamily="34" charset="0"/>
              </a:rPr>
              <a:t> </a:t>
            </a:r>
            <a:r>
              <a:rPr lang="en-US" sz="3200" dirty="0" err="1">
                <a:latin typeface="Arial" panose="020B0604020202020204" pitchFamily="34" charset="0"/>
                <a:ea typeface="Times New Roman" panose="02020603050405020304" pitchFamily="18" charset="0"/>
                <a:cs typeface="Arial" panose="020B0604020202020204" pitchFamily="34" charset="0"/>
              </a:rPr>
              <a:t>tiếp</a:t>
            </a:r>
            <a:r>
              <a:rPr lang="en-US" sz="3200" dirty="0">
                <a:latin typeface="Arial" panose="020B0604020202020204" pitchFamily="34" charset="0"/>
                <a:ea typeface="Times New Roman" panose="02020603050405020304" pitchFamily="18" charset="0"/>
                <a:cs typeface="Arial" panose="020B0604020202020204" pitchFamily="34" charset="0"/>
              </a:rPr>
              <a:t> </a:t>
            </a:r>
            <a:r>
              <a:rPr lang="en-US" sz="3200" dirty="0" err="1">
                <a:latin typeface="Arial" panose="020B0604020202020204" pitchFamily="34" charset="0"/>
                <a:ea typeface="Times New Roman" panose="02020603050405020304" pitchFamily="18" charset="0"/>
                <a:cs typeface="Arial" panose="020B0604020202020204" pitchFamily="34" charset="0"/>
              </a:rPr>
              <a:t>tục</a:t>
            </a:r>
            <a:r>
              <a:rPr lang="en-US" sz="3200" dirty="0">
                <a:latin typeface="Arial" panose="020B0604020202020204" pitchFamily="34" charset="0"/>
                <a:ea typeface="Times New Roman" panose="02020603050405020304" pitchFamily="18" charset="0"/>
                <a:cs typeface="Arial" panose="020B0604020202020204" pitchFamily="34" charset="0"/>
              </a:rPr>
              <a:t> </a:t>
            </a:r>
            <a:r>
              <a:rPr lang="en-US" sz="3200" dirty="0" err="1">
                <a:latin typeface="Arial" panose="020B0604020202020204" pitchFamily="34" charset="0"/>
                <a:ea typeface="Times New Roman" panose="02020603050405020304" pitchFamily="18" charset="0"/>
                <a:cs typeface="Arial" panose="020B0604020202020204" pitchFamily="34" charset="0"/>
              </a:rPr>
              <a:t>phát</a:t>
            </a:r>
            <a:r>
              <a:rPr lang="en-US" sz="3200" dirty="0">
                <a:latin typeface="Arial" panose="020B0604020202020204" pitchFamily="34" charset="0"/>
                <a:ea typeface="Times New Roman" panose="02020603050405020304" pitchFamily="18" charset="0"/>
                <a:cs typeface="Arial" panose="020B0604020202020204" pitchFamily="34" charset="0"/>
              </a:rPr>
              <a:t> </a:t>
            </a:r>
            <a:r>
              <a:rPr lang="en-US" sz="3200" dirty="0" err="1">
                <a:latin typeface="Arial" panose="020B0604020202020204" pitchFamily="34" charset="0"/>
                <a:ea typeface="Times New Roman" panose="02020603050405020304" pitchFamily="18" charset="0"/>
                <a:cs typeface="Arial" panose="020B0604020202020204" pitchFamily="34" charset="0"/>
              </a:rPr>
              <a:t>triển</a:t>
            </a:r>
            <a:r>
              <a:rPr lang="en-US" sz="3200" dirty="0">
                <a:latin typeface="Arial" panose="020B0604020202020204" pitchFamily="34" charset="0"/>
                <a:ea typeface="Times New Roman" panose="02020603050405020304" pitchFamily="18" charset="0"/>
                <a:cs typeface="Arial" panose="020B0604020202020204" pitchFamily="34" charset="0"/>
              </a:rPr>
              <a:t> </a:t>
            </a:r>
            <a:r>
              <a:rPr lang="en-US" sz="3200" dirty="0" err="1">
                <a:latin typeface="Arial" panose="020B0604020202020204" pitchFamily="34" charset="0"/>
                <a:ea typeface="Times New Roman" panose="02020603050405020304" pitchFamily="18" charset="0"/>
                <a:cs typeface="Arial" panose="020B0604020202020204" pitchFamily="34" charset="0"/>
              </a:rPr>
              <a:t>theo</a:t>
            </a:r>
            <a:r>
              <a:rPr lang="en-US" sz="3200" dirty="0">
                <a:latin typeface="Arial" panose="020B0604020202020204" pitchFamily="34" charset="0"/>
                <a:ea typeface="Times New Roman" panose="02020603050405020304" pitchFamily="18" charset="0"/>
                <a:cs typeface="Arial" panose="020B0604020202020204" pitchFamily="34" charset="0"/>
              </a:rPr>
              <a:t> </a:t>
            </a:r>
            <a:r>
              <a:rPr lang="en-US" sz="3200" dirty="0" err="1">
                <a:latin typeface="Arial" panose="020B0604020202020204" pitchFamily="34" charset="0"/>
                <a:ea typeface="Times New Roman" panose="02020603050405020304" pitchFamily="18" charset="0"/>
                <a:cs typeface="Arial" panose="020B0604020202020204" pitchFamily="34" charset="0"/>
              </a:rPr>
              <a:t>một</a:t>
            </a:r>
            <a:r>
              <a:rPr lang="en-US" sz="3200" dirty="0">
                <a:latin typeface="Arial" panose="020B0604020202020204" pitchFamily="34" charset="0"/>
                <a:ea typeface="Times New Roman" panose="02020603050405020304" pitchFamily="18" charset="0"/>
                <a:cs typeface="Arial" panose="020B0604020202020204" pitchFamily="34" charset="0"/>
              </a:rPr>
              <a:t> </a:t>
            </a:r>
            <a:r>
              <a:rPr lang="en-US" sz="3200" dirty="0" err="1">
                <a:latin typeface="Arial" panose="020B0604020202020204" pitchFamily="34" charset="0"/>
                <a:ea typeface="Times New Roman" panose="02020603050405020304" pitchFamily="18" charset="0"/>
                <a:cs typeface="Arial" panose="020B0604020202020204" pitchFamily="34" charset="0"/>
              </a:rPr>
              <a:t>số</a:t>
            </a:r>
            <a:r>
              <a:rPr lang="en-US" sz="3200" dirty="0">
                <a:latin typeface="Arial" panose="020B0604020202020204" pitchFamily="34" charset="0"/>
                <a:ea typeface="Times New Roman" panose="02020603050405020304" pitchFamily="18" charset="0"/>
                <a:cs typeface="Arial" panose="020B0604020202020204" pitchFamily="34" charset="0"/>
              </a:rPr>
              <a:t> </a:t>
            </a:r>
            <a:r>
              <a:rPr lang="en-US" sz="3200" dirty="0" err="1">
                <a:latin typeface="Arial" panose="020B0604020202020204" pitchFamily="34" charset="0"/>
                <a:ea typeface="Times New Roman" panose="02020603050405020304" pitchFamily="18" charset="0"/>
                <a:cs typeface="Arial" panose="020B0604020202020204" pitchFamily="34" charset="0"/>
              </a:rPr>
              <a:t>hướng</a:t>
            </a:r>
            <a:r>
              <a:rPr lang="en-US" sz="3200" dirty="0">
                <a:latin typeface="Arial" panose="020B0604020202020204" pitchFamily="34" charset="0"/>
                <a:ea typeface="Times New Roman" panose="02020603050405020304" pitchFamily="18" charset="0"/>
                <a:cs typeface="Arial" panose="020B0604020202020204" pitchFamily="34" charset="0"/>
              </a:rPr>
              <a:t> </a:t>
            </a:r>
            <a:r>
              <a:rPr lang="en-US" sz="3200" dirty="0" err="1">
                <a:latin typeface="Arial" panose="020B0604020202020204" pitchFamily="34" charset="0"/>
                <a:ea typeface="Times New Roman" panose="02020603050405020304" pitchFamily="18" charset="0"/>
                <a:cs typeface="Arial" panose="020B0604020202020204" pitchFamily="34" charset="0"/>
              </a:rPr>
              <a:t>sau</a:t>
            </a:r>
            <a:r>
              <a:rPr lang="en-US" sz="3200" dirty="0">
                <a:latin typeface="Arial" panose="020B0604020202020204" pitchFamily="34" charset="0"/>
                <a:ea typeface="Times New Roman" panose="02020603050405020304" pitchFamily="18" charset="0"/>
                <a:cs typeface="Arial" panose="020B0604020202020204" pitchFamily="34" charset="0"/>
              </a:rPr>
              <a:t>:</a:t>
            </a:r>
          </a:p>
          <a:p>
            <a:pPr marL="342900" marR="0" lvl="0" indent="-342900" algn="just">
              <a:spcBef>
                <a:spcPts val="600"/>
              </a:spcBef>
              <a:spcAft>
                <a:spcPts val="600"/>
              </a:spcAft>
              <a:buFont typeface="Times New Roman" panose="02020603050405020304" pitchFamily="18" charset="0"/>
              <a:buChar char="-"/>
            </a:pPr>
            <a:r>
              <a:rPr lang="vi-VN" sz="3200" dirty="0">
                <a:latin typeface="Arial" panose="020B0604020202020204" pitchFamily="34" charset="0"/>
                <a:ea typeface="Times New Roman" panose="02020603050405020304" pitchFamily="18" charset="0"/>
                <a:cs typeface="Arial" panose="020B0604020202020204" pitchFamily="34" charset="0"/>
              </a:rPr>
              <a:t>Nâng cao độ chính xác của mô hình phân tích cảm xúc bằng cách huấn luyện mô hình riêng cho tiếng Việt hoặc sử dụng các mô hình đa ngôn ngữ.</a:t>
            </a:r>
            <a:endParaRPr lang="en-US" sz="3200" dirty="0">
              <a:latin typeface="Arial" panose="020B0604020202020204" pitchFamily="34" charset="0"/>
              <a:ea typeface="Times New Roman" panose="02020603050405020304" pitchFamily="18" charset="0"/>
              <a:cs typeface="Arial" panose="020B0604020202020204" pitchFamily="34" charset="0"/>
            </a:endParaRPr>
          </a:p>
          <a:p>
            <a:pPr marL="342900" marR="0" lvl="0" indent="-342900" algn="just">
              <a:spcBef>
                <a:spcPts val="600"/>
              </a:spcBef>
              <a:spcAft>
                <a:spcPts val="600"/>
              </a:spcAft>
              <a:buFont typeface="Times New Roman" panose="02020603050405020304" pitchFamily="18" charset="0"/>
              <a:buChar char="-"/>
            </a:pPr>
            <a:r>
              <a:rPr lang="vi-VN" sz="3200" dirty="0">
                <a:latin typeface="Arial" panose="020B0604020202020204" pitchFamily="34" charset="0"/>
                <a:ea typeface="Times New Roman" panose="02020603050405020304" pitchFamily="18" charset="0"/>
                <a:cs typeface="Arial" panose="020B0604020202020204" pitchFamily="34" charset="0"/>
              </a:rPr>
              <a:t>Mở rộng chức năng phân tích cảm xúc sang dữ liệu giọng nói nhằm tăng tính tự nhiên trong giao tiếp.</a:t>
            </a:r>
            <a:endParaRPr lang="en-US" sz="3200" dirty="0">
              <a:latin typeface="Arial" panose="020B0604020202020204" pitchFamily="34" charset="0"/>
              <a:ea typeface="Times New Roman" panose="02020603050405020304" pitchFamily="18" charset="0"/>
              <a:cs typeface="Arial" panose="020B0604020202020204" pitchFamily="34" charset="0"/>
            </a:endParaRPr>
          </a:p>
          <a:p>
            <a:pPr marL="342900" marR="0" lvl="0" indent="-342900" algn="just">
              <a:spcBef>
                <a:spcPts val="600"/>
              </a:spcBef>
              <a:spcAft>
                <a:spcPts val="600"/>
              </a:spcAft>
              <a:buFont typeface="Times New Roman" panose="02020603050405020304" pitchFamily="18" charset="0"/>
              <a:buChar char="-"/>
            </a:pPr>
            <a:r>
              <a:rPr lang="vi-VN" sz="3200" dirty="0">
                <a:latin typeface="Arial" panose="020B0604020202020204" pitchFamily="34" charset="0"/>
                <a:ea typeface="Times New Roman" panose="02020603050405020304" pitchFamily="18" charset="0"/>
                <a:cs typeface="Arial" panose="020B0604020202020204" pitchFamily="34" charset="0"/>
              </a:rPr>
              <a:t>Phát triển ứng dụng trên nền tảng di động để tăng khả năng tiếp cận người dùng.</a:t>
            </a:r>
            <a:endParaRPr lang="en-US" sz="3200" dirty="0">
              <a:latin typeface="Arial" panose="020B0604020202020204" pitchFamily="34" charset="0"/>
              <a:ea typeface="Times New Roman" panose="02020603050405020304" pitchFamily="18" charset="0"/>
              <a:cs typeface="Arial" panose="020B0604020202020204" pitchFamily="34" charset="0"/>
            </a:endParaRPr>
          </a:p>
          <a:p>
            <a:pPr marL="342900" marR="0" lvl="0" indent="-342900" algn="just">
              <a:spcBef>
                <a:spcPts val="600"/>
              </a:spcBef>
              <a:spcAft>
                <a:spcPts val="600"/>
              </a:spcAft>
              <a:buFont typeface="Times New Roman" panose="02020603050405020304" pitchFamily="18" charset="0"/>
              <a:buChar char="-"/>
            </a:pPr>
            <a:r>
              <a:rPr lang="vi-VN" sz="3200" dirty="0">
                <a:latin typeface="Arial" panose="020B0604020202020204" pitchFamily="34" charset="0"/>
                <a:ea typeface="Times New Roman" panose="02020603050405020304" pitchFamily="18" charset="0"/>
                <a:cs typeface="Arial" panose="020B0604020202020204" pitchFamily="34" charset="0"/>
              </a:rPr>
              <a:t>Tăng cường các biện pháp bảo mật và bảo vệ dữ liệu cá nhân nhằm đảm bảo quyền riêng tư cho người dùng.</a:t>
            </a:r>
            <a:endParaRPr lang="en-US" sz="3200" dirty="0">
              <a:latin typeface="Arial" panose="020B0604020202020204" pitchFamily="34" charset="0"/>
              <a:ea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31715706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DF9"/>
        </a:solidFill>
        <a:effectLst/>
      </p:bgPr>
    </p:bg>
    <p:spTree>
      <p:nvGrpSpPr>
        <p:cNvPr id="1" name=""/>
        <p:cNvGrpSpPr/>
        <p:nvPr/>
      </p:nvGrpSpPr>
      <p:grpSpPr>
        <a:xfrm>
          <a:off x="0" y="0"/>
          <a:ext cx="0" cy="0"/>
          <a:chOff x="0" y="0"/>
          <a:chExt cx="0" cy="0"/>
        </a:xfrm>
      </p:grpSpPr>
      <p:sp>
        <p:nvSpPr>
          <p:cNvPr id="4" name="Freeform 4"/>
          <p:cNvSpPr/>
          <p:nvPr/>
        </p:nvSpPr>
        <p:spPr>
          <a:xfrm>
            <a:off x="7563253" y="8089469"/>
            <a:ext cx="3539193" cy="199127"/>
          </a:xfrm>
          <a:custGeom>
            <a:avLst/>
            <a:gdLst/>
            <a:ahLst/>
            <a:cxnLst/>
            <a:rect l="l" t="t" r="r" b="b"/>
            <a:pathLst>
              <a:path w="3539193" h="199127">
                <a:moveTo>
                  <a:pt x="0" y="0"/>
                </a:moveTo>
                <a:lnTo>
                  <a:pt x="3539192" y="0"/>
                </a:lnTo>
                <a:lnTo>
                  <a:pt x="3539192" y="199127"/>
                </a:lnTo>
                <a:lnTo>
                  <a:pt x="0" y="1991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5" name="Freeform 5"/>
          <p:cNvSpPr/>
          <p:nvPr/>
        </p:nvSpPr>
        <p:spPr>
          <a:xfrm>
            <a:off x="7563253" y="2857500"/>
            <a:ext cx="3539193" cy="199127"/>
          </a:xfrm>
          <a:custGeom>
            <a:avLst/>
            <a:gdLst/>
            <a:ahLst/>
            <a:cxnLst/>
            <a:rect l="l" t="t" r="r" b="b"/>
            <a:pathLst>
              <a:path w="3539193" h="199127">
                <a:moveTo>
                  <a:pt x="0" y="0"/>
                </a:moveTo>
                <a:lnTo>
                  <a:pt x="3539192" y="0"/>
                </a:lnTo>
                <a:lnTo>
                  <a:pt x="3539192" y="199127"/>
                </a:lnTo>
                <a:lnTo>
                  <a:pt x="0" y="1991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6" name="Freeform 6"/>
          <p:cNvSpPr/>
          <p:nvPr/>
        </p:nvSpPr>
        <p:spPr>
          <a:xfrm>
            <a:off x="-1300606" y="327725"/>
            <a:ext cx="5472439" cy="3066788"/>
          </a:xfrm>
          <a:custGeom>
            <a:avLst/>
            <a:gdLst/>
            <a:ahLst/>
            <a:cxnLst/>
            <a:rect l="l" t="t" r="r" b="b"/>
            <a:pathLst>
              <a:path w="5472439" h="3066788">
                <a:moveTo>
                  <a:pt x="0" y="0"/>
                </a:moveTo>
                <a:lnTo>
                  <a:pt x="5472439" y="0"/>
                </a:lnTo>
                <a:lnTo>
                  <a:pt x="5472439" y="3066787"/>
                </a:lnTo>
                <a:lnTo>
                  <a:pt x="0" y="306678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TextBox 9"/>
          <p:cNvSpPr txBox="1"/>
          <p:nvPr/>
        </p:nvSpPr>
        <p:spPr>
          <a:xfrm>
            <a:off x="5196713" y="5992316"/>
            <a:ext cx="7894574" cy="563759"/>
          </a:xfrm>
          <a:prstGeom prst="rect">
            <a:avLst/>
          </a:prstGeom>
        </p:spPr>
        <p:txBody>
          <a:bodyPr lIns="0" tIns="0" rIns="0" bIns="0" rtlCol="0" anchor="t">
            <a:spAutoFit/>
          </a:bodyPr>
          <a:lstStyle/>
          <a:p>
            <a:pPr algn="ctr">
              <a:lnSpc>
                <a:spcPts val="4626"/>
              </a:lnSpc>
            </a:pPr>
            <a:r>
              <a:rPr lang="en-US" sz="3304" b="1" dirty="0">
                <a:solidFill>
                  <a:srgbClr val="FFFDF9"/>
                </a:solidFill>
                <a:latin typeface="Canva Sans Bold"/>
                <a:ea typeface="Canva Sans Bold"/>
                <a:cs typeface="Canva Sans Bold"/>
                <a:sym typeface="Canva Sans Bold"/>
              </a:rPr>
              <a:t>Presented by Samira Hadid</a:t>
            </a:r>
          </a:p>
        </p:txBody>
      </p:sp>
      <p:sp>
        <p:nvSpPr>
          <p:cNvPr id="10" name="Freeform 10"/>
          <p:cNvSpPr/>
          <p:nvPr/>
        </p:nvSpPr>
        <p:spPr>
          <a:xfrm>
            <a:off x="14523081" y="6556075"/>
            <a:ext cx="5472439" cy="3066788"/>
          </a:xfrm>
          <a:custGeom>
            <a:avLst/>
            <a:gdLst/>
            <a:ahLst/>
            <a:cxnLst/>
            <a:rect l="l" t="t" r="r" b="b"/>
            <a:pathLst>
              <a:path w="5472439" h="3066788">
                <a:moveTo>
                  <a:pt x="0" y="0"/>
                </a:moveTo>
                <a:lnTo>
                  <a:pt x="5472438" y="0"/>
                </a:lnTo>
                <a:lnTo>
                  <a:pt x="5472438" y="3066788"/>
                </a:lnTo>
                <a:lnTo>
                  <a:pt x="0" y="306678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TextBox 5">
            <a:extLst>
              <a:ext uri="{FF2B5EF4-FFF2-40B4-BE49-F238E27FC236}">
                <a16:creationId xmlns:a16="http://schemas.microsoft.com/office/drawing/2014/main" id="{58EC4899-98F4-4A35-9962-DED866E498AE}"/>
              </a:ext>
            </a:extLst>
          </p:cNvPr>
          <p:cNvSpPr txBox="1"/>
          <p:nvPr/>
        </p:nvSpPr>
        <p:spPr>
          <a:xfrm>
            <a:off x="2295160" y="5143500"/>
            <a:ext cx="13697680" cy="1576778"/>
          </a:xfrm>
          <a:prstGeom prst="rect">
            <a:avLst/>
          </a:prstGeom>
        </p:spPr>
        <p:txBody>
          <a:bodyPr wrap="square" lIns="0" tIns="0" rIns="0" bIns="0" rtlCol="0" anchor="t">
            <a:spAutoFit/>
          </a:bodyPr>
          <a:lstStyle/>
          <a:p>
            <a:pPr algn="ctr">
              <a:lnSpc>
                <a:spcPts val="10877"/>
              </a:lnSpc>
            </a:pPr>
            <a:r>
              <a:rPr lang="vi-VN" sz="20000" b="1" dirty="0">
                <a:solidFill>
                  <a:srgbClr val="593EA1"/>
                </a:solidFill>
                <a:latin typeface="Bahnschrift SemiBold" panose="020B0502040204020203" pitchFamily="34" charset="0"/>
                <a:ea typeface="Calibri" panose="020F0502020204030204" pitchFamily="34" charset="0"/>
                <a:cs typeface="Calibri" panose="020F0502020204030204" pitchFamily="34" charset="0"/>
                <a:sym typeface="Bubblebody Neue Bold"/>
              </a:rPr>
              <a:t>THANK YOU</a:t>
            </a:r>
          </a:p>
        </p:txBody>
      </p:sp>
    </p:spTree>
    <p:extLst>
      <p:ext uri="{BB962C8B-B14F-4D97-AF65-F5344CB8AC3E}">
        <p14:creationId xmlns:p14="http://schemas.microsoft.com/office/powerpoint/2010/main" val="40656267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2224</TotalTime>
  <Words>1304</Words>
  <Application>Microsoft Office PowerPoint</Application>
  <PresentationFormat>Custom</PresentationFormat>
  <Paragraphs>98</Paragraphs>
  <Slides>20</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Calibri</vt:lpstr>
      <vt:lpstr>Arial</vt:lpstr>
      <vt:lpstr>Bubblebody Neue Bold</vt:lpstr>
      <vt:lpstr>Canva Sans Bold</vt:lpstr>
      <vt:lpstr>Muli Semi-Bold</vt:lpstr>
      <vt:lpstr>Bahnschrift SemiBold</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dc:title>
  <cp:lastModifiedBy>Yến Như Nguyễn</cp:lastModifiedBy>
  <cp:revision>30</cp:revision>
  <dcterms:created xsi:type="dcterms:W3CDTF">2006-08-16T00:00:00Z</dcterms:created>
  <dcterms:modified xsi:type="dcterms:W3CDTF">2026-01-16T05:29:21Z</dcterms:modified>
  <dc:identifier>DAG-B59tBbk</dc:identifier>
</cp:coreProperties>
</file>